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81" r:id="rId7"/>
    <p:sldId id="280" r:id="rId8"/>
    <p:sldId id="282" r:id="rId9"/>
    <p:sldId id="283" r:id="rId10"/>
    <p:sldId id="284" r:id="rId11"/>
    <p:sldId id="285" r:id="rId12"/>
    <p:sldId id="286" r:id="rId13"/>
    <p:sldId id="262" r:id="rId14"/>
    <p:sldId id="292" r:id="rId15"/>
    <p:sldId id="264" r:id="rId16"/>
    <p:sldId id="314" r:id="rId17"/>
    <p:sldId id="289" r:id="rId18"/>
    <p:sldId id="308" r:id="rId19"/>
    <p:sldId id="315" r:id="rId20"/>
    <p:sldId id="301" r:id="rId21"/>
    <p:sldId id="266" r:id="rId22"/>
    <p:sldId id="304" r:id="rId23"/>
    <p:sldId id="305" r:id="rId24"/>
    <p:sldId id="302" r:id="rId25"/>
    <p:sldId id="274" r:id="rId26"/>
    <p:sldId id="275" r:id="rId27"/>
    <p:sldId id="293" r:id="rId28"/>
    <p:sldId id="297" r:id="rId29"/>
    <p:sldId id="299" r:id="rId30"/>
    <p:sldId id="296" r:id="rId31"/>
    <p:sldId id="300" r:id="rId32"/>
    <p:sldId id="276" r:id="rId33"/>
    <p:sldId id="277" r:id="rId34"/>
    <p:sldId id="316" r:id="rId35"/>
    <p:sldId id="295" r:id="rId36"/>
    <p:sldId id="307" r:id="rId37"/>
    <p:sldId id="309" r:id="rId38"/>
    <p:sldId id="310" r:id="rId39"/>
    <p:sldId id="31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74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43D"/>
    <a:srgbClr val="FFC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5184" autoAdjust="0"/>
  </p:normalViewPr>
  <p:slideViewPr>
    <p:cSldViewPr snapToGrid="0" snapToObjects="1">
      <p:cViewPr varScale="1">
        <p:scale>
          <a:sx n="75" d="100"/>
          <a:sy n="75" d="100"/>
        </p:scale>
        <p:origin x="45" y="162"/>
      </p:cViewPr>
      <p:guideLst>
        <p:guide orient="horz" pos="278"/>
        <p:guide pos="74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QR 주문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3F-4923-8DC1-45BB7B56CB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키오스크</c:v>
                </c:pt>
              </c:strCache>
            </c:strRef>
          </c:tx>
          <c:spPr>
            <a:solidFill>
              <a:srgbClr val="8FB8E8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3F-4923-8DC1-45BB7B56CB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직원에게 직접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3F-4923-8DC1-45BB7B56CBA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3A49"/>
                </a:solidFill>
                <a:latin typeface="Malgun Gothic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9525" cap="flat">
              <a:solidFill>
                <a:srgbClr val="E5EA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B4"/>
                </a:solidFill>
                <a:latin typeface="Malgun Gothic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algun Gothic"/>
              <a:cs typeface="Malgun Gothic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kyung.com/article/202409195319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kiobridge-kiosk.vercel.app/" TargetMode="External"/><Relationship Id="rId2" Type="http://schemas.openxmlformats.org/officeDocument/2006/relationships/hyperlink" Target="https://kiobridge-site.vercel.app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2026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스타트업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영그라운드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MVP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개발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해커톤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 ·  팀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그랜토리</a:t>
            </a:r>
            <a:endParaRPr sz="1500" b="1" dirty="0">
              <a:solidFill>
                <a:srgbClr val="9FB0C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9788" y="1138428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16154"/>
            <a:ext cx="10607040" cy="1279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디지털 소외 없는</a:t>
            </a:r>
            <a:r>
              <a:rPr lang="en-US" altLang="ko-KR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보이는 </a:t>
            </a:r>
            <a:r>
              <a:rPr lang="en-US" altLang="ko-KR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키오스크</a:t>
            </a:r>
            <a:endParaRPr lang="en-US" altLang="ko-KR" sz="2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2000"/>
              </a:lnSpc>
            </a:pPr>
            <a:r>
              <a:rPr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  <a:r>
              <a:rPr lang="ko-KR" altLang="en-US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화로 시작하고</a:t>
            </a:r>
            <a:r>
              <a:rPr lang="en-US" altLang="ko-KR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내 건강도 알아주는</a:t>
            </a:r>
            <a:endParaRPr sz="5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804775"/>
            <a:ext cx="10058400" cy="344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lang="ko-KR" alt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에이전트와 통화해서 키오스크를 이용하고</a:t>
            </a:r>
            <a:r>
              <a:rPr lang="en-US" altLang="ko-KR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 두번째 이용부터는 더욱 </a:t>
            </a:r>
            <a:r>
              <a:rPr lang="ko-KR" altLang="en-US" sz="2100" dirty="0" err="1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맞춤화된</a:t>
            </a:r>
            <a:r>
              <a:rPr lang="ko-KR" alt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 메뉴추천까지</a:t>
            </a:r>
            <a:endParaRPr sz="2100" dirty="0">
              <a:solidFill>
                <a:srgbClr val="D9E1E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KioBridge</a:t>
            </a:r>
            <a:r>
              <a:rPr sz="1300" b="0" dirty="0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  ·</a:t>
            </a:r>
            <a:r>
              <a:rPr lang="en-US" sz="1300" b="0" dirty="0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 err="1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그랜토리</a:t>
            </a:r>
            <a:endParaRPr sz="1300" b="0" dirty="0">
              <a:solidFill>
                <a:srgbClr val="7A8BA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D852F06-CD60-225B-5562-398647F8173D}"/>
              </a:ext>
            </a:extLst>
          </p:cNvPr>
          <p:cNvSpPr/>
          <p:nvPr/>
        </p:nvSpPr>
        <p:spPr>
          <a:xfrm>
            <a:off x="845820" y="5477642"/>
            <a:ext cx="1409700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2G </a:t>
            </a:r>
            <a:r>
              <a:rPr lang="ko-KR" altLang="en-US" sz="16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폰 대응</a:t>
            </a:r>
            <a:endParaRPr lang="ko-KR" altLang="en-US" sz="16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816FCE5-E896-55BC-761F-5772893BC12A}"/>
              </a:ext>
            </a:extLst>
          </p:cNvPr>
          <p:cNvSpPr/>
          <p:nvPr/>
        </p:nvSpPr>
        <p:spPr>
          <a:xfrm>
            <a:off x="2419351" y="5477642"/>
            <a:ext cx="1409700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앱설치</a:t>
            </a:r>
            <a:r>
              <a:rPr lang="ko-KR" altLang="en-US" sz="16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 없는</a:t>
            </a:r>
            <a:endParaRPr lang="ko-KR" altLang="en-US" sz="16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B515B04-5E32-9443-7511-361432B330B8}"/>
              </a:ext>
            </a:extLst>
          </p:cNvPr>
          <p:cNvSpPr/>
          <p:nvPr/>
        </p:nvSpPr>
        <p:spPr>
          <a:xfrm>
            <a:off x="3992881" y="5477642"/>
            <a:ext cx="1579243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실물카드 결제</a:t>
            </a:r>
            <a:endParaRPr lang="ko-KR" altLang="en-US" sz="16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AE63534-E763-2750-5BD2-B252BF5A29F0}"/>
              </a:ext>
            </a:extLst>
          </p:cNvPr>
          <p:cNvSpPr/>
          <p:nvPr/>
        </p:nvSpPr>
        <p:spPr>
          <a:xfrm>
            <a:off x="5735954" y="5479044"/>
            <a:ext cx="1977072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건강기반 추천 엔진 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9788" y="327666"/>
            <a:ext cx="950976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INDEX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2335" y="1828800"/>
            <a:ext cx="615557" cy="360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4820" y="1847088"/>
            <a:ext cx="2821305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서비스 설계</a:t>
            </a:r>
            <a:endParaRPr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048125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키오스크의</a:t>
            </a:r>
            <a:r>
              <a:rPr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존재</a:t>
            </a:r>
            <a:r>
              <a:rPr lang="en-US"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사용</a:t>
            </a:r>
            <a:r>
              <a:rPr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이유</a:t>
            </a:r>
            <a:r>
              <a:rPr lang="en-US"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분석 및 니즈 도출</a:t>
            </a:r>
            <a:endParaRPr sz="13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42335" y="2761488"/>
            <a:ext cx="615557" cy="360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4820" y="2779776"/>
            <a:ext cx="2821305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852928"/>
            <a:ext cx="4048125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시나리오</a:t>
            </a:r>
            <a:r>
              <a:rPr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lang="ko-KR" altLang="en-US"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전화하는 키오스크 예사 화면</a:t>
            </a:r>
            <a:endParaRPr sz="13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42335" y="3694176"/>
            <a:ext cx="615557" cy="360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4820" y="3712463"/>
            <a:ext cx="2821305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요구 구현 결과 검증</a:t>
            </a:r>
            <a:endParaRPr lang="ko-KR" altLang="en-US" sz="2000" b="1" dirty="0" err="1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0" y="3785615"/>
            <a:ext cx="4048125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300" b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시뮬레이터 및 코딩을 통한 아이디어 구현 검증</a:t>
            </a:r>
            <a:endParaRPr lang="ko-KR" altLang="en-US" sz="1300" b="0" dirty="0" err="1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42335" y="4626864"/>
            <a:ext cx="615557" cy="360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4820" y="4645152"/>
            <a:ext cx="2821305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718304"/>
            <a:ext cx="4048125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3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목표 대비 자체 평가</a:t>
            </a:r>
            <a:endParaRPr sz="13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42335" y="5559552"/>
            <a:ext cx="615557" cy="360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4820" y="5577840"/>
            <a:ext cx="2821305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질의응답 대비 자료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50992"/>
            <a:ext cx="4048125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ARS와의 차이 · 개인정보 · 비용 구조 · 검증 계획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D915BE4-6A21-4631-99C6-2B9DAE32B39F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1">
                <a:solidFill>
                  <a:srgbClr val="3A537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24528"/>
            <a:ext cx="10515600" cy="655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서비스 설계</a:t>
            </a:r>
            <a:endParaRPr lang="ko-KR" altLang="en-US" sz="4000" b="1" dirty="0" err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600" b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키오스크의 존재</a:t>
            </a:r>
            <a:r>
              <a:rPr lang="en-US" altLang="ko-KR" sz="1600" b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600" b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사용 이유 분석 및 니즈 도출</a:t>
            </a:r>
            <a:endParaRPr lang="ko-KR" altLang="en-US" sz="1600" b="0" dirty="0" err="1">
              <a:solidFill>
                <a:srgbClr val="9FB0C8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572549C-2261-C02E-8F59-75E3A9C37FF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CC510A7-9D97-67DC-5328-FC5B31A88948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FA40158-9AD7-DCE4-76D3-1AE32559B7DA}"/>
              </a:ext>
            </a:extLst>
          </p:cNvPr>
          <p:cNvSpPr txBox="1"/>
          <p:nvPr/>
        </p:nvSpPr>
        <p:spPr>
          <a:xfrm>
            <a:off x="937064" y="1115568"/>
            <a:ext cx="950976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 시장 파악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3434CB-469D-FA8C-E564-BB9CD470EB19}"/>
              </a:ext>
            </a:extLst>
          </p:cNvPr>
          <p:cNvSpPr txBox="1"/>
          <p:nvPr/>
        </p:nvSpPr>
        <p:spPr>
          <a:xfrm>
            <a:off x="937064" y="1627632"/>
            <a:ext cx="381781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테이블오더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(QR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주문이 많아지는 추세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)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B3F70DB-EC78-59F8-6E4C-D9EFB0D927EB}"/>
              </a:ext>
            </a:extLst>
          </p:cNvPr>
          <p:cNvGrpSpPr/>
          <p:nvPr/>
        </p:nvGrpSpPr>
        <p:grpSpPr>
          <a:xfrm>
            <a:off x="1051681" y="2490337"/>
            <a:ext cx="10206113" cy="2805181"/>
            <a:chOff x="937063" y="2268979"/>
            <a:chExt cx="4754882" cy="2217059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EB33227-A351-452C-2117-3DD47288DF42}"/>
                </a:ext>
              </a:extLst>
            </p:cNvPr>
            <p:cNvSpPr/>
            <p:nvPr/>
          </p:nvSpPr>
          <p:spPr>
            <a:xfrm>
              <a:off x="2530911" y="2761943"/>
              <a:ext cx="3161034" cy="1353027"/>
            </a:xfrm>
            <a:prstGeom prst="roundRect">
              <a:avLst>
                <a:gd name="adj" fmla="val 1464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8BCC6CE3-9C21-7E09-236C-6DE2378ECB9A}"/>
                </a:ext>
              </a:extLst>
            </p:cNvPr>
            <p:cNvSpPr/>
            <p:nvPr/>
          </p:nvSpPr>
          <p:spPr>
            <a:xfrm>
              <a:off x="937064" y="2930958"/>
              <a:ext cx="1389466" cy="996083"/>
            </a:xfrm>
            <a:prstGeom prst="roundRect">
              <a:avLst>
                <a:gd name="adj" fmla="val 18085"/>
              </a:avLst>
            </a:prstGeom>
            <a:noFill/>
            <a:ln w="19050"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대면주문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C05D6658-E574-F09E-AFF0-906D00194EC0}"/>
                </a:ext>
              </a:extLst>
            </p:cNvPr>
            <p:cNvSpPr/>
            <p:nvPr/>
          </p:nvSpPr>
          <p:spPr>
            <a:xfrm>
              <a:off x="2628180" y="2930958"/>
              <a:ext cx="1389466" cy="996083"/>
            </a:xfrm>
            <a:prstGeom prst="roundRect">
              <a:avLst>
                <a:gd name="adj" fmla="val 18085"/>
              </a:avLst>
            </a:prstGeom>
            <a:solidFill>
              <a:schemeClr val="bg1"/>
            </a:solidFill>
            <a:ln w="19050"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키오스크</a:t>
              </a: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CCC15BB3-7006-7659-7445-5E613F6782A7}"/>
                </a:ext>
              </a:extLst>
            </p:cNvPr>
            <p:cNvSpPr/>
            <p:nvPr/>
          </p:nvSpPr>
          <p:spPr>
            <a:xfrm>
              <a:off x="4226177" y="2930958"/>
              <a:ext cx="1389466" cy="996083"/>
            </a:xfrm>
            <a:prstGeom prst="roundRect">
              <a:avLst>
                <a:gd name="adj" fmla="val 18085"/>
              </a:avLst>
            </a:prstGeom>
            <a:solidFill>
              <a:schemeClr val="bg1"/>
            </a:solidFill>
            <a:ln w="19050"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 err="1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테이블오더</a:t>
              </a:r>
              <a:endParaRPr lang="ko-KR" altLang="en-US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1B51F5FD-A14A-FA20-BF82-C077FF3C7DE0}"/>
                </a:ext>
              </a:extLst>
            </p:cNvPr>
            <p:cNvSpPr/>
            <p:nvPr/>
          </p:nvSpPr>
          <p:spPr>
            <a:xfrm>
              <a:off x="937063" y="2268979"/>
              <a:ext cx="4754881" cy="365760"/>
            </a:xfrm>
            <a:prstGeom prst="roundRect">
              <a:avLst>
                <a:gd name="adj" fmla="val 50000"/>
              </a:avLst>
            </a:prstGeom>
            <a:solidFill>
              <a:srgbClr val="14243D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매장 주문 기술의 흐름</a:t>
              </a: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6E520D6B-9CF2-2C1C-FB04-9F15BA186878}"/>
                </a:ext>
              </a:extLst>
            </p:cNvPr>
            <p:cNvCxnSpPr>
              <a:cxnSpLocks/>
            </p:cNvCxnSpPr>
            <p:nvPr/>
          </p:nvCxnSpPr>
          <p:spPr>
            <a:xfrm>
              <a:off x="2326530" y="3429000"/>
              <a:ext cx="136254" cy="0"/>
            </a:xfrm>
            <a:prstGeom prst="straightConnector1">
              <a:avLst/>
            </a:prstGeom>
            <a:ln w="19050">
              <a:solidFill>
                <a:srgbClr val="14243D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705C0F75-9A3D-72EB-C418-972A4E833810}"/>
                </a:ext>
              </a:extLst>
            </p:cNvPr>
            <p:cNvCxnSpPr>
              <a:cxnSpLocks/>
            </p:cNvCxnSpPr>
            <p:nvPr/>
          </p:nvCxnSpPr>
          <p:spPr>
            <a:xfrm>
              <a:off x="4017646" y="3429000"/>
              <a:ext cx="136254" cy="0"/>
            </a:xfrm>
            <a:prstGeom prst="straightConnector1">
              <a:avLst/>
            </a:prstGeom>
            <a:ln w="19050">
              <a:solidFill>
                <a:srgbClr val="14243D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3282354-06CC-C9B5-028B-673C7EC289E0}"/>
                </a:ext>
              </a:extLst>
            </p:cNvPr>
            <p:cNvSpPr txBox="1"/>
            <p:nvPr/>
          </p:nvSpPr>
          <p:spPr>
            <a:xfrm>
              <a:off x="2949824" y="4147484"/>
              <a:ext cx="235027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현재는 혼용 사용처가 많음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E0FC-A472-FA52-E681-F3FA42C38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E2B1F6A-06DC-DBCE-5658-995D79055977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5D611DB-0142-0A18-CC56-371B1F608A5D}"/>
              </a:ext>
            </a:extLst>
          </p:cNvPr>
          <p:cNvSpPr txBox="1"/>
          <p:nvPr/>
        </p:nvSpPr>
        <p:spPr>
          <a:xfrm>
            <a:off x="937064" y="1115568"/>
            <a:ext cx="356381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 시장 파악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2664AF3-5F8E-5B1B-7305-A7F4AB0855A0}"/>
              </a:ext>
            </a:extLst>
          </p:cNvPr>
          <p:cNvGrpSpPr/>
          <p:nvPr/>
        </p:nvGrpSpPr>
        <p:grpSpPr>
          <a:xfrm>
            <a:off x="6383939" y="1205307"/>
            <a:ext cx="5085749" cy="5189842"/>
            <a:chOff x="7437122" y="1201236"/>
            <a:chExt cx="4567587" cy="4661075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7E2D7697-AD85-2768-EC32-5FD6673DF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40179" y="2085776"/>
              <a:ext cx="4564530" cy="3776535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8AB0CF-E5C7-A693-879D-A1DE2E806612}"/>
                </a:ext>
              </a:extLst>
            </p:cNvPr>
            <p:cNvSpPr txBox="1"/>
            <p:nvPr/>
          </p:nvSpPr>
          <p:spPr>
            <a:xfrm>
              <a:off x="7437122" y="1201236"/>
              <a:ext cx="4567587" cy="884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marL="0" marR="0" indent="0" algn="l" latinLnBrk="0">
                <a:buNone/>
              </a:pPr>
              <a:r>
                <a:rPr lang="ko-KR" altLang="ko-KR" sz="3200" b="1" i="0" dirty="0">
                  <a:solidFill>
                    <a:srgbClr val="121212"/>
                  </a:solidFill>
                  <a:effectLst/>
                  <a:latin typeface="-apple-system"/>
                </a:rPr>
                <a:t>커지는 </a:t>
              </a:r>
              <a:r>
                <a:rPr lang="ko-KR" altLang="ko-KR" sz="3200" b="1" i="0" dirty="0" err="1">
                  <a:solidFill>
                    <a:srgbClr val="121212"/>
                  </a:solidFill>
                  <a:effectLst/>
                  <a:latin typeface="-apple-system"/>
                </a:rPr>
                <a:t>테이블오더</a:t>
              </a:r>
              <a:r>
                <a:rPr lang="ko-KR" altLang="ko-KR" sz="3200" b="1" i="0" dirty="0">
                  <a:solidFill>
                    <a:srgbClr val="121212"/>
                  </a:solidFill>
                  <a:effectLst/>
                  <a:latin typeface="-apple-system"/>
                </a:rPr>
                <a:t> 시장…</a:t>
              </a:r>
              <a:r>
                <a:rPr lang="ko-KR" altLang="ko-KR" sz="3200" b="1" i="0" dirty="0" err="1">
                  <a:solidFill>
                    <a:srgbClr val="121212"/>
                  </a:solidFill>
                  <a:effectLst/>
                  <a:latin typeface="-apple-system"/>
                </a:rPr>
                <a:t>배민·야놀자도</a:t>
              </a:r>
              <a:r>
                <a:rPr lang="en-US" altLang="ko-KR" sz="3200" b="1" i="0" dirty="0">
                  <a:solidFill>
                    <a:srgbClr val="121212"/>
                  </a:solidFill>
                  <a:effectLst/>
                  <a:latin typeface="-apple-system"/>
                </a:rPr>
                <a:t> </a:t>
              </a:r>
              <a:r>
                <a:rPr lang="ko-KR" altLang="ko-KR" sz="3200" b="1" i="0" dirty="0">
                  <a:solidFill>
                    <a:srgbClr val="121212"/>
                  </a:solidFill>
                  <a:effectLst/>
                  <a:latin typeface="-apple-system"/>
                </a:rPr>
                <a:t>참전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1C4FB88-FBD1-6926-FC56-932EF85D4FFD}"/>
              </a:ext>
            </a:extLst>
          </p:cNvPr>
          <p:cNvSpPr txBox="1"/>
          <p:nvPr/>
        </p:nvSpPr>
        <p:spPr>
          <a:xfrm>
            <a:off x="2076659" y="6153313"/>
            <a:ext cx="43106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050" dirty="0">
                <a:hlinkClick r:id="rId3"/>
              </a:rPr>
              <a:t>https://www.hankyung.com/article/2024091953191</a:t>
            </a:r>
            <a:r>
              <a:rPr lang="ko-KR" altLang="en-US" sz="105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B3446-8E98-F6D7-C0E7-6BC27F0C08C9}"/>
              </a:ext>
            </a:extLst>
          </p:cNvPr>
          <p:cNvSpPr txBox="1"/>
          <p:nvPr/>
        </p:nvSpPr>
        <p:spPr>
          <a:xfrm>
            <a:off x="937064" y="1627632"/>
            <a:ext cx="381781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테이블오더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(QR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주문이 많아지는 추세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)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E9E83-21E8-E496-00CA-0DE6FE79D91F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</p:spTree>
    <p:extLst>
      <p:ext uri="{BB962C8B-B14F-4D97-AF65-F5344CB8AC3E}">
        <p14:creationId xmlns:p14="http://schemas.microsoft.com/office/powerpoint/2010/main" val="272231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2285D-F1C5-96D2-DC02-014C1F8D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8C9ABF2-5BB8-335D-537C-1930E9C0DDE2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6C6B9E-BBA9-78D9-F6F5-2D6F3428CA28}"/>
              </a:ext>
            </a:extLst>
          </p:cNvPr>
          <p:cNvSpPr txBox="1"/>
          <p:nvPr/>
        </p:nvSpPr>
        <p:spPr>
          <a:xfrm>
            <a:off x="937064" y="1115568"/>
            <a:ext cx="543325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키오스크를 사용하는 여러가지 이유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3402E-049C-74F2-7FAF-4E09A7B7FCCF}"/>
              </a:ext>
            </a:extLst>
          </p:cNvPr>
          <p:cNvSpPr txBox="1"/>
          <p:nvPr/>
        </p:nvSpPr>
        <p:spPr>
          <a:xfrm>
            <a:off x="937064" y="1627632"/>
            <a:ext cx="557549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다양한 연령층의 키오스크를 사용하는 여러가지 이유에 대해 짧은 설문 조사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6F567-12DE-9BE3-81F8-D41B0E6991E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B72A25B-9785-A1EC-80AD-8755A5C65C03}"/>
              </a:ext>
            </a:extLst>
          </p:cNvPr>
          <p:cNvSpPr/>
          <p:nvPr/>
        </p:nvSpPr>
        <p:spPr>
          <a:xfrm>
            <a:off x="937064" y="2037993"/>
            <a:ext cx="8117289" cy="4560029"/>
          </a:xfrm>
          <a:prstGeom prst="roundRect">
            <a:avLst>
              <a:gd name="adj" fmla="val 28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2D78A-117D-275F-9B80-7EC97D3A934E}"/>
              </a:ext>
            </a:extLst>
          </p:cNvPr>
          <p:cNvSpPr txBox="1"/>
          <p:nvPr/>
        </p:nvSpPr>
        <p:spPr>
          <a:xfrm>
            <a:off x="10026369" y="4706195"/>
            <a:ext cx="1792941" cy="23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9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실 설문조사 문항 </a:t>
            </a:r>
            <a:r>
              <a:rPr lang="ko-KR" altLang="en-US" sz="9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▼</a:t>
            </a:r>
            <a:r>
              <a:rPr lang="en-US" altLang="ko-KR" sz="9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endParaRPr lang="ko-KR" altLang="en-US" sz="9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859BF68-CE1C-512A-190E-38BE7C4BC65B}"/>
              </a:ext>
            </a:extLst>
          </p:cNvPr>
          <p:cNvSpPr/>
          <p:nvPr/>
        </p:nvSpPr>
        <p:spPr>
          <a:xfrm>
            <a:off x="9392697" y="2037993"/>
            <a:ext cx="2378284" cy="2471254"/>
          </a:xfrm>
          <a:prstGeom prst="roundRect">
            <a:avLst>
              <a:gd name="adj" fmla="val 5106"/>
            </a:avLst>
          </a:prstGeom>
          <a:solidFill>
            <a:srgbClr val="14243D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4E21D6-1608-9EED-8E91-7DB8847FD837}"/>
              </a:ext>
            </a:extLst>
          </p:cNvPr>
          <p:cNvSpPr txBox="1"/>
          <p:nvPr/>
        </p:nvSpPr>
        <p:spPr>
          <a:xfrm>
            <a:off x="1110979" y="218215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Q3.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보기와 같은 주문 방법을 사용할 수 있다면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주로 무엇을 선택하나요? </a:t>
            </a: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</a:t>
            </a: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</a:t>
            </a: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400" b="1" dirty="0">
              <a:solidFill>
                <a:schemeClr val="bg1">
                  <a:lumMod val="6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8C2BD45-3B58-44E2-FACE-E4874873DB75}"/>
              </a:ext>
            </a:extLst>
          </p:cNvPr>
          <p:cNvCxnSpPr>
            <a:cxnSpLocks/>
          </p:cNvCxnSpPr>
          <p:nvPr/>
        </p:nvCxnSpPr>
        <p:spPr>
          <a:xfrm>
            <a:off x="9054353" y="3273620"/>
            <a:ext cx="245290" cy="0"/>
          </a:xfrm>
          <a:prstGeom prst="straightConnector1">
            <a:avLst/>
          </a:prstGeom>
          <a:ln w="190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88000">
                  <a:srgbClr val="14243D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8748186-A518-EAF6-CE64-D94FD758BFCB}"/>
              </a:ext>
            </a:extLst>
          </p:cNvPr>
          <p:cNvSpPr txBox="1"/>
          <p:nvPr/>
        </p:nvSpPr>
        <p:spPr>
          <a:xfrm>
            <a:off x="9561566" y="2349989"/>
            <a:ext cx="2040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</a:t>
            </a:r>
            <a:r>
              <a:rPr lang="en-US" altLang="ko-KR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~30</a:t>
            </a:r>
            <a:r>
              <a:rPr lang="ko-KR" altLang="en-US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대는 </a:t>
            </a:r>
            <a:endParaRPr lang="en-US" altLang="ko-KR" sz="16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주로 </a:t>
            </a:r>
            <a:r>
              <a:rPr lang="en-US" altLang="ko-KR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QR</a:t>
            </a:r>
            <a:endParaRPr lang="ko-KR" altLang="en-US" sz="16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82F4FF7-BB35-871D-E824-48084343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556" y="4946004"/>
            <a:ext cx="2357237" cy="16520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aphicFrame>
        <p:nvGraphicFramePr>
          <p:cNvPr id="35" name="Chart 0">
            <a:extLst>
              <a:ext uri="{FF2B5EF4-FFF2-40B4-BE49-F238E27FC236}">
                <a16:creationId xmlns:a16="http://schemas.microsoft.com/office/drawing/2014/main" id="{94A58024-4303-9DC1-4244-AD77A937F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0072371"/>
              </p:ext>
            </p:extLst>
          </p:nvPr>
        </p:nvGraphicFramePr>
        <p:xfrm>
          <a:off x="1072067" y="2739047"/>
          <a:ext cx="7754620" cy="3703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7B95E940-8088-7E6E-6119-243C9182764E}"/>
              </a:ext>
            </a:extLst>
          </p:cNvPr>
          <p:cNvSpPr txBox="1"/>
          <p:nvPr/>
        </p:nvSpPr>
        <p:spPr>
          <a:xfrm>
            <a:off x="9561565" y="4022023"/>
            <a:ext cx="204054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 </a:t>
            </a:r>
            <a:r>
              <a:rPr lang="ko-KR" altLang="en-US" sz="1050" dirty="0" err="1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적은인원으로</a:t>
            </a:r>
            <a:r>
              <a:rPr lang="ko-KR" altLang="en-US" sz="105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진행하여 한계가 있을 수 있음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9AD276-AF5E-CA75-9559-1B90D722C11E}"/>
              </a:ext>
            </a:extLst>
          </p:cNvPr>
          <p:cNvSpPr txBox="1"/>
          <p:nvPr/>
        </p:nvSpPr>
        <p:spPr>
          <a:xfrm>
            <a:off x="9561566" y="3091178"/>
            <a:ext cx="2040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40</a:t>
            </a:r>
            <a:r>
              <a:rPr lang="ko-KR" altLang="en-US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대부터  기계에 대한 거부감이 </a:t>
            </a:r>
            <a:r>
              <a:rPr lang="ko-KR" altLang="en-US" sz="16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심해짐</a:t>
            </a:r>
            <a:endParaRPr lang="ko-KR" altLang="en-US" sz="16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6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495A-D5E9-B0D6-B382-3BD5FC45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873428B-B589-FA6E-4016-BC657588E3D4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DEF617A-18E0-4589-1D0C-A12DA2F0540B}"/>
              </a:ext>
            </a:extLst>
          </p:cNvPr>
          <p:cNvSpPr txBox="1"/>
          <p:nvPr/>
        </p:nvSpPr>
        <p:spPr>
          <a:xfrm>
            <a:off x="2337972" y="2186288"/>
            <a:ext cx="7516056" cy="2485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48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그럼에도 불구하고</a:t>
            </a:r>
            <a:r>
              <a:rPr lang="en-US" altLang="ko-KR" sz="48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ctr">
              <a:lnSpc>
                <a:spcPct val="115000"/>
              </a:lnSpc>
            </a:pPr>
            <a:r>
              <a:rPr lang="ko-KR" altLang="en-US" sz="4800" b="1" dirty="0">
                <a:solidFill>
                  <a:srgbClr val="FFC72C"/>
                </a:solidFill>
                <a:latin typeface="Pretendard"/>
                <a:ea typeface="Pretendard"/>
                <a:cs typeface="Pretendard"/>
              </a:rPr>
              <a:t>키오스크가 살아남는 이유</a:t>
            </a:r>
            <a:r>
              <a:rPr lang="ko-KR" altLang="en-US" sz="48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는 무엇일까요</a:t>
            </a:r>
            <a:r>
              <a:rPr lang="en-US" altLang="ko-KR" sz="48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?</a:t>
            </a:r>
            <a:endParaRPr sz="48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B0DF4-3B7B-9137-9D9C-C34F80E94D44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</p:spTree>
    <p:extLst>
      <p:ext uri="{BB962C8B-B14F-4D97-AF65-F5344CB8AC3E}">
        <p14:creationId xmlns:p14="http://schemas.microsoft.com/office/powerpoint/2010/main" val="91535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F3A8-A645-D459-ED33-69A6963A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06A9B01-CC69-2298-73EB-433ACFF5D3FD}"/>
              </a:ext>
            </a:extLst>
          </p:cNvPr>
          <p:cNvSpPr/>
          <p:nvPr/>
        </p:nvSpPr>
        <p:spPr>
          <a:xfrm>
            <a:off x="2753360" y="2348308"/>
            <a:ext cx="6858000" cy="3499441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B7B9DB6-30CD-5BD1-4AA7-EED49C38F326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F47DE9A6-813B-2B5B-D883-B1CE3782E446}"/>
              </a:ext>
            </a:extLst>
          </p:cNvPr>
          <p:cNvGrpSpPr/>
          <p:nvPr/>
        </p:nvGrpSpPr>
        <p:grpSpPr>
          <a:xfrm>
            <a:off x="3159760" y="2546660"/>
            <a:ext cx="5953760" cy="3102739"/>
            <a:chOff x="2854960" y="1849186"/>
            <a:chExt cx="6819012" cy="355365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2FC65312-667A-BB77-8CB2-DD2EA361D161}"/>
                </a:ext>
              </a:extLst>
            </p:cNvPr>
            <p:cNvSpPr/>
            <p:nvPr/>
          </p:nvSpPr>
          <p:spPr>
            <a:xfrm>
              <a:off x="2854960" y="1849186"/>
              <a:ext cx="3553656" cy="35536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핸드폰 결제가</a:t>
              </a:r>
              <a:endParaRPr lang="en-US" altLang="ko-KR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어려움</a:t>
              </a:r>
              <a:endParaRPr lang="en-US" altLang="ko-KR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실물카드 사용</a:t>
              </a:r>
              <a:r>
                <a: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5484E06-A7D6-3C26-F886-C3F67FE9E426}"/>
                </a:ext>
              </a:extLst>
            </p:cNvPr>
            <p:cNvSpPr/>
            <p:nvPr/>
          </p:nvSpPr>
          <p:spPr>
            <a:xfrm>
              <a:off x="6120316" y="1849186"/>
              <a:ext cx="3553656" cy="35536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스마트폰 사용이</a:t>
              </a:r>
              <a:endParaRPr lang="en-US" altLang="ko-KR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익숙하지 않음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77E050E-EF47-D946-FDDD-8CB015EEB9A1}"/>
              </a:ext>
            </a:extLst>
          </p:cNvPr>
          <p:cNvSpPr txBox="1"/>
          <p:nvPr/>
        </p:nvSpPr>
        <p:spPr>
          <a:xfrm>
            <a:off x="4375484" y="5938957"/>
            <a:ext cx="34410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니즈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8AE05-C919-0750-0FA7-E57BA8C8540D}"/>
              </a:ext>
            </a:extLst>
          </p:cNvPr>
          <p:cNvSpPr txBox="1"/>
          <p:nvPr/>
        </p:nvSpPr>
        <p:spPr>
          <a:xfrm>
            <a:off x="937064" y="1115568"/>
            <a:ext cx="543325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 핵심 니즈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EE838-50E9-827C-2B74-E9DCC48C5BE1}"/>
              </a:ext>
            </a:extLst>
          </p:cNvPr>
          <p:cNvSpPr txBox="1"/>
          <p:nvPr/>
        </p:nvSpPr>
        <p:spPr>
          <a:xfrm>
            <a:off x="937064" y="1627632"/>
            <a:ext cx="1134637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키오스크를 쓴다는 사람의 의견 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0" u="sng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현키오스크의</a:t>
            </a:r>
            <a:r>
              <a:rPr lang="ko-KR" altLang="en-US" sz="1400" b="0" u="sng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기존 니즈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+ 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키오스크를 </a:t>
            </a:r>
            <a:r>
              <a:rPr lang="ko-KR" altLang="en-US" sz="1400" b="0" dirty="0" err="1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안쓰고</a:t>
            </a: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 대면주문 하는 사람들의 이유 </a:t>
            </a:r>
            <a:r>
              <a:rPr lang="en-US" altLang="ko-KR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u="sng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앞으로 키오스크의 추가 니즈</a:t>
            </a:r>
            <a:r>
              <a:rPr lang="en-US" altLang="ko-KR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)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7FD06-B792-C585-EDEE-FB33C425669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B2A07-C9BA-6419-CA76-B5492B0FAF71}"/>
              </a:ext>
            </a:extLst>
          </p:cNvPr>
          <p:cNvSpPr txBox="1"/>
          <p:nvPr/>
        </p:nvSpPr>
        <p:spPr>
          <a:xfrm>
            <a:off x="1389530" y="6324707"/>
            <a:ext cx="9416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출처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설문조사 중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Q4.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키오스크를 사용한다면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그 이유는 무엇입니까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/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답변 중 ‘키오스크밖에 없어서’ 제외 상위권 니즈</a:t>
            </a:r>
          </a:p>
          <a:p>
            <a:pPr algn="ctr"/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835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A3FBF-E1D0-473F-A259-82AA2538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F5FF1B5-B870-E161-03F4-F47504A8D11A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06C41A56-1877-DB84-B090-9CDB69619100}"/>
              </a:ext>
            </a:extLst>
          </p:cNvPr>
          <p:cNvGrpSpPr/>
          <p:nvPr/>
        </p:nvGrpSpPr>
        <p:grpSpPr>
          <a:xfrm>
            <a:off x="3362960" y="3366630"/>
            <a:ext cx="5730240" cy="2986254"/>
            <a:chOff x="2854960" y="1849186"/>
            <a:chExt cx="6819012" cy="355365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AFCD639-5662-8156-E553-20A3ACE9BF6B}"/>
                </a:ext>
              </a:extLst>
            </p:cNvPr>
            <p:cNvSpPr/>
            <p:nvPr/>
          </p:nvSpPr>
          <p:spPr>
            <a:xfrm>
              <a:off x="2854960" y="1849186"/>
              <a:ext cx="3553656" cy="35536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핸드폰 결제가</a:t>
              </a:r>
              <a:endParaRPr lang="en-US" altLang="ko-KR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어려움</a:t>
              </a:r>
              <a:endParaRPr lang="en-US" altLang="ko-KR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실물카드 사용</a:t>
              </a:r>
              <a:r>
                <a: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3444351-4DFC-1725-3733-E7BEB3157DD9}"/>
                </a:ext>
              </a:extLst>
            </p:cNvPr>
            <p:cNvSpPr/>
            <p:nvPr/>
          </p:nvSpPr>
          <p:spPr>
            <a:xfrm>
              <a:off x="6120316" y="1849186"/>
              <a:ext cx="3553656" cy="35536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4243D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스마트폰 사용이</a:t>
              </a:r>
              <a:endParaRPr lang="en-US" altLang="ko-KR" sz="2800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익숙하지 않음</a:t>
              </a:r>
            </a:p>
          </p:txBody>
        </p:sp>
      </p:grpSp>
      <p:sp>
        <p:nvSpPr>
          <p:cNvPr id="7" name="타원 6">
            <a:extLst>
              <a:ext uri="{FF2B5EF4-FFF2-40B4-BE49-F238E27FC236}">
                <a16:creationId xmlns:a16="http://schemas.microsoft.com/office/drawing/2014/main" id="{E43F32DA-F3DD-F5FE-2C12-A9ECBCAA1501}"/>
              </a:ext>
            </a:extLst>
          </p:cNvPr>
          <p:cNvSpPr/>
          <p:nvPr/>
        </p:nvSpPr>
        <p:spPr>
          <a:xfrm>
            <a:off x="4734953" y="1300546"/>
            <a:ext cx="2986254" cy="2986254"/>
          </a:xfrm>
          <a:prstGeom prst="ellipse">
            <a:avLst/>
          </a:prstGeom>
          <a:solidFill>
            <a:schemeClr val="bg1"/>
          </a:solidFill>
          <a:ln w="19050">
            <a:solidFill>
              <a:srgbClr val="14243D"/>
            </a:solidFill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ko-KR" sz="2800" b="1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8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키오스크의</a:t>
            </a:r>
            <a:endParaRPr lang="en-US" altLang="ko-KR" sz="2800" b="1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8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 단순화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61050-EA98-DCE3-03EE-B48BB30E56BE}"/>
              </a:ext>
            </a:extLst>
          </p:cNvPr>
          <p:cNvSpPr txBox="1"/>
          <p:nvPr/>
        </p:nvSpPr>
        <p:spPr>
          <a:xfrm>
            <a:off x="5052944" y="2066084"/>
            <a:ext cx="2350272" cy="440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2000" b="1" dirty="0" err="1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키오브릿지</a:t>
            </a:r>
            <a:r>
              <a:rPr lang="ko-KR" altLang="en-US" sz="20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핵심</a:t>
            </a:r>
            <a:r>
              <a:rPr lang="en-US" altLang="ko-KR" sz="20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820C2-E7DE-F873-368D-C4A712047133}"/>
              </a:ext>
            </a:extLst>
          </p:cNvPr>
          <p:cNvSpPr txBox="1"/>
          <p:nvPr/>
        </p:nvSpPr>
        <p:spPr>
          <a:xfrm>
            <a:off x="937064" y="1115568"/>
            <a:ext cx="543325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키오브릿지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+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핵심니즈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FC3448-D513-170B-7E62-FE41615C9457}"/>
              </a:ext>
            </a:extLst>
          </p:cNvPr>
          <p:cNvSpPr txBox="1"/>
          <p:nvPr/>
        </p:nvSpPr>
        <p:spPr>
          <a:xfrm>
            <a:off x="937064" y="1627632"/>
            <a:ext cx="557549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앞으로 키오스크의 주요 타겟에 맞춘 니즈 도출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DDB52B-62BF-E7DB-EBC3-BD2FC3FFAD34}"/>
              </a:ext>
            </a:extLst>
          </p:cNvPr>
          <p:cNvSpPr txBox="1"/>
          <p:nvPr/>
        </p:nvSpPr>
        <p:spPr>
          <a:xfrm>
            <a:off x="8723264" y="1583963"/>
            <a:ext cx="31743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 프로필을 이용해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개인화 추천 및 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결제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포인트 적립 등 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600" u="sng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플로우 단순화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45535F9-3115-3843-46EF-D1CD3AD36E1F}"/>
              </a:ext>
            </a:extLst>
          </p:cNvPr>
          <p:cNvCxnSpPr>
            <a:cxnSpLocks/>
          </p:cNvCxnSpPr>
          <p:nvPr/>
        </p:nvCxnSpPr>
        <p:spPr>
          <a:xfrm>
            <a:off x="6917167" y="1742311"/>
            <a:ext cx="164809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F8B4B0-6EE6-1CDA-64E0-CA444F1D9224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</p:spTree>
    <p:extLst>
      <p:ext uri="{BB962C8B-B14F-4D97-AF65-F5344CB8AC3E}">
        <p14:creationId xmlns:p14="http://schemas.microsoft.com/office/powerpoint/2010/main" val="4182945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0429E-0902-9CE9-D3E6-41F306F3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다리꼴 3">
            <a:extLst>
              <a:ext uri="{FF2B5EF4-FFF2-40B4-BE49-F238E27FC236}">
                <a16:creationId xmlns:a16="http://schemas.microsoft.com/office/drawing/2014/main" id="{C2B28794-45AB-BFF8-0319-BCCD77FB18D0}"/>
              </a:ext>
            </a:extLst>
          </p:cNvPr>
          <p:cNvSpPr/>
          <p:nvPr/>
        </p:nvSpPr>
        <p:spPr>
          <a:xfrm rot="5400000">
            <a:off x="4567165" y="1256809"/>
            <a:ext cx="4641451" cy="5090951"/>
          </a:xfrm>
          <a:prstGeom prst="trapezoid">
            <a:avLst>
              <a:gd name="adj" fmla="val 33229"/>
            </a:avLst>
          </a:prstGeom>
          <a:gradFill>
            <a:gsLst>
              <a:gs pos="0">
                <a:srgbClr val="FFC72C"/>
              </a:gs>
              <a:gs pos="100000">
                <a:schemeClr val="bg1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C0CADF3-02AE-C8CF-568E-F3839953ACC8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BF62358-762E-9102-06A6-25AC5826DB51}"/>
              </a:ext>
            </a:extLst>
          </p:cNvPr>
          <p:cNvGrpSpPr/>
          <p:nvPr/>
        </p:nvGrpSpPr>
        <p:grpSpPr>
          <a:xfrm>
            <a:off x="835207" y="1300546"/>
            <a:ext cx="5730240" cy="5052338"/>
            <a:chOff x="835207" y="1300546"/>
            <a:chExt cx="5730240" cy="505233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A16EF3F-10D8-4BBD-D67C-EC2E68CC29A9}"/>
                </a:ext>
              </a:extLst>
            </p:cNvPr>
            <p:cNvGrpSpPr/>
            <p:nvPr/>
          </p:nvGrpSpPr>
          <p:grpSpPr>
            <a:xfrm>
              <a:off x="835207" y="3366630"/>
              <a:ext cx="5730240" cy="2986254"/>
              <a:chOff x="2854960" y="1849186"/>
              <a:chExt cx="6819012" cy="3553656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77FA8C74-13C6-A0BF-E969-A5D6A4D91F7D}"/>
                  </a:ext>
                </a:extLst>
              </p:cNvPr>
              <p:cNvSpPr/>
              <p:nvPr/>
            </p:nvSpPr>
            <p:spPr>
              <a:xfrm>
                <a:off x="2854960" y="1849186"/>
                <a:ext cx="3553656" cy="35536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14243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핸드폰 결제가</a:t>
                </a:r>
                <a:endPara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어려움</a:t>
                </a:r>
                <a:endPara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en-US" altLang="ko-KR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</a:t>
                </a:r>
                <a:r>
                  <a:rPr lang="ko-KR" altLang="en-US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실물카드 사용</a:t>
                </a:r>
                <a:r>
                  <a:rPr lang="en-US" altLang="ko-KR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07A77E58-0FF8-8C2C-1663-19D4FF7797BC}"/>
                  </a:ext>
                </a:extLst>
              </p:cNvPr>
              <p:cNvSpPr/>
              <p:nvPr/>
            </p:nvSpPr>
            <p:spPr>
              <a:xfrm>
                <a:off x="6120316" y="1849186"/>
                <a:ext cx="3553656" cy="355365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14243D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스마트폰 사용이</a:t>
                </a:r>
                <a:endParaRPr lang="en-US" altLang="ko-KR" sz="2800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2800" dirty="0">
                    <a:solidFill>
                      <a:srgbClr val="14243D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익숙하지 않음</a:t>
                </a:r>
              </a:p>
            </p:txBody>
          </p:sp>
        </p:grp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3B3D903-EC3F-AB4E-D6BD-1DBA6A150EAF}"/>
                </a:ext>
              </a:extLst>
            </p:cNvPr>
            <p:cNvSpPr/>
            <p:nvPr/>
          </p:nvSpPr>
          <p:spPr>
            <a:xfrm>
              <a:off x="2207200" y="1300546"/>
              <a:ext cx="2986254" cy="298625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4243D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ko-KR" sz="28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2800" b="1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키오스크의</a:t>
              </a:r>
              <a:endParaRPr lang="en-US" altLang="ko-KR" sz="2800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2800" b="1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기능 단순화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EDA5ED-15C9-CE14-2EC6-801076CD1E66}"/>
                </a:ext>
              </a:extLst>
            </p:cNvPr>
            <p:cNvSpPr txBox="1"/>
            <p:nvPr/>
          </p:nvSpPr>
          <p:spPr>
            <a:xfrm>
              <a:off x="2525191" y="2066084"/>
              <a:ext cx="2350272" cy="440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[</a:t>
              </a:r>
              <a:r>
                <a:rPr lang="ko-KR" altLang="en-US" sz="2000" b="1" dirty="0" err="1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키오브릿지</a:t>
              </a:r>
              <a:r>
                <a:rPr lang="ko-KR" altLang="en-US" sz="2000" b="1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핵심</a:t>
              </a:r>
              <a:r>
                <a:rPr lang="en-US" altLang="ko-KR" sz="2000" b="1" dirty="0">
                  <a:solidFill>
                    <a:srgbClr val="14243D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]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4DF7CFF-A4BE-2020-D4A0-AFE024254D14}"/>
              </a:ext>
            </a:extLst>
          </p:cNvPr>
          <p:cNvSpPr/>
          <p:nvPr/>
        </p:nvSpPr>
        <p:spPr>
          <a:xfrm>
            <a:off x="7039397" y="2510719"/>
            <a:ext cx="4522987" cy="2583128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35000"/>
              </a:lnSpc>
            </a:pPr>
            <a:endParaRPr lang="en-US" altLang="ko-KR" sz="2800" b="1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35000"/>
              </a:lnSpc>
            </a:pPr>
            <a:r>
              <a:rPr lang="ko-KR" altLang="en-US" sz="28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전화 </a:t>
            </a:r>
            <a:r>
              <a:rPr lang="en-US" altLang="ko-KR" sz="28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28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가장 익숙한 </a:t>
            </a:r>
            <a:r>
              <a:rPr lang="en-US" altLang="ko-KR" sz="28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UX)</a:t>
            </a:r>
            <a:br>
              <a:rPr lang="en-US" altLang="ko-KR" sz="28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</a:br>
            <a:r>
              <a:rPr lang="en-US" altLang="ko-KR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2G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폰을 포함</a:t>
            </a:r>
            <a:endParaRPr lang="en-US" altLang="ko-KR" sz="2800" b="1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785209-F8B8-AA49-DFEA-1E34E7A85291}"/>
              </a:ext>
            </a:extLst>
          </p:cNvPr>
          <p:cNvSpPr txBox="1"/>
          <p:nvPr/>
        </p:nvSpPr>
        <p:spPr>
          <a:xfrm>
            <a:off x="7750818" y="3089224"/>
            <a:ext cx="3002807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7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그분들에게 가장 익숙한 도구</a:t>
            </a:r>
            <a:endParaRPr lang="en-US" altLang="ko-KR" sz="17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89917-3560-44A4-D156-3ED484E672FF}"/>
              </a:ext>
            </a:extLst>
          </p:cNvPr>
          <p:cNvSpPr txBox="1"/>
          <p:nvPr/>
        </p:nvSpPr>
        <p:spPr>
          <a:xfrm>
            <a:off x="7577872" y="1750367"/>
            <a:ext cx="3710987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키오브릿지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+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핵심니즈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47410-99B8-D205-9D93-687C7A1E9755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</p:spTree>
    <p:extLst>
      <p:ext uri="{BB962C8B-B14F-4D97-AF65-F5344CB8AC3E}">
        <p14:creationId xmlns:p14="http://schemas.microsoft.com/office/powerpoint/2010/main" val="99215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7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863C3-CFA2-B68A-D08C-7EB133BD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303E95D-5BC7-B03C-75AA-7B7F93CFE912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8AB38A9-B4FC-10BD-73EA-A8D798599DBE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0718E6-C212-DD16-43EC-997873A5ACB4}"/>
              </a:ext>
            </a:extLst>
          </p:cNvPr>
          <p:cNvSpPr txBox="1"/>
          <p:nvPr/>
        </p:nvSpPr>
        <p:spPr>
          <a:xfrm>
            <a:off x="937064" y="1115568"/>
            <a:ext cx="848125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그랜토리가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제안하는 </a:t>
            </a: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키오브릿지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서비스 컨셉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B619F8-8799-4324-7810-AB17BEC5646C}"/>
              </a:ext>
            </a:extLst>
          </p:cNvPr>
          <p:cNvSpPr txBox="1"/>
          <p:nvPr/>
        </p:nvSpPr>
        <p:spPr>
          <a:xfrm>
            <a:off x="937064" y="1627632"/>
            <a:ext cx="557549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2G</a:t>
            </a:r>
            <a:r>
              <a:rPr lang="ko-KR" altLang="en-US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폰까지 커버하고</a:t>
            </a:r>
            <a:r>
              <a:rPr lang="en-US" altLang="ko-KR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, AI</a:t>
            </a:r>
            <a:r>
              <a:rPr lang="ko-KR" altLang="en-US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와 함께 말로 주문하는 키오스크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FD3DE6F-02B3-E4E9-F6A6-97890F46E066}"/>
              </a:ext>
            </a:extLst>
          </p:cNvPr>
          <p:cNvSpPr/>
          <p:nvPr/>
        </p:nvSpPr>
        <p:spPr>
          <a:xfrm>
            <a:off x="145307" y="2013715"/>
            <a:ext cx="2830601" cy="4352361"/>
          </a:xfrm>
          <a:prstGeom prst="roundRect">
            <a:avLst>
              <a:gd name="adj" fmla="val 10165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CF2FF98-A167-E5E2-768B-FA03A3BBE22B}"/>
              </a:ext>
            </a:extLst>
          </p:cNvPr>
          <p:cNvSpPr/>
          <p:nvPr/>
        </p:nvSpPr>
        <p:spPr>
          <a:xfrm>
            <a:off x="3632247" y="2013715"/>
            <a:ext cx="2830601" cy="4352361"/>
          </a:xfrm>
          <a:prstGeom prst="roundRect">
            <a:avLst>
              <a:gd name="adj" fmla="val 10165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C82D6C-3600-DBA9-C6C0-234446A9FC35}"/>
              </a:ext>
            </a:extLst>
          </p:cNvPr>
          <p:cNvSpPr txBox="1"/>
          <p:nvPr/>
        </p:nvSpPr>
        <p:spPr>
          <a:xfrm>
            <a:off x="364634" y="4932036"/>
            <a:ext cx="2383794" cy="112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키오스크에서 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en-US" altLang="ko-KR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전화와 함께 주문하기</a:t>
            </a:r>
            <a:r>
              <a:rPr lang="en-US" altLang="ko-KR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]</a:t>
            </a:r>
          </a:p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버튼 클릭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60EBDD-B1E2-4D64-89BC-57339BAE3BC6}"/>
              </a:ext>
            </a:extLst>
          </p:cNvPr>
          <p:cNvSpPr txBox="1"/>
          <p:nvPr/>
        </p:nvSpPr>
        <p:spPr>
          <a:xfrm>
            <a:off x="3855650" y="4957862"/>
            <a:ext cx="2383794" cy="112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전화로 </a:t>
            </a:r>
            <a:r>
              <a:rPr lang="en-US" altLang="ko-KR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에이전트와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통화하면서 메뉴 선택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및 결제진행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6D3233B-CB8B-F1F5-32F9-098343F16803}"/>
              </a:ext>
            </a:extLst>
          </p:cNvPr>
          <p:cNvSpPr/>
          <p:nvPr/>
        </p:nvSpPr>
        <p:spPr>
          <a:xfrm>
            <a:off x="7119186" y="2013715"/>
            <a:ext cx="2830601" cy="4352361"/>
          </a:xfrm>
          <a:prstGeom prst="roundRect">
            <a:avLst>
              <a:gd name="adj" fmla="val 10165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263525-4C91-CF18-DDC0-B17862290CCB}"/>
              </a:ext>
            </a:extLst>
          </p:cNvPr>
          <p:cNvSpPr txBox="1"/>
          <p:nvPr/>
        </p:nvSpPr>
        <p:spPr>
          <a:xfrm>
            <a:off x="7342590" y="4957862"/>
            <a:ext cx="2383794" cy="77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프로필 생성 및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 외 개인정보 수집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0EE449E-FBC8-CEEA-D95F-40173FDBF40B}"/>
              </a:ext>
            </a:extLst>
          </p:cNvPr>
          <p:cNvCxnSpPr>
            <a:cxnSpLocks/>
          </p:cNvCxnSpPr>
          <p:nvPr/>
        </p:nvCxnSpPr>
        <p:spPr>
          <a:xfrm>
            <a:off x="2975908" y="4093040"/>
            <a:ext cx="316956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AC85A21-7945-1F64-1F36-D114A06362E5}"/>
              </a:ext>
            </a:extLst>
          </p:cNvPr>
          <p:cNvCxnSpPr>
            <a:cxnSpLocks/>
          </p:cNvCxnSpPr>
          <p:nvPr/>
        </p:nvCxnSpPr>
        <p:spPr>
          <a:xfrm>
            <a:off x="6462848" y="4067422"/>
            <a:ext cx="316956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88217B0-ABBA-4372-B0CF-F2843F767D24}"/>
              </a:ext>
            </a:extLst>
          </p:cNvPr>
          <p:cNvCxnSpPr>
            <a:cxnSpLocks/>
          </p:cNvCxnSpPr>
          <p:nvPr/>
        </p:nvCxnSpPr>
        <p:spPr>
          <a:xfrm>
            <a:off x="9949788" y="4067422"/>
            <a:ext cx="316956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3DF48EB-6B91-A4C3-2F22-F71923F4A626}"/>
              </a:ext>
            </a:extLst>
          </p:cNvPr>
          <p:cNvSpPr/>
          <p:nvPr/>
        </p:nvSpPr>
        <p:spPr>
          <a:xfrm>
            <a:off x="10446825" y="2013715"/>
            <a:ext cx="1509824" cy="4352361"/>
          </a:xfrm>
          <a:prstGeom prst="roundRect">
            <a:avLst>
              <a:gd name="adj" fmla="val 17065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B67561-C908-CBF6-28D7-74E6F899F91D}"/>
              </a:ext>
            </a:extLst>
          </p:cNvPr>
          <p:cNvSpPr txBox="1"/>
          <p:nvPr/>
        </p:nvSpPr>
        <p:spPr>
          <a:xfrm>
            <a:off x="10469975" y="4957862"/>
            <a:ext cx="1509824" cy="112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개인화 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추천 로직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2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생성</a:t>
            </a:r>
            <a:endParaRPr lang="en-US" altLang="ko-KR" sz="2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C694B47-AB73-F94D-A456-F5BEF3C6E10E}"/>
              </a:ext>
            </a:extLst>
          </p:cNvPr>
          <p:cNvCxnSpPr>
            <a:cxnSpLocks/>
          </p:cNvCxnSpPr>
          <p:nvPr/>
        </p:nvCxnSpPr>
        <p:spPr>
          <a:xfrm>
            <a:off x="11956649" y="4093040"/>
            <a:ext cx="138895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BE83053A-6A30-7EFB-7460-D9801F78C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3" y="2304385"/>
            <a:ext cx="2331141" cy="2331141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258DA07F-4CF6-DC87-97C3-D20A9F9B1155}"/>
              </a:ext>
            </a:extLst>
          </p:cNvPr>
          <p:cNvGrpSpPr/>
          <p:nvPr/>
        </p:nvGrpSpPr>
        <p:grpSpPr>
          <a:xfrm>
            <a:off x="7183869" y="2402381"/>
            <a:ext cx="2654216" cy="2301031"/>
            <a:chOff x="7198971" y="2682799"/>
            <a:chExt cx="1937654" cy="167981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7556DE-5450-33C5-C480-C06D3841D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1129" t="14889" r="6043" b="20367"/>
            <a:stretch>
              <a:fillRect/>
            </a:stretch>
          </p:blipFill>
          <p:spPr>
            <a:xfrm>
              <a:off x="7846863" y="2781914"/>
              <a:ext cx="1289762" cy="158070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1716EC9-76FA-4B6C-5EA1-CD46FB294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294" r="13697"/>
            <a:stretch>
              <a:fillRect/>
            </a:stretch>
          </p:blipFill>
          <p:spPr>
            <a:xfrm>
              <a:off x="7198971" y="2682799"/>
              <a:ext cx="799381" cy="1631078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5D7D9FA-CFDB-E9D7-9FEF-DBF1EC4B8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138" y="2229711"/>
            <a:ext cx="2405815" cy="24058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8D160AD-770E-8A3A-119C-2B07AB3263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441" t="3754" r="20836" b="30370"/>
          <a:stretch>
            <a:fillRect/>
          </a:stretch>
        </p:blipFill>
        <p:spPr>
          <a:xfrm>
            <a:off x="10763783" y="2128520"/>
            <a:ext cx="1024186" cy="280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0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7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5AEDD-839E-D51E-33F3-24C1B92C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9FB86A8-D4EC-F050-1442-1A19FF193BCA}"/>
              </a:ext>
            </a:extLst>
          </p:cNvPr>
          <p:cNvSpPr/>
          <p:nvPr/>
        </p:nvSpPr>
        <p:spPr>
          <a:xfrm>
            <a:off x="839788" y="2078647"/>
            <a:ext cx="3363594" cy="4352361"/>
          </a:xfrm>
          <a:prstGeom prst="roundRect">
            <a:avLst>
              <a:gd name="adj" fmla="val 6492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C5AD4-8793-16EE-4AAF-62A896A8D895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01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핵심 서비스 설계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77BDC4A-64FA-584A-1143-E7653E179EAE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A3F2CB-E01C-F791-3AF0-D6EA12A476A0}"/>
              </a:ext>
            </a:extLst>
          </p:cNvPr>
          <p:cNvSpPr txBox="1"/>
          <p:nvPr/>
        </p:nvSpPr>
        <p:spPr>
          <a:xfrm>
            <a:off x="937064" y="1115568"/>
            <a:ext cx="729253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그랜토리가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제안하는 </a:t>
            </a: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키오브릿지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_ 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차별성</a:t>
            </a:r>
            <a:endParaRPr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321B96-B6F8-67D9-1E2F-9202D847322A}"/>
              </a:ext>
            </a:extLst>
          </p:cNvPr>
          <p:cNvSpPr txBox="1"/>
          <p:nvPr/>
        </p:nvSpPr>
        <p:spPr>
          <a:xfrm>
            <a:off x="937064" y="1627632"/>
            <a:ext cx="5575496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전화망으로 기기 장벽 자체를 제거한 유일한 접근방식 </a:t>
            </a:r>
            <a:r>
              <a:rPr lang="en-US" altLang="ko-KR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기존 음성과의 차별성</a:t>
            </a:r>
            <a:r>
              <a:rPr lang="en-US" altLang="ko-KR" sz="1400" dirty="0">
                <a:solidFill>
                  <a:srgbClr val="646B76"/>
                </a:solidFill>
                <a:latin typeface="Pretendard"/>
                <a:ea typeface="Pretendard"/>
                <a:cs typeface="Pretendard"/>
              </a:rPr>
              <a:t>)</a:t>
            </a:r>
            <a:endParaRPr sz="1400" b="0" dirty="0">
              <a:solidFill>
                <a:srgbClr val="646B7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A4E9C-B326-4ACC-E9F5-FD582B39B4F5}"/>
              </a:ext>
            </a:extLst>
          </p:cNvPr>
          <p:cNvSpPr txBox="1"/>
          <p:nvPr/>
        </p:nvSpPr>
        <p:spPr>
          <a:xfrm>
            <a:off x="1152460" y="2265730"/>
            <a:ext cx="3017520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6BE8A7-23D9-A772-3C92-340CCF393222}"/>
              </a:ext>
            </a:extLst>
          </p:cNvPr>
          <p:cNvSpPr txBox="1"/>
          <p:nvPr/>
        </p:nvSpPr>
        <p:spPr>
          <a:xfrm>
            <a:off x="1152460" y="2571894"/>
            <a:ext cx="3017520" cy="95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회원가입 </a:t>
            </a:r>
            <a:r>
              <a:rPr lang="ko-KR" altLang="en-US" sz="2800" b="1" dirty="0" err="1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장벽없는</a:t>
            </a:r>
            <a:endParaRPr lang="en-US" altLang="ko-KR" sz="28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</a:pPr>
            <a:r>
              <a:rPr lang="ko-KR" alt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프로필 생성 단계</a:t>
            </a:r>
            <a:endParaRPr sz="28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FD3399-2460-9D20-5E75-8BCEA7E96BB0}"/>
              </a:ext>
            </a:extLst>
          </p:cNvPr>
          <p:cNvSpPr/>
          <p:nvPr/>
        </p:nvSpPr>
        <p:spPr>
          <a:xfrm>
            <a:off x="4456240" y="2078647"/>
            <a:ext cx="3363594" cy="4352361"/>
          </a:xfrm>
          <a:prstGeom prst="roundRect">
            <a:avLst>
              <a:gd name="adj" fmla="val 6492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8D68A2F-000D-40B7-8690-B3BDABFD79E9}"/>
              </a:ext>
            </a:extLst>
          </p:cNvPr>
          <p:cNvSpPr/>
          <p:nvPr/>
        </p:nvSpPr>
        <p:spPr>
          <a:xfrm>
            <a:off x="8106094" y="2078647"/>
            <a:ext cx="3363594" cy="4352361"/>
          </a:xfrm>
          <a:prstGeom prst="roundRect">
            <a:avLst>
              <a:gd name="adj" fmla="val 6492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24973-5EC5-BA2B-AEE9-81AFF9866671}"/>
              </a:ext>
            </a:extLst>
          </p:cNvPr>
          <p:cNvSpPr txBox="1"/>
          <p:nvPr/>
        </p:nvSpPr>
        <p:spPr>
          <a:xfrm>
            <a:off x="1152460" y="3677248"/>
            <a:ext cx="3017520" cy="237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앱 </a:t>
            </a:r>
            <a:r>
              <a:rPr sz="1450" dirty="0" err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설치</a:t>
            </a:r>
            <a:r>
              <a:rPr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 ✕ · </a:t>
            </a:r>
            <a:r>
              <a:rPr sz="1450" dirty="0" err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스마트폰</a:t>
            </a:r>
            <a:r>
              <a:rPr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 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095C9A-ECB4-53B4-AE4C-090C598A3C27}"/>
              </a:ext>
            </a:extLst>
          </p:cNvPr>
          <p:cNvSpPr txBox="1"/>
          <p:nvPr/>
        </p:nvSpPr>
        <p:spPr>
          <a:xfrm>
            <a:off x="1152460" y="4182612"/>
            <a:ext cx="2763700" cy="168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 u="sng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디지털</a:t>
            </a:r>
            <a:r>
              <a:rPr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u="sng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소외</a:t>
            </a:r>
            <a:r>
              <a:rPr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u="sng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없는</a:t>
            </a:r>
            <a:r>
              <a:rPr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프로필 등록</a:t>
            </a:r>
            <a:endParaRPr lang="en-US" sz="16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주문부터 하고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개인정보 이용 </a:t>
            </a:r>
            <a:endParaRPr lang="en-US" altLang="ko-KR" sz="160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동의만 하면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프로필 생성</a:t>
            </a:r>
            <a:endParaRPr lang="en-US" altLang="ko-KR" sz="1600" b="1" u="sng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추가 정보는 주문이후</a:t>
            </a: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혹은  </a:t>
            </a:r>
            <a:endParaRPr lang="en-US" altLang="ko-KR" sz="160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600" b="1" u="sng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주문할때마다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자동 업데이트</a:t>
            </a:r>
            <a:endParaRPr lang="en-US" altLang="ko-KR" sz="1600" b="1" u="sng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3755C-5190-B9BE-6117-78DCB71F3565}"/>
              </a:ext>
            </a:extLst>
          </p:cNvPr>
          <p:cNvSpPr txBox="1"/>
          <p:nvPr/>
        </p:nvSpPr>
        <p:spPr>
          <a:xfrm>
            <a:off x="4835716" y="2265730"/>
            <a:ext cx="3017520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7D126-2FDB-4AA8-25D9-898B1985F8EF}"/>
              </a:ext>
            </a:extLst>
          </p:cNvPr>
          <p:cNvSpPr txBox="1"/>
          <p:nvPr/>
        </p:nvSpPr>
        <p:spPr>
          <a:xfrm>
            <a:off x="4835716" y="2571894"/>
            <a:ext cx="3017520" cy="95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lang="ko-KR" alt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에이전트와 </a:t>
            </a:r>
            <a:endParaRPr lang="en-US" altLang="ko-KR" sz="28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</a:pPr>
            <a:r>
              <a:rPr lang="ko-KR" alt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통화 주문</a:t>
            </a:r>
            <a:endParaRPr sz="28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18059D-0B34-388B-F3B2-450752286D5C}"/>
              </a:ext>
            </a:extLst>
          </p:cNvPr>
          <p:cNvSpPr txBox="1"/>
          <p:nvPr/>
        </p:nvSpPr>
        <p:spPr>
          <a:xfrm>
            <a:off x="4835716" y="3657935"/>
            <a:ext cx="3017520" cy="2376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dirty="0" err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말하면</a:t>
            </a:r>
            <a:r>
              <a:rPr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50" dirty="0" err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화면이</a:t>
            </a:r>
            <a:r>
              <a:rPr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 따</a:t>
            </a:r>
            <a:r>
              <a:rPr lang="ko-KR" altLang="en-US"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라오는 구조</a:t>
            </a:r>
            <a:endParaRPr sz="1450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15F9B2-F46C-EE66-7CEC-E3EE2A470AE1}"/>
              </a:ext>
            </a:extLst>
          </p:cNvPr>
          <p:cNvSpPr txBox="1"/>
          <p:nvPr/>
        </p:nvSpPr>
        <p:spPr>
          <a:xfrm>
            <a:off x="4835716" y="4182612"/>
            <a:ext cx="2763700" cy="168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번호 입력 → 내 폰이 울림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편하게 말하고</a:t>
            </a:r>
            <a:r>
              <a:rPr lang="ko-KR" altLang="en-US"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화면에서 보기</a:t>
            </a:r>
            <a:endParaRPr lang="en-US" altLang="ko-KR" sz="160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en-US" altLang="ko-KR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2G </a:t>
            </a:r>
            <a:r>
              <a:rPr lang="ko-KR" altLang="en-US" sz="1600" b="1" u="sng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폴더폰까지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커버</a:t>
            </a: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기존 음성 키오스크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는 키오스크를    </a:t>
            </a:r>
            <a:endParaRPr lang="en-US" altLang="ko-KR" sz="160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  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읽어주는 것에 그치는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한계 극복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E6B717-E985-05F8-634A-27489137D064}"/>
              </a:ext>
            </a:extLst>
          </p:cNvPr>
          <p:cNvSpPr txBox="1"/>
          <p:nvPr/>
        </p:nvSpPr>
        <p:spPr>
          <a:xfrm>
            <a:off x="8452168" y="2265730"/>
            <a:ext cx="3017520" cy="327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ACE848-0B76-D2E6-04AD-075ADAB93B0E}"/>
              </a:ext>
            </a:extLst>
          </p:cNvPr>
          <p:cNvSpPr txBox="1"/>
          <p:nvPr/>
        </p:nvSpPr>
        <p:spPr>
          <a:xfrm>
            <a:off x="8452168" y="2571894"/>
            <a:ext cx="3017520" cy="95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개인화 특화</a:t>
            </a:r>
            <a:endParaRPr lang="en-US" altLang="ko-KR" sz="28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</a:pPr>
            <a:r>
              <a:rPr lang="ko-KR" altLang="en-US" sz="28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건강 추천 엔진</a:t>
            </a:r>
            <a:endParaRPr sz="28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224EF9-7B8C-5C3F-F2BD-729FB4660D01}"/>
              </a:ext>
            </a:extLst>
          </p:cNvPr>
          <p:cNvSpPr txBox="1"/>
          <p:nvPr/>
        </p:nvSpPr>
        <p:spPr>
          <a:xfrm>
            <a:off x="8452168" y="3677248"/>
            <a:ext cx="3017520" cy="2376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5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두번째부터는 건강 프로필  </a:t>
            </a:r>
            <a:endParaRPr sz="1450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70C8A2-910E-5D4D-E658-8090AF2C1E42}"/>
              </a:ext>
            </a:extLst>
          </p:cNvPr>
          <p:cNvSpPr txBox="1"/>
          <p:nvPr/>
        </p:nvSpPr>
        <p:spPr>
          <a:xfrm>
            <a:off x="8452168" y="4182612"/>
            <a:ext cx="2763700" cy="203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키오스크의 핵심 타겟 연령층</a:t>
            </a:r>
            <a:r>
              <a:rPr lang="ko-KR" altLang="en-US"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의 </a:t>
            </a: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  </a:t>
            </a:r>
          </a:p>
          <a:p>
            <a:pPr algn="l"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600" b="1" u="sng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건강관련 니즈를 추천엔진</a:t>
            </a:r>
            <a:r>
              <a:rPr lang="ko-KR" altLang="en-US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으로</a:t>
            </a:r>
            <a:endParaRPr lang="en-US" sz="16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40000"/>
              </a:lnSpc>
            </a:pPr>
            <a:r>
              <a:rPr lang="en-US" altLang="ko-KR" sz="160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주문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후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동의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수집</a:t>
            </a:r>
            <a:endParaRPr sz="16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재방문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알레르기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-US"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복용약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</a:t>
            </a: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영양</a:t>
            </a: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반영</a:t>
            </a:r>
            <a:endParaRPr sz="16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0000"/>
              </a:lnSpc>
            </a:pPr>
            <a:r>
              <a:rPr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-US"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재방문 시 기존 주문 기반 추천</a:t>
            </a:r>
            <a:endParaRPr sz="16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28560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1">
                <a:solidFill>
                  <a:srgbClr val="3A537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245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플로우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주요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40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600" b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사용자 시나리오 </a:t>
            </a:r>
            <a:r>
              <a:rPr lang="en-US" altLang="ko-KR" sz="1600" b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600" b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전화하는 키오스크 예사 화면</a:t>
            </a:r>
            <a:endParaRPr lang="ko-KR" altLang="en-US" sz="1600" b="0" dirty="0" err="1">
              <a:solidFill>
                <a:srgbClr val="9FB0C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288929" y="2580802"/>
            <a:ext cx="2335306" cy="2747957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51769" y="49688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>
                <a:solidFill>
                  <a:srgbClr val="646B76"/>
                </a:solidFill>
                <a:latin typeface="맑은 고딕"/>
              </a:rPr>
              <a:t>https://kiobridge-app-swart.vercel.app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D898ED1B-7368-FAC4-FA3E-A966DFFB52BE}"/>
              </a:ext>
            </a:extLst>
          </p:cNvPr>
          <p:cNvSpPr/>
          <p:nvPr/>
        </p:nvSpPr>
        <p:spPr>
          <a:xfrm>
            <a:off x="6865769" y="2580802"/>
            <a:ext cx="2335306" cy="2747957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436C6D-C821-3D8E-6EE0-CA145CC5605C}"/>
              </a:ext>
            </a:extLst>
          </p:cNvPr>
          <p:cNvSpPr txBox="1"/>
          <p:nvPr/>
        </p:nvSpPr>
        <p:spPr>
          <a:xfrm>
            <a:off x="9284582" y="2801595"/>
            <a:ext cx="2327565" cy="569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사용자 추가정보 등록 사이트</a:t>
            </a:r>
            <a:endParaRPr lang="ko-KR" altLang="en-US" sz="1400" b="1" dirty="0">
              <a:solidFill>
                <a:srgbClr val="14243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1560C8-DEA8-0AB6-394A-E8A8F19F0709}"/>
              </a:ext>
            </a:extLst>
          </p:cNvPr>
          <p:cNvSpPr txBox="1"/>
          <p:nvPr/>
        </p:nvSpPr>
        <p:spPr>
          <a:xfrm>
            <a:off x="6879554" y="2801231"/>
            <a:ext cx="2327565" cy="321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키오스크 예시 화면</a:t>
            </a:r>
          </a:p>
        </p:txBody>
      </p:sp>
      <p:pic>
        <p:nvPicPr>
          <p:cNvPr id="14" name="그림 13" descr="패턴, 사각형, 예술, 대칭이(가) 표시된 사진&#10;&#10;자동 생성된 설명">
            <a:extLst>
              <a:ext uri="{FF2B5EF4-FFF2-40B4-BE49-F238E27FC236}">
                <a16:creationId xmlns:a16="http://schemas.microsoft.com/office/drawing/2014/main" id="{F40BBC3F-0894-BE6F-E411-1FB2CB1E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409" y="3107436"/>
            <a:ext cx="1800000" cy="1800000"/>
          </a:xfrm>
          <a:prstGeom prst="rect">
            <a:avLst/>
          </a:prstGeom>
        </p:spPr>
      </p:pic>
      <p:pic>
        <p:nvPicPr>
          <p:cNvPr id="18" name="그림 17" descr="패턴, 사각형, 예술, 대칭이(가) 표시된 사진&#10;&#10;자동 생성된 설명">
            <a:extLst>
              <a:ext uri="{FF2B5EF4-FFF2-40B4-BE49-F238E27FC236}">
                <a16:creationId xmlns:a16="http://schemas.microsoft.com/office/drawing/2014/main" id="{C68D5EF3-4FE9-C069-0A0C-D671614E4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169" y="3131608"/>
            <a:ext cx="180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F658A-3FF7-5F9F-F878-77059320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74813AF-27C0-125C-C3DD-E8BE902B7AA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구현 </a:t>
            </a:r>
            <a:r>
              <a:rPr lang="en-US" altLang="ko-KR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검증 </a:t>
            </a:r>
            <a:r>
              <a:rPr lang="en-US" altLang="ko-KR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비즈니스</a:t>
            </a:r>
            <a:endParaRPr lang="ko-KR" altLang="en-US" sz="14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1A9CDBA-6937-7C3E-4591-5542362B7EA6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E7EC1B3-786B-DD8F-8A7C-665E6AD44E3D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구현 로직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서비스 전체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0F7E2BA7-2B60-A04E-5BC4-67EC8FD6736D}"/>
              </a:ext>
            </a:extLst>
          </p:cNvPr>
          <p:cNvSpPr/>
          <p:nvPr/>
        </p:nvSpPr>
        <p:spPr>
          <a:xfrm>
            <a:off x="152400" y="2126283"/>
            <a:ext cx="1410891" cy="662581"/>
          </a:xfrm>
          <a:prstGeom prst="roundRect">
            <a:avLst>
              <a:gd name="adj" fmla="val 6667"/>
            </a:avLst>
          </a:prstGeom>
          <a:solidFill>
            <a:srgbClr val="DCE7F8"/>
          </a:solidFill>
          <a:ln w="1587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305D38E-FE6A-3862-0E5D-D2F954F19034}"/>
              </a:ext>
            </a:extLst>
          </p:cNvPr>
          <p:cNvSpPr/>
          <p:nvPr/>
        </p:nvSpPr>
        <p:spPr>
          <a:xfrm>
            <a:off x="152400" y="2126283"/>
            <a:ext cx="1410891" cy="662581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키오스크에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전화번호 입력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908610B-3F2E-4DB3-319D-331CE08A8B30}"/>
              </a:ext>
            </a:extLst>
          </p:cNvPr>
          <p:cNvSpPr/>
          <p:nvPr/>
        </p:nvSpPr>
        <p:spPr>
          <a:xfrm>
            <a:off x="1563291" y="2457573"/>
            <a:ext cx="18811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3322433-162C-85B6-0EDA-FA591792DC91}"/>
              </a:ext>
            </a:extLst>
          </p:cNvPr>
          <p:cNvSpPr/>
          <p:nvPr/>
        </p:nvSpPr>
        <p:spPr>
          <a:xfrm>
            <a:off x="1751409" y="2126283"/>
            <a:ext cx="2210395" cy="662581"/>
          </a:xfrm>
          <a:prstGeom prst="roundRect">
            <a:avLst>
              <a:gd name="adj" fmla="val 6667"/>
            </a:avLst>
          </a:prstGeom>
          <a:solidFill>
            <a:srgbClr val="DCE7F8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F8C8D25-C3BB-55B1-C5FB-E76A36EFC337}"/>
              </a:ext>
            </a:extLst>
          </p:cNvPr>
          <p:cNvSpPr/>
          <p:nvPr/>
        </p:nvSpPr>
        <p:spPr>
          <a:xfrm>
            <a:off x="1751409" y="2126283"/>
            <a:ext cx="2210395" cy="662581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입력한 번호로 전화 발신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어르신이 받으며 통화 시작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8FFFFA32-CBAF-6C17-791C-FE8A7A9360FF}"/>
              </a:ext>
            </a:extLst>
          </p:cNvPr>
          <p:cNvSpPr/>
          <p:nvPr/>
        </p:nvSpPr>
        <p:spPr>
          <a:xfrm>
            <a:off x="3961805" y="2457573"/>
            <a:ext cx="18811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28012975-CF04-6570-44F7-38F3BFFE10E5}"/>
              </a:ext>
            </a:extLst>
          </p:cNvPr>
          <p:cNvSpPr/>
          <p:nvPr/>
        </p:nvSpPr>
        <p:spPr>
          <a:xfrm>
            <a:off x="4202430" y="1809715"/>
            <a:ext cx="1599009" cy="18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6D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전화번호로 프로필 조회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BF062622-2D20-8700-BA8A-40314A009FFA}"/>
              </a:ext>
            </a:extLst>
          </p:cNvPr>
          <p:cNvSpPr/>
          <p:nvPr/>
        </p:nvSpPr>
        <p:spPr>
          <a:xfrm>
            <a:off x="4149923" y="2015852"/>
            <a:ext cx="1881187" cy="883441"/>
          </a:xfrm>
          <a:prstGeom prst="diamond">
            <a:avLst/>
          </a:prstGeom>
          <a:solidFill>
            <a:srgbClr val="FFC72C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040A4AC-158C-B80C-F0CB-82326814ABD8}"/>
              </a:ext>
            </a:extLst>
          </p:cNvPr>
          <p:cNvSpPr/>
          <p:nvPr/>
        </p:nvSpPr>
        <p:spPr>
          <a:xfrm>
            <a:off x="4149923" y="2015852"/>
            <a:ext cx="1881187" cy="883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6B52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프로필</a:t>
            </a:r>
            <a:r>
              <a:rPr lang="en-US" sz="1200" b="1" dirty="0">
                <a:solidFill>
                  <a:srgbClr val="6B52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ctr">
              <a:buNone/>
            </a:pPr>
            <a:r>
              <a:rPr lang="ko-KR" altLang="en-US" sz="1200" b="1" dirty="0">
                <a:solidFill>
                  <a:srgbClr val="6B52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유무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411FBF26-3414-87A3-C11C-40BCD82E463C}"/>
              </a:ext>
            </a:extLst>
          </p:cNvPr>
          <p:cNvSpPr/>
          <p:nvPr/>
        </p:nvSpPr>
        <p:spPr>
          <a:xfrm flipV="1">
            <a:off x="6031111" y="2107878"/>
            <a:ext cx="1081682" cy="349696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C8418BC0-B83C-CE1A-2B96-44E3D0DEB29A}"/>
              </a:ext>
            </a:extLst>
          </p:cNvPr>
          <p:cNvSpPr/>
          <p:nvPr/>
        </p:nvSpPr>
        <p:spPr>
          <a:xfrm>
            <a:off x="6031111" y="2457573"/>
            <a:ext cx="1081682" cy="43804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7047918C-3003-04D1-1285-3A551F746EFF}"/>
              </a:ext>
            </a:extLst>
          </p:cNvPr>
          <p:cNvSpPr/>
          <p:nvPr/>
        </p:nvSpPr>
        <p:spPr>
          <a:xfrm>
            <a:off x="5853946" y="1969238"/>
            <a:ext cx="1316831" cy="16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없음 (첫 방문)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ABAF6BB0-4C96-AFB5-D6E6-34B5FA8C3AC0}"/>
              </a:ext>
            </a:extLst>
          </p:cNvPr>
          <p:cNvSpPr/>
          <p:nvPr/>
        </p:nvSpPr>
        <p:spPr>
          <a:xfrm>
            <a:off x="5853946" y="2977833"/>
            <a:ext cx="1316831" cy="16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있음 (재방문)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400FFCD6-52A7-59B1-4316-FC486ACEF07A}"/>
              </a:ext>
            </a:extLst>
          </p:cNvPr>
          <p:cNvSpPr/>
          <p:nvPr/>
        </p:nvSpPr>
        <p:spPr>
          <a:xfrm>
            <a:off x="7300913" y="1758182"/>
            <a:ext cx="2422028" cy="699391"/>
          </a:xfrm>
          <a:prstGeom prst="roundRect">
            <a:avLst>
              <a:gd name="adj" fmla="val 15032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B0B16AB7-C7DA-9E14-CB67-DB267DF825FB}"/>
              </a:ext>
            </a:extLst>
          </p:cNvPr>
          <p:cNvSpPr/>
          <p:nvPr/>
        </p:nvSpPr>
        <p:spPr>
          <a:xfrm>
            <a:off x="7418486" y="1798822"/>
            <a:ext cx="2304455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③-A [첫 방문]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음성으로 선호·알러지 말하기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예: "매콤한 거, </a:t>
            </a:r>
            <a:r>
              <a:rPr lang="en-US" sz="1200" b="1" dirty="0" err="1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땅콩</a:t>
            </a: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b="1" dirty="0" err="1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알러지</a:t>
            </a: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2F8BAE11-33E2-71B9-4563-405C3DAEC8B3}"/>
              </a:ext>
            </a:extLst>
          </p:cNvPr>
          <p:cNvSpPr/>
          <p:nvPr/>
        </p:nvSpPr>
        <p:spPr>
          <a:xfrm>
            <a:off x="7300913" y="2568003"/>
            <a:ext cx="2422028" cy="699391"/>
          </a:xfrm>
          <a:prstGeom prst="roundRect">
            <a:avLst>
              <a:gd name="adj" fmla="val 15032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A0431067-0869-FDAA-202C-DB553635444B}"/>
              </a:ext>
            </a:extLst>
          </p:cNvPr>
          <p:cNvSpPr/>
          <p:nvPr/>
        </p:nvSpPr>
        <p:spPr>
          <a:xfrm>
            <a:off x="7418486" y="2608643"/>
            <a:ext cx="2304455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③-B [재방문]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저장된 약·질환 정보 로드 후 음성 선호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예: </a:t>
            </a:r>
            <a:r>
              <a:rPr lang="ko-KR" alt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고혈압 정보</a:t>
            </a:r>
            <a:r>
              <a:rPr lang="en-US" altLang="ko-KR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+ </a:t>
            </a: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"시큼달달한 거"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FAB83AF5-631A-74D9-B801-8390307675BA}"/>
              </a:ext>
            </a:extLst>
          </p:cNvPr>
          <p:cNvSpPr/>
          <p:nvPr/>
        </p:nvSpPr>
        <p:spPr>
          <a:xfrm>
            <a:off x="9722941" y="2071068"/>
            <a:ext cx="211634" cy="312885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2DF3C87F-ED53-CDB9-974D-907B48063F87}"/>
              </a:ext>
            </a:extLst>
          </p:cNvPr>
          <p:cNvSpPr/>
          <p:nvPr/>
        </p:nvSpPr>
        <p:spPr>
          <a:xfrm flipV="1">
            <a:off x="9722941" y="2678432"/>
            <a:ext cx="211634" cy="290649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A1CE96D2-CB37-7030-CE97-EF35037D39EC}"/>
              </a:ext>
            </a:extLst>
          </p:cNvPr>
          <p:cNvSpPr/>
          <p:nvPr/>
        </p:nvSpPr>
        <p:spPr>
          <a:xfrm>
            <a:off x="9982062" y="2163093"/>
            <a:ext cx="2069306" cy="736201"/>
          </a:xfrm>
          <a:prstGeom prst="roundRect">
            <a:avLst>
              <a:gd name="adj" fmla="val 17040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08B2C07A-03D0-09E8-2F30-A2FF27D4CC0B}"/>
              </a:ext>
            </a:extLst>
          </p:cNvPr>
          <p:cNvSpPr/>
          <p:nvPr/>
        </p:nvSpPr>
        <p:spPr>
          <a:xfrm>
            <a:off x="10076121" y="2163093"/>
            <a:ext cx="1857672" cy="736201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 하드 필터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품절·알러지·서비스·예산 제외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A8DF2999-B08F-1159-E0B6-464DB2E0D287}"/>
              </a:ext>
            </a:extLst>
          </p:cNvPr>
          <p:cNvSpPr/>
          <p:nvPr/>
        </p:nvSpPr>
        <p:spPr>
          <a:xfrm>
            <a:off x="10969228" y="2899294"/>
            <a:ext cx="0" cy="515341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6A048985-6A59-4199-E345-3C4D3769EAF5}"/>
              </a:ext>
            </a:extLst>
          </p:cNvPr>
          <p:cNvSpPr/>
          <p:nvPr/>
        </p:nvSpPr>
        <p:spPr>
          <a:xfrm>
            <a:off x="1045964" y="3414635"/>
            <a:ext cx="9923264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74FE3274-27DC-2108-3FE5-E95EACF3337D}"/>
              </a:ext>
            </a:extLst>
          </p:cNvPr>
          <p:cNvSpPr/>
          <p:nvPr/>
        </p:nvSpPr>
        <p:spPr>
          <a:xfrm>
            <a:off x="1045964" y="3414635"/>
            <a:ext cx="0" cy="22086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1ECCD247-FFA7-39CD-A302-F10D056B1F4E}"/>
              </a:ext>
            </a:extLst>
          </p:cNvPr>
          <p:cNvSpPr/>
          <p:nvPr/>
        </p:nvSpPr>
        <p:spPr>
          <a:xfrm>
            <a:off x="152400" y="3635495"/>
            <a:ext cx="1787128" cy="662581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BF2AF54A-6B15-BE27-639F-456DB64B90EC}"/>
              </a:ext>
            </a:extLst>
          </p:cNvPr>
          <p:cNvSpPr/>
          <p:nvPr/>
        </p:nvSpPr>
        <p:spPr>
          <a:xfrm>
            <a:off x="152400" y="3635495"/>
            <a:ext cx="1787128" cy="662581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⑤ 코어 신호 도출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(재방문만 약·질환 발동)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C461FBD7-E967-7093-A631-7CFF410E9F5B}"/>
              </a:ext>
            </a:extLst>
          </p:cNvPr>
          <p:cNvSpPr/>
          <p:nvPr/>
        </p:nvSpPr>
        <p:spPr>
          <a:xfrm>
            <a:off x="1939528" y="3966785"/>
            <a:ext cx="18811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B0CAA719-1960-05C4-8CA5-F2246816EE66}"/>
              </a:ext>
            </a:extLst>
          </p:cNvPr>
          <p:cNvSpPr/>
          <p:nvPr/>
        </p:nvSpPr>
        <p:spPr>
          <a:xfrm>
            <a:off x="2127647" y="3635495"/>
            <a:ext cx="2163366" cy="662581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A3FE8CC1-217E-9A8A-0338-EDC2D3BF3AB0}"/>
              </a:ext>
            </a:extLst>
          </p:cNvPr>
          <p:cNvSpPr/>
          <p:nvPr/>
        </p:nvSpPr>
        <p:spPr>
          <a:xfrm>
            <a:off x="2127647" y="3635495"/>
            <a:ext cx="2163366" cy="6625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⑥ 어댑터: 매운맛·나트륨·알레르기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sz="1200" b="1">
                <a:solidFill>
                  <a:srgbClr val="2B3A49"/>
                </a:solidFill>
                <a:latin typeface="Pretendard"/>
              </a:rPr>
              <a:t>(food-court 확장)</a:t>
            </a:r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0325954F-9480-B600-138E-12C7372F7301}"/>
              </a:ext>
            </a:extLst>
          </p:cNvPr>
          <p:cNvSpPr/>
          <p:nvPr/>
        </p:nvSpPr>
        <p:spPr>
          <a:xfrm>
            <a:off x="4291013" y="3966785"/>
            <a:ext cx="18811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2" name="Shape 30">
            <a:extLst>
              <a:ext uri="{FF2B5EF4-FFF2-40B4-BE49-F238E27FC236}">
                <a16:creationId xmlns:a16="http://schemas.microsoft.com/office/drawing/2014/main" id="{61F49417-F032-0DB8-7B04-14BBA16016FB}"/>
              </a:ext>
            </a:extLst>
          </p:cNvPr>
          <p:cNvSpPr/>
          <p:nvPr/>
        </p:nvSpPr>
        <p:spPr>
          <a:xfrm>
            <a:off x="4479131" y="3635495"/>
            <a:ext cx="1928217" cy="662581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FF259A54-93AE-65B7-663E-2B6A2EA22F02}"/>
              </a:ext>
            </a:extLst>
          </p:cNvPr>
          <p:cNvSpPr/>
          <p:nvPr/>
        </p:nvSpPr>
        <p:spPr>
          <a:xfrm>
            <a:off x="4479131" y="3635495"/>
            <a:ext cx="1928217" cy="6625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⑦ 1순위 추천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쉬운 말 이유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Shape 32">
            <a:extLst>
              <a:ext uri="{FF2B5EF4-FFF2-40B4-BE49-F238E27FC236}">
                <a16:creationId xmlns:a16="http://schemas.microsoft.com/office/drawing/2014/main" id="{98D49530-F349-D987-B89B-A2D19DD17985}"/>
              </a:ext>
            </a:extLst>
          </p:cNvPr>
          <p:cNvSpPr/>
          <p:nvPr/>
        </p:nvSpPr>
        <p:spPr>
          <a:xfrm>
            <a:off x="6407348" y="3966785"/>
            <a:ext cx="18811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8" name="Shape 33">
            <a:extLst>
              <a:ext uri="{FF2B5EF4-FFF2-40B4-BE49-F238E27FC236}">
                <a16:creationId xmlns:a16="http://schemas.microsoft.com/office/drawing/2014/main" id="{F2E50335-A60B-EA8F-B0D6-35E293DE9CBF}"/>
              </a:ext>
            </a:extLst>
          </p:cNvPr>
          <p:cNvSpPr/>
          <p:nvPr/>
        </p:nvSpPr>
        <p:spPr>
          <a:xfrm>
            <a:off x="6595467" y="3635495"/>
            <a:ext cx="2257425" cy="662581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34">
            <a:extLst>
              <a:ext uri="{FF2B5EF4-FFF2-40B4-BE49-F238E27FC236}">
                <a16:creationId xmlns:a16="http://schemas.microsoft.com/office/drawing/2014/main" id="{9180A689-9905-331B-5203-FB3243ED75C4}"/>
              </a:ext>
            </a:extLst>
          </p:cNvPr>
          <p:cNvSpPr/>
          <p:nvPr/>
        </p:nvSpPr>
        <p:spPr>
          <a:xfrm>
            <a:off x="6595467" y="3635495"/>
            <a:ext cx="2257425" cy="662581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⑧ 통화로 확인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뭐가 선택됐는지 계속 확인·수정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41C98B98-80B7-4B94-F88F-397DE2066505}"/>
              </a:ext>
            </a:extLst>
          </p:cNvPr>
          <p:cNvSpPr/>
          <p:nvPr/>
        </p:nvSpPr>
        <p:spPr>
          <a:xfrm>
            <a:off x="8852892" y="3966785"/>
            <a:ext cx="18811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4" name="Shape 36">
            <a:extLst>
              <a:ext uri="{FF2B5EF4-FFF2-40B4-BE49-F238E27FC236}">
                <a16:creationId xmlns:a16="http://schemas.microsoft.com/office/drawing/2014/main" id="{37C5F154-703F-B3AC-898E-EC6BE957BB55}"/>
              </a:ext>
            </a:extLst>
          </p:cNvPr>
          <p:cNvSpPr/>
          <p:nvPr/>
        </p:nvSpPr>
        <p:spPr>
          <a:xfrm>
            <a:off x="9041011" y="3543470"/>
            <a:ext cx="1693069" cy="846631"/>
          </a:xfrm>
          <a:prstGeom prst="diamond">
            <a:avLst/>
          </a:prstGeom>
          <a:solidFill>
            <a:srgbClr val="FFC72C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37">
            <a:extLst>
              <a:ext uri="{FF2B5EF4-FFF2-40B4-BE49-F238E27FC236}">
                <a16:creationId xmlns:a16="http://schemas.microsoft.com/office/drawing/2014/main" id="{24413C3A-E54A-699C-B95A-213AF873A843}"/>
              </a:ext>
            </a:extLst>
          </p:cNvPr>
          <p:cNvSpPr/>
          <p:nvPr/>
        </p:nvSpPr>
        <p:spPr>
          <a:xfrm>
            <a:off x="9041011" y="3543470"/>
            <a:ext cx="1693069" cy="846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52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이걸로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6B52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할까요?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Shape 38">
            <a:extLst>
              <a:ext uri="{FF2B5EF4-FFF2-40B4-BE49-F238E27FC236}">
                <a16:creationId xmlns:a16="http://schemas.microsoft.com/office/drawing/2014/main" id="{B447F79F-8ED6-3D55-0CF2-95DE4622E7F1}"/>
              </a:ext>
            </a:extLst>
          </p:cNvPr>
          <p:cNvSpPr/>
          <p:nvPr/>
        </p:nvSpPr>
        <p:spPr>
          <a:xfrm>
            <a:off x="9887545" y="4390101"/>
            <a:ext cx="0" cy="312885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39">
            <a:extLst>
              <a:ext uri="{FF2B5EF4-FFF2-40B4-BE49-F238E27FC236}">
                <a16:creationId xmlns:a16="http://schemas.microsoft.com/office/drawing/2014/main" id="{922D35A0-A57A-AD06-0A45-495AEBE510DE}"/>
              </a:ext>
            </a:extLst>
          </p:cNvPr>
          <p:cNvSpPr/>
          <p:nvPr/>
        </p:nvSpPr>
        <p:spPr>
          <a:xfrm>
            <a:off x="8805863" y="4702987"/>
            <a:ext cx="1081683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92" name="Text 40">
            <a:extLst>
              <a:ext uri="{FF2B5EF4-FFF2-40B4-BE49-F238E27FC236}">
                <a16:creationId xmlns:a16="http://schemas.microsoft.com/office/drawing/2014/main" id="{544392EE-B9A5-CA3C-4273-6539ECAEEA98}"/>
              </a:ext>
            </a:extLst>
          </p:cNvPr>
          <p:cNvSpPr/>
          <p:nvPr/>
        </p:nvSpPr>
        <p:spPr>
          <a:xfrm>
            <a:off x="9276159" y="4754521"/>
            <a:ext cx="1316831" cy="16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Shape 41">
            <a:extLst>
              <a:ext uri="{FF2B5EF4-FFF2-40B4-BE49-F238E27FC236}">
                <a16:creationId xmlns:a16="http://schemas.microsoft.com/office/drawing/2014/main" id="{60DFEBE4-EAAE-F5ED-E3FB-FD894FD7CCDE}"/>
              </a:ext>
            </a:extLst>
          </p:cNvPr>
          <p:cNvSpPr/>
          <p:nvPr/>
        </p:nvSpPr>
        <p:spPr>
          <a:xfrm>
            <a:off x="7018734" y="4445316"/>
            <a:ext cx="1787128" cy="515341"/>
          </a:xfrm>
          <a:prstGeom prst="roundRect">
            <a:avLst>
              <a:gd name="adj" fmla="val 8571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42">
            <a:extLst>
              <a:ext uri="{FF2B5EF4-FFF2-40B4-BE49-F238E27FC236}">
                <a16:creationId xmlns:a16="http://schemas.microsoft.com/office/drawing/2014/main" id="{BD1F26EA-8AF6-364F-EF9B-A265F446F61C}"/>
              </a:ext>
            </a:extLst>
          </p:cNvPr>
          <p:cNvSpPr/>
          <p:nvPr/>
        </p:nvSpPr>
        <p:spPr>
          <a:xfrm>
            <a:off x="7018734" y="4445316"/>
            <a:ext cx="1787128" cy="5153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대안 제시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메뉴 보기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8" name="Shape 43">
            <a:extLst>
              <a:ext uri="{FF2B5EF4-FFF2-40B4-BE49-F238E27FC236}">
                <a16:creationId xmlns:a16="http://schemas.microsoft.com/office/drawing/2014/main" id="{164133AD-03D1-75D6-F67C-19C16B567FF9}"/>
              </a:ext>
            </a:extLst>
          </p:cNvPr>
          <p:cNvSpPr/>
          <p:nvPr/>
        </p:nvSpPr>
        <p:spPr>
          <a:xfrm>
            <a:off x="7912298" y="4298076"/>
            <a:ext cx="0" cy="14724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00" name="Shape 44">
            <a:extLst>
              <a:ext uri="{FF2B5EF4-FFF2-40B4-BE49-F238E27FC236}">
                <a16:creationId xmlns:a16="http://schemas.microsoft.com/office/drawing/2014/main" id="{A6DD43D5-BFC1-D9CC-FE62-1C8869D98787}"/>
              </a:ext>
            </a:extLst>
          </p:cNvPr>
          <p:cNvSpPr/>
          <p:nvPr/>
        </p:nvSpPr>
        <p:spPr>
          <a:xfrm>
            <a:off x="10734080" y="3966785"/>
            <a:ext cx="1269802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45">
            <a:extLst>
              <a:ext uri="{FF2B5EF4-FFF2-40B4-BE49-F238E27FC236}">
                <a16:creationId xmlns:a16="http://schemas.microsoft.com/office/drawing/2014/main" id="{ABBF7D27-8310-A676-ACCE-6D0639503B4E}"/>
              </a:ext>
            </a:extLst>
          </p:cNvPr>
          <p:cNvSpPr/>
          <p:nvPr/>
        </p:nvSpPr>
        <p:spPr>
          <a:xfrm>
            <a:off x="12003881" y="3966785"/>
            <a:ext cx="0" cy="1177922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46">
            <a:extLst>
              <a:ext uri="{FF2B5EF4-FFF2-40B4-BE49-F238E27FC236}">
                <a16:creationId xmlns:a16="http://schemas.microsoft.com/office/drawing/2014/main" id="{B8175F26-851A-EDB8-80FC-BAD2E32D49AF}"/>
              </a:ext>
            </a:extLst>
          </p:cNvPr>
          <p:cNvSpPr/>
          <p:nvPr/>
        </p:nvSpPr>
        <p:spPr>
          <a:xfrm>
            <a:off x="1187053" y="5144707"/>
            <a:ext cx="10816828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47">
            <a:extLst>
              <a:ext uri="{FF2B5EF4-FFF2-40B4-BE49-F238E27FC236}">
                <a16:creationId xmlns:a16="http://schemas.microsoft.com/office/drawing/2014/main" id="{1F438E79-F28C-962C-9D01-BF3DE3BED83B}"/>
              </a:ext>
            </a:extLst>
          </p:cNvPr>
          <p:cNvSpPr/>
          <p:nvPr/>
        </p:nvSpPr>
        <p:spPr>
          <a:xfrm>
            <a:off x="1187053" y="5144707"/>
            <a:ext cx="0" cy="14724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Text 48">
            <a:extLst>
              <a:ext uri="{FF2B5EF4-FFF2-40B4-BE49-F238E27FC236}">
                <a16:creationId xmlns:a16="http://schemas.microsoft.com/office/drawing/2014/main" id="{4CF75C55-3044-8F7F-DB87-8F98358183C8}"/>
              </a:ext>
            </a:extLst>
          </p:cNvPr>
          <p:cNvSpPr/>
          <p:nvPr/>
        </p:nvSpPr>
        <p:spPr>
          <a:xfrm>
            <a:off x="10875169" y="3745925"/>
            <a:ext cx="1316831" cy="16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수락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0" name="Shape 49">
            <a:extLst>
              <a:ext uri="{FF2B5EF4-FFF2-40B4-BE49-F238E27FC236}">
                <a16:creationId xmlns:a16="http://schemas.microsoft.com/office/drawing/2014/main" id="{6E96DD80-33DA-15A7-9A16-660028022E8E}"/>
              </a:ext>
            </a:extLst>
          </p:cNvPr>
          <p:cNvSpPr/>
          <p:nvPr/>
        </p:nvSpPr>
        <p:spPr>
          <a:xfrm>
            <a:off x="152400" y="5291947"/>
            <a:ext cx="2069306" cy="699391"/>
          </a:xfrm>
          <a:prstGeom prst="roundRect">
            <a:avLst>
              <a:gd name="adj" fmla="val 6316"/>
            </a:avLst>
          </a:prstGeom>
          <a:solidFill>
            <a:srgbClr val="FBE9E7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Text 50">
            <a:extLst>
              <a:ext uri="{FF2B5EF4-FFF2-40B4-BE49-F238E27FC236}">
                <a16:creationId xmlns:a16="http://schemas.microsoft.com/office/drawing/2014/main" id="{E6882804-30AB-ED2B-C24A-F90CE908C235}"/>
              </a:ext>
            </a:extLst>
          </p:cNvPr>
          <p:cNvSpPr/>
          <p:nvPr/>
        </p:nvSpPr>
        <p:spPr>
          <a:xfrm>
            <a:off x="152400" y="5291947"/>
            <a:ext cx="2069306" cy="699391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⑨ 실행계획 (결제 직전까지)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결제·실기기 명령은 BLOCK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Shape 51">
            <a:extLst>
              <a:ext uri="{FF2B5EF4-FFF2-40B4-BE49-F238E27FC236}">
                <a16:creationId xmlns:a16="http://schemas.microsoft.com/office/drawing/2014/main" id="{3707E0DC-2212-A443-C29C-6259ED4DB303}"/>
              </a:ext>
            </a:extLst>
          </p:cNvPr>
          <p:cNvSpPr/>
          <p:nvPr/>
        </p:nvSpPr>
        <p:spPr>
          <a:xfrm>
            <a:off x="2221706" y="5641643"/>
            <a:ext cx="14108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Shape 52">
            <a:extLst>
              <a:ext uri="{FF2B5EF4-FFF2-40B4-BE49-F238E27FC236}">
                <a16:creationId xmlns:a16="http://schemas.microsoft.com/office/drawing/2014/main" id="{2A4F8AC1-09E6-D015-D450-C78EC5B642A4}"/>
              </a:ext>
            </a:extLst>
          </p:cNvPr>
          <p:cNvSpPr/>
          <p:nvPr/>
        </p:nvSpPr>
        <p:spPr>
          <a:xfrm>
            <a:off x="2362795" y="5291947"/>
            <a:ext cx="1787128" cy="699391"/>
          </a:xfrm>
          <a:prstGeom prst="roundRect">
            <a:avLst>
              <a:gd name="adj" fmla="val 6316"/>
            </a:avLst>
          </a:prstGeom>
          <a:solidFill>
            <a:srgbClr val="EDF1F6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Text 53">
            <a:extLst>
              <a:ext uri="{FF2B5EF4-FFF2-40B4-BE49-F238E27FC236}">
                <a16:creationId xmlns:a16="http://schemas.microsoft.com/office/drawing/2014/main" id="{22F75B08-134C-DAC8-BE18-38FD089A1A26}"/>
              </a:ext>
            </a:extLst>
          </p:cNvPr>
          <p:cNvSpPr/>
          <p:nvPr/>
        </p:nvSpPr>
        <p:spPr>
          <a:xfrm>
            <a:off x="2362795" y="5291947"/>
            <a:ext cx="1787128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⑩ 최종 확인 → 결제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(클릭해도 결제까지만)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Shape 54">
            <a:extLst>
              <a:ext uri="{FF2B5EF4-FFF2-40B4-BE49-F238E27FC236}">
                <a16:creationId xmlns:a16="http://schemas.microsoft.com/office/drawing/2014/main" id="{415BC097-7917-308F-EFD4-260E86435032}"/>
              </a:ext>
            </a:extLst>
          </p:cNvPr>
          <p:cNvSpPr/>
          <p:nvPr/>
        </p:nvSpPr>
        <p:spPr>
          <a:xfrm>
            <a:off x="4149923" y="5641643"/>
            <a:ext cx="14108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2" name="Shape 55">
            <a:extLst>
              <a:ext uri="{FF2B5EF4-FFF2-40B4-BE49-F238E27FC236}">
                <a16:creationId xmlns:a16="http://schemas.microsoft.com/office/drawing/2014/main" id="{3AA1FD40-9019-F4D9-F8EC-C4EC3547AEC6}"/>
              </a:ext>
            </a:extLst>
          </p:cNvPr>
          <p:cNvSpPr/>
          <p:nvPr/>
        </p:nvSpPr>
        <p:spPr>
          <a:xfrm>
            <a:off x="4291013" y="5236732"/>
            <a:ext cx="1222772" cy="809821"/>
          </a:xfrm>
          <a:prstGeom prst="diamond">
            <a:avLst/>
          </a:prstGeom>
          <a:solidFill>
            <a:srgbClr val="FFC72C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Text 56">
            <a:extLst>
              <a:ext uri="{FF2B5EF4-FFF2-40B4-BE49-F238E27FC236}">
                <a16:creationId xmlns:a16="http://schemas.microsoft.com/office/drawing/2014/main" id="{9B1535E0-9E14-C30A-9B9B-3FF4B0980F01}"/>
              </a:ext>
            </a:extLst>
          </p:cNvPr>
          <p:cNvSpPr/>
          <p:nvPr/>
        </p:nvSpPr>
        <p:spPr>
          <a:xfrm>
            <a:off x="4291013" y="5236732"/>
            <a:ext cx="1222772" cy="809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52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 방문?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Shape 57">
            <a:extLst>
              <a:ext uri="{FF2B5EF4-FFF2-40B4-BE49-F238E27FC236}">
                <a16:creationId xmlns:a16="http://schemas.microsoft.com/office/drawing/2014/main" id="{9370221D-C448-A145-E1C6-3C298DE9FAAF}"/>
              </a:ext>
            </a:extLst>
          </p:cNvPr>
          <p:cNvSpPr/>
          <p:nvPr/>
        </p:nvSpPr>
        <p:spPr>
          <a:xfrm>
            <a:off x="5513784" y="5641643"/>
            <a:ext cx="376238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Text 58">
            <a:extLst>
              <a:ext uri="{FF2B5EF4-FFF2-40B4-BE49-F238E27FC236}">
                <a16:creationId xmlns:a16="http://schemas.microsoft.com/office/drawing/2014/main" id="{63B3CC40-6328-CBF3-3D5D-D0FEDB8633CC}"/>
              </a:ext>
            </a:extLst>
          </p:cNvPr>
          <p:cNvSpPr/>
          <p:nvPr/>
        </p:nvSpPr>
        <p:spPr>
          <a:xfrm>
            <a:off x="5466755" y="5417102"/>
            <a:ext cx="1316831" cy="16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 방문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0" name="Shape 59">
            <a:extLst>
              <a:ext uri="{FF2B5EF4-FFF2-40B4-BE49-F238E27FC236}">
                <a16:creationId xmlns:a16="http://schemas.microsoft.com/office/drawing/2014/main" id="{0A02FA89-1CE4-392D-2AF1-EC0B268A29E9}"/>
              </a:ext>
            </a:extLst>
          </p:cNvPr>
          <p:cNvSpPr/>
          <p:nvPr/>
        </p:nvSpPr>
        <p:spPr>
          <a:xfrm>
            <a:off x="5890022" y="5291947"/>
            <a:ext cx="1410891" cy="699391"/>
          </a:xfrm>
          <a:prstGeom prst="roundRect">
            <a:avLst>
              <a:gd name="adj" fmla="val 6316"/>
            </a:avLst>
          </a:prstGeom>
          <a:solidFill>
            <a:srgbClr val="E5F3E9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Text 60">
            <a:extLst>
              <a:ext uri="{FF2B5EF4-FFF2-40B4-BE49-F238E27FC236}">
                <a16:creationId xmlns:a16="http://schemas.microsoft.com/office/drawing/2014/main" id="{768794C9-C772-EDCF-37BC-F68FBD7F7A27}"/>
              </a:ext>
            </a:extLst>
          </p:cNvPr>
          <p:cNvSpPr/>
          <p:nvPr/>
        </p:nvSpPr>
        <p:spPr>
          <a:xfrm>
            <a:off x="5890022" y="5291947"/>
            <a:ext cx="1410891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⑪ 개인정보 동의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4" name="Shape 61">
            <a:extLst>
              <a:ext uri="{FF2B5EF4-FFF2-40B4-BE49-F238E27FC236}">
                <a16:creationId xmlns:a16="http://schemas.microsoft.com/office/drawing/2014/main" id="{666BB334-B525-B038-9584-B14075697D64}"/>
              </a:ext>
            </a:extLst>
          </p:cNvPr>
          <p:cNvSpPr/>
          <p:nvPr/>
        </p:nvSpPr>
        <p:spPr>
          <a:xfrm>
            <a:off x="7300912" y="5641643"/>
            <a:ext cx="14108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6" name="Shape 62">
            <a:extLst>
              <a:ext uri="{FF2B5EF4-FFF2-40B4-BE49-F238E27FC236}">
                <a16:creationId xmlns:a16="http://schemas.microsoft.com/office/drawing/2014/main" id="{FBD01D8B-7441-6732-4ECC-EE41D51720D4}"/>
              </a:ext>
            </a:extLst>
          </p:cNvPr>
          <p:cNvSpPr/>
          <p:nvPr/>
        </p:nvSpPr>
        <p:spPr>
          <a:xfrm>
            <a:off x="7442002" y="5291947"/>
            <a:ext cx="1457920" cy="699391"/>
          </a:xfrm>
          <a:prstGeom prst="roundRect">
            <a:avLst>
              <a:gd name="adj" fmla="val 6316"/>
            </a:avLst>
          </a:prstGeom>
          <a:solidFill>
            <a:srgbClr val="E5F3E9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Text 63">
            <a:extLst>
              <a:ext uri="{FF2B5EF4-FFF2-40B4-BE49-F238E27FC236}">
                <a16:creationId xmlns:a16="http://schemas.microsoft.com/office/drawing/2014/main" id="{CB712495-BA56-98FD-C536-3184A9FAAB7A}"/>
              </a:ext>
            </a:extLst>
          </p:cNvPr>
          <p:cNvSpPr/>
          <p:nvPr/>
        </p:nvSpPr>
        <p:spPr>
          <a:xfrm>
            <a:off x="7442002" y="5291947"/>
            <a:ext cx="1457920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⑫ 프로필 생성·저장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sz="1200" b="1">
                <a:solidFill>
                  <a:srgbClr val="2B3A49"/>
                </a:solidFill>
                <a:latin typeface="Pretendard"/>
              </a:rPr>
              <a:t>(사이트에서 수정·삭제)</a:t>
            </a:r>
          </a:p>
        </p:txBody>
      </p:sp>
      <p:sp>
        <p:nvSpPr>
          <p:cNvPr id="140" name="Shape 64">
            <a:extLst>
              <a:ext uri="{FF2B5EF4-FFF2-40B4-BE49-F238E27FC236}">
                <a16:creationId xmlns:a16="http://schemas.microsoft.com/office/drawing/2014/main" id="{271BB021-163F-78CD-D9F8-D5D93E1F1DD1}"/>
              </a:ext>
            </a:extLst>
          </p:cNvPr>
          <p:cNvSpPr/>
          <p:nvPr/>
        </p:nvSpPr>
        <p:spPr>
          <a:xfrm>
            <a:off x="8899922" y="5641643"/>
            <a:ext cx="14108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2" name="Shape 65">
            <a:extLst>
              <a:ext uri="{FF2B5EF4-FFF2-40B4-BE49-F238E27FC236}">
                <a16:creationId xmlns:a16="http://schemas.microsoft.com/office/drawing/2014/main" id="{2B3121EF-D084-04DF-83B2-C5F237AF37AB}"/>
              </a:ext>
            </a:extLst>
          </p:cNvPr>
          <p:cNvSpPr/>
          <p:nvPr/>
        </p:nvSpPr>
        <p:spPr>
          <a:xfrm>
            <a:off x="9041011" y="5291947"/>
            <a:ext cx="1410891" cy="699391"/>
          </a:xfrm>
          <a:prstGeom prst="roundRect">
            <a:avLst>
              <a:gd name="adj" fmla="val 6316"/>
            </a:avLst>
          </a:prstGeom>
          <a:solidFill>
            <a:srgbClr val="E5F3E9"/>
          </a:solidFill>
          <a:ln w="1587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Text 66">
            <a:extLst>
              <a:ext uri="{FF2B5EF4-FFF2-40B4-BE49-F238E27FC236}">
                <a16:creationId xmlns:a16="http://schemas.microsoft.com/office/drawing/2014/main" id="{9A0EFD3D-C398-AA5D-EFA8-5BA5D726A4E9}"/>
              </a:ext>
            </a:extLst>
          </p:cNvPr>
          <p:cNvSpPr/>
          <p:nvPr/>
        </p:nvSpPr>
        <p:spPr>
          <a:xfrm>
            <a:off x="9041011" y="5291947"/>
            <a:ext cx="1410891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⑬ 약·복용 정보 입력</a:t>
            </a:r>
            <a:endParaRPr 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6" name="Shape 67">
            <a:extLst>
              <a:ext uri="{FF2B5EF4-FFF2-40B4-BE49-F238E27FC236}">
                <a16:creationId xmlns:a16="http://schemas.microsoft.com/office/drawing/2014/main" id="{1E29E630-1570-D1BF-7D4A-74079D0AB0A7}"/>
              </a:ext>
            </a:extLst>
          </p:cNvPr>
          <p:cNvSpPr/>
          <p:nvPr/>
        </p:nvSpPr>
        <p:spPr>
          <a:xfrm>
            <a:off x="10451902" y="5641643"/>
            <a:ext cx="141089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8" name="Shape 68">
            <a:extLst>
              <a:ext uri="{FF2B5EF4-FFF2-40B4-BE49-F238E27FC236}">
                <a16:creationId xmlns:a16="http://schemas.microsoft.com/office/drawing/2014/main" id="{4CA39F3A-0A9F-87E9-1965-0B9378B80449}"/>
              </a:ext>
            </a:extLst>
          </p:cNvPr>
          <p:cNvSpPr/>
          <p:nvPr/>
        </p:nvSpPr>
        <p:spPr>
          <a:xfrm>
            <a:off x="10592991" y="5291947"/>
            <a:ext cx="1269802" cy="699391"/>
          </a:xfrm>
          <a:prstGeom prst="roundRect">
            <a:avLst>
              <a:gd name="adj" fmla="val 6316"/>
            </a:avLst>
          </a:prstGeom>
          <a:solidFill>
            <a:srgbClr val="D9EFDD"/>
          </a:solidFill>
          <a:ln w="15875">
            <a:solidFill>
              <a:srgbClr val="1E7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Text 69">
            <a:extLst>
              <a:ext uri="{FF2B5EF4-FFF2-40B4-BE49-F238E27FC236}">
                <a16:creationId xmlns:a16="http://schemas.microsoft.com/office/drawing/2014/main" id="{3091C75E-EA65-CA78-DA2C-453ECFCD8B9C}"/>
              </a:ext>
            </a:extLst>
          </p:cNvPr>
          <p:cNvSpPr/>
          <p:nvPr/>
        </p:nvSpPr>
        <p:spPr>
          <a:xfrm>
            <a:off x="10592991" y="5291947"/>
            <a:ext cx="1269802" cy="6993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3A4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 완료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2" name="Text 70">
            <a:extLst>
              <a:ext uri="{FF2B5EF4-FFF2-40B4-BE49-F238E27FC236}">
                <a16:creationId xmlns:a16="http://schemas.microsoft.com/office/drawing/2014/main" id="{80A56019-ED13-9F30-6E95-C2677E5B44C2}"/>
              </a:ext>
            </a:extLst>
          </p:cNvPr>
          <p:cNvSpPr/>
          <p:nvPr/>
        </p:nvSpPr>
        <p:spPr>
          <a:xfrm>
            <a:off x="6301760" y="6075853"/>
            <a:ext cx="3738404" cy="189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------------</a:t>
            </a:r>
            <a:r>
              <a:rPr lang="en-US" sz="1100" dirty="0" err="1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</a:t>
            </a:r>
            <a:r>
              <a:rPr lang="en-US" sz="1100" dirty="0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방문부터 건강 기반 </a:t>
            </a:r>
            <a:r>
              <a:rPr lang="en-US" sz="1100" dirty="0" err="1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</a:t>
            </a:r>
            <a:r>
              <a:rPr lang="en-US" sz="1100" dirty="0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100" dirty="0" err="1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반영</a:t>
            </a:r>
            <a:r>
              <a:rPr lang="en-US" sz="1100" dirty="0">
                <a:solidFill>
                  <a:srgbClr val="1E7A4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-------------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4" name="Shape 71">
            <a:extLst>
              <a:ext uri="{FF2B5EF4-FFF2-40B4-BE49-F238E27FC236}">
                <a16:creationId xmlns:a16="http://schemas.microsoft.com/office/drawing/2014/main" id="{EB8AC3E3-8DCD-94F8-4095-E14CFCD55293}"/>
              </a:ext>
            </a:extLst>
          </p:cNvPr>
          <p:cNvSpPr/>
          <p:nvPr/>
        </p:nvSpPr>
        <p:spPr>
          <a:xfrm>
            <a:off x="4902398" y="6046554"/>
            <a:ext cx="0" cy="404911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" name="Shape 72">
            <a:extLst>
              <a:ext uri="{FF2B5EF4-FFF2-40B4-BE49-F238E27FC236}">
                <a16:creationId xmlns:a16="http://schemas.microsoft.com/office/drawing/2014/main" id="{24E681BC-CA23-7CD3-B993-F354D53C3390}"/>
              </a:ext>
            </a:extLst>
          </p:cNvPr>
          <p:cNvSpPr/>
          <p:nvPr/>
        </p:nvSpPr>
        <p:spPr>
          <a:xfrm>
            <a:off x="4902398" y="6451464"/>
            <a:ext cx="6325493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Shape 73">
            <a:extLst>
              <a:ext uri="{FF2B5EF4-FFF2-40B4-BE49-F238E27FC236}">
                <a16:creationId xmlns:a16="http://schemas.microsoft.com/office/drawing/2014/main" id="{B9A56715-5ABD-BCAE-3FD0-7AC6171B0404}"/>
              </a:ext>
            </a:extLst>
          </p:cNvPr>
          <p:cNvSpPr/>
          <p:nvPr/>
        </p:nvSpPr>
        <p:spPr>
          <a:xfrm>
            <a:off x="11227891" y="5991339"/>
            <a:ext cx="0" cy="460126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60" name="Text 74">
            <a:extLst>
              <a:ext uri="{FF2B5EF4-FFF2-40B4-BE49-F238E27FC236}">
                <a16:creationId xmlns:a16="http://schemas.microsoft.com/office/drawing/2014/main" id="{773F3DC3-5360-95A2-DDB4-216BC6792921}"/>
              </a:ext>
            </a:extLst>
          </p:cNvPr>
          <p:cNvSpPr/>
          <p:nvPr/>
        </p:nvSpPr>
        <p:spPr>
          <a:xfrm>
            <a:off x="5043488" y="6226923"/>
            <a:ext cx="1316831" cy="161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재방문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69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68216" y="18503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대기화면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056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288" y="18503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전화번호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3128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2360" y="18503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통화 중 · 메뉴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200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4432" y="1850328"/>
            <a:ext cx="233172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 err="1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개인정보이용동의</a:t>
            </a:r>
            <a:endParaRPr sz="1400" b="1" dirty="0">
              <a:solidFill>
                <a:srgbClr val="2240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17272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EF85B9-E56E-0851-DAC7-0C757A3211AD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02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343FFD2-603B-2371-90C6-E700D111EB75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AAE28B-F742-FC25-EF31-95EFC6C3B519}"/>
              </a:ext>
            </a:extLst>
          </p:cNvPr>
          <p:cNvSpPr txBox="1"/>
          <p:nvPr/>
        </p:nvSpPr>
        <p:spPr>
          <a:xfrm>
            <a:off x="937064" y="1115568"/>
            <a:ext cx="1014984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플로우 _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첫 주문 UX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66D014F-F811-231C-2BE1-659614CC25C6}"/>
              </a:ext>
            </a:extLst>
          </p:cNvPr>
          <p:cNvSpPr/>
          <p:nvPr/>
        </p:nvSpPr>
        <p:spPr>
          <a:xfrm>
            <a:off x="828040" y="5871008"/>
            <a:ext cx="2016000" cy="739391"/>
          </a:xfrm>
          <a:prstGeom prst="roundRect">
            <a:avLst>
              <a:gd name="adj" fmla="val 7559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화면 중앙에 “📞 전화와 함께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주문하기” 큰 버튼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68A842E-BE3D-53B0-6A6C-A565F23299BB}"/>
              </a:ext>
            </a:extLst>
          </p:cNvPr>
          <p:cNvSpPr/>
          <p:nvPr/>
        </p:nvSpPr>
        <p:spPr>
          <a:xfrm>
            <a:off x="3690112" y="5871008"/>
            <a:ext cx="2016000" cy="739391"/>
          </a:xfrm>
          <a:prstGeom prst="roundRect">
            <a:avLst>
              <a:gd name="adj" fmla="val 8934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큰 숫자 </a:t>
            </a:r>
            <a:r>
              <a:rPr lang="ko-KR" altLang="en-US" sz="12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키패드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키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132px)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입력 번호를 크게 표시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088A875-05D7-AD3A-8A84-BA299BCBC654}"/>
              </a:ext>
            </a:extLst>
          </p:cNvPr>
          <p:cNvSpPr/>
          <p:nvPr/>
        </p:nvSpPr>
        <p:spPr>
          <a:xfrm>
            <a:off x="6552184" y="5871008"/>
            <a:ext cx="2016000" cy="739391"/>
          </a:xfrm>
          <a:prstGeom prst="roundRect">
            <a:avLst>
              <a:gd name="adj" fmla="val 8934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말하면 화면이 따라옴</a:t>
            </a:r>
          </a:p>
          <a:p>
            <a:pPr algn="ctr">
              <a:lnSpc>
                <a:spcPct val="115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조건</a:t>
            </a:r>
            <a:r>
              <a:rPr lang="en-US" altLang="ko-KR" sz="1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제외 사유 실시간 표시</a:t>
            </a:r>
            <a:endParaRPr lang="ko-KR" altLang="en-US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8F0B8B8-3052-D639-7FA1-7C8B8E8415FC}"/>
              </a:ext>
            </a:extLst>
          </p:cNvPr>
          <p:cNvSpPr/>
          <p:nvPr/>
        </p:nvSpPr>
        <p:spPr>
          <a:xfrm>
            <a:off x="9414256" y="5871008"/>
            <a:ext cx="2016000" cy="739391"/>
          </a:xfrm>
          <a:prstGeom prst="roundRect">
            <a:avLst>
              <a:gd name="adj" fmla="val 10308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결제 화면까지 안내 후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개인정보이용동의 진행</a:t>
            </a:r>
            <a:endParaRPr lang="en-US" altLang="ko-KR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50" name="Picture 49" descr="A1_대기화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2106360"/>
            <a:ext cx="2016000" cy="3652884"/>
          </a:xfrm>
          <a:prstGeom prst="rect">
            <a:avLst/>
          </a:prstGeom>
        </p:spPr>
      </p:pic>
      <p:pic>
        <p:nvPicPr>
          <p:cNvPr id="51" name="Picture 50" descr="A2_전화번호입력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112" y="2106360"/>
            <a:ext cx="2016000" cy="3652884"/>
          </a:xfrm>
          <a:prstGeom prst="rect">
            <a:avLst/>
          </a:prstGeom>
        </p:spPr>
      </p:pic>
      <p:pic>
        <p:nvPicPr>
          <p:cNvPr id="52" name="Picture 51" descr="A4_통화중_메뉴탐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84" y="2106360"/>
            <a:ext cx="2016000" cy="3652884"/>
          </a:xfrm>
          <a:prstGeom prst="rect">
            <a:avLst/>
          </a:prstGeom>
        </p:spPr>
      </p:pic>
      <p:pic>
        <p:nvPicPr>
          <p:cNvPr id="53" name="Picture 52" descr="A6_결제직전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256" y="2106360"/>
            <a:ext cx="2016000" cy="36528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1CBCB3-197A-0A1E-0B89-E6B1341E466D}"/>
              </a:ext>
            </a:extLst>
          </p:cNvPr>
          <p:cNvSpPr txBox="1"/>
          <p:nvPr/>
        </p:nvSpPr>
        <p:spPr>
          <a:xfrm>
            <a:off x="5968119" y="6634097"/>
            <a:ext cx="3128212" cy="223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*’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말한내용을 적어보세요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.’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는 데모버전을 위한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UI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입니다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7FCCBCC-163F-8545-8045-D54615467B61}"/>
              </a:ext>
            </a:extLst>
          </p:cNvPr>
          <p:cNvCxnSpPr>
            <a:cxnSpLocks/>
          </p:cNvCxnSpPr>
          <p:nvPr/>
        </p:nvCxnSpPr>
        <p:spPr>
          <a:xfrm>
            <a:off x="3137096" y="3967107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197558D-146C-3E42-0BBB-63D7C74B170F}"/>
              </a:ext>
            </a:extLst>
          </p:cNvPr>
          <p:cNvCxnSpPr>
            <a:cxnSpLocks/>
          </p:cNvCxnSpPr>
          <p:nvPr/>
        </p:nvCxnSpPr>
        <p:spPr>
          <a:xfrm>
            <a:off x="5999168" y="3967107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1363ED4-C17F-74E3-E59F-DBCA80021FBD}"/>
              </a:ext>
            </a:extLst>
          </p:cNvPr>
          <p:cNvCxnSpPr>
            <a:cxnSpLocks/>
          </p:cNvCxnSpPr>
          <p:nvPr/>
        </p:nvCxnSpPr>
        <p:spPr>
          <a:xfrm>
            <a:off x="8799971" y="3967107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83405C3-6D4A-6091-1B50-D81D30D83805}"/>
              </a:ext>
            </a:extLst>
          </p:cNvPr>
          <p:cNvCxnSpPr>
            <a:cxnSpLocks/>
          </p:cNvCxnSpPr>
          <p:nvPr/>
        </p:nvCxnSpPr>
        <p:spPr>
          <a:xfrm>
            <a:off x="11586152" y="3971814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6918762" y="6405493"/>
            <a:ext cx="455092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ko-KR" sz="1100" dirty="0">
                <a:solidFill>
                  <a:srgbClr val="646B76"/>
                </a:solidFill>
                <a:latin typeface="맑은 고딕"/>
              </a:rPr>
              <a:t>https://kiobridge-app-swart.vercel.app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463D3-A4F2-F64F-D943-FBFA88563697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02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209638A-FF75-B95E-040A-3BF2F0FF1049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FD4884-DE61-A84C-C682-5C1477AC3840}"/>
              </a:ext>
            </a:extLst>
          </p:cNvPr>
          <p:cNvSpPr txBox="1"/>
          <p:nvPr/>
        </p:nvSpPr>
        <p:spPr>
          <a:xfrm>
            <a:off x="937064" y="1115568"/>
            <a:ext cx="1014984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플로우 _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첫 주문 UX </a:t>
            </a:r>
            <a:r>
              <a:rPr lang="en-US" altLang="ko-KR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결제완료 이후 사용자 정보 등록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5AC7E85-CC9F-0ABB-F923-1BEABB6BACB2}"/>
              </a:ext>
            </a:extLst>
          </p:cNvPr>
          <p:cNvGrpSpPr/>
          <p:nvPr/>
        </p:nvGrpSpPr>
        <p:grpSpPr>
          <a:xfrm>
            <a:off x="3003592" y="1901952"/>
            <a:ext cx="8682440" cy="4297746"/>
            <a:chOff x="4709160" y="1901952"/>
            <a:chExt cx="6976872" cy="3453502"/>
          </a:xfrm>
        </p:grpSpPr>
        <p:pic>
          <p:nvPicPr>
            <p:cNvPr id="15" name="Picture 14" descr="01_홈_fram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0600" y="1901952"/>
              <a:ext cx="1581912" cy="3192199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4709160" y="5112439"/>
              <a:ext cx="1764792" cy="2430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sz="1300" b="1">
                  <a:solidFill>
                    <a:srgbClr val="2B2F3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1. 홈</a:t>
              </a:r>
            </a:p>
          </p:txBody>
        </p:sp>
        <p:pic>
          <p:nvPicPr>
            <p:cNvPr id="18" name="Picture 17" descr="02_문자인증_fram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7960" y="1901952"/>
              <a:ext cx="1581912" cy="3192199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446520" y="5112439"/>
              <a:ext cx="1764792" cy="2430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sz="1300" b="1">
                  <a:solidFill>
                    <a:srgbClr val="2B2F3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2. 문자 인증</a:t>
              </a:r>
            </a:p>
          </p:txBody>
        </p:sp>
        <p:pic>
          <p:nvPicPr>
            <p:cNvPr id="21" name="Picture 20" descr="03_건강정보_미리보기_fram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5320" y="1901952"/>
              <a:ext cx="1581912" cy="319219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8183880" y="5112439"/>
              <a:ext cx="1764792" cy="2430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sz="1300" b="1">
                  <a:solidFill>
                    <a:srgbClr val="2B2F3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3. 건강정보 입력</a:t>
              </a:r>
            </a:p>
          </p:txBody>
        </p:sp>
        <p:pic>
          <p:nvPicPr>
            <p:cNvPr id="24" name="Picture 23" descr="04_내정보_fram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12680" y="1901952"/>
              <a:ext cx="1581912" cy="3192199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9921240" y="5112439"/>
              <a:ext cx="1764792" cy="2430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35000"/>
                </a:lnSpc>
              </a:pPr>
              <a:r>
                <a:rPr sz="1300" b="1">
                  <a:solidFill>
                    <a:srgbClr val="2B2F3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4. 내 정보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C031CD2-A29C-54DF-BBF2-897402031D59}"/>
              </a:ext>
            </a:extLst>
          </p:cNvPr>
          <p:cNvSpPr txBox="1"/>
          <p:nvPr/>
        </p:nvSpPr>
        <p:spPr>
          <a:xfrm>
            <a:off x="330351" y="1850328"/>
            <a:ext cx="233172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그 외 추가 정보 입력</a:t>
            </a:r>
            <a:endParaRPr sz="1400" b="1" dirty="0">
              <a:solidFill>
                <a:srgbClr val="2240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DDEEC6-6AE7-25B5-187B-6EBDDF4A0EE4}"/>
              </a:ext>
            </a:extLst>
          </p:cNvPr>
          <p:cNvSpPr txBox="1"/>
          <p:nvPr/>
        </p:nvSpPr>
        <p:spPr>
          <a:xfrm>
            <a:off x="193191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5</a:t>
            </a:r>
            <a:endParaRPr sz="1100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D7B4718-948D-28BC-5453-4C1755D4528C}"/>
              </a:ext>
            </a:extLst>
          </p:cNvPr>
          <p:cNvSpPr/>
          <p:nvPr/>
        </p:nvSpPr>
        <p:spPr>
          <a:xfrm>
            <a:off x="488211" y="4904556"/>
            <a:ext cx="2016000" cy="739391"/>
          </a:xfrm>
          <a:prstGeom prst="roundRect">
            <a:avLst>
              <a:gd name="adj" fmla="val 10308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결제 완료 후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주문 대기중 </a:t>
            </a:r>
            <a:endParaRPr lang="en-US" altLang="ko-KR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1200" u="sng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전화로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이어서 개인정보 입력</a:t>
            </a:r>
            <a:endParaRPr lang="en-US" altLang="ko-KR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792C6BC-B00D-5BD1-D8AE-0CE591E5755F}"/>
              </a:ext>
            </a:extLst>
          </p:cNvPr>
          <p:cNvSpPr/>
          <p:nvPr/>
        </p:nvSpPr>
        <p:spPr>
          <a:xfrm>
            <a:off x="487650" y="5677673"/>
            <a:ext cx="2016000" cy="739391"/>
          </a:xfrm>
          <a:prstGeom prst="roundRect">
            <a:avLst>
              <a:gd name="adj" fmla="val 10308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문자로 링크 </a:t>
            </a:r>
            <a:r>
              <a:rPr lang="ko-KR" altLang="en-US" sz="12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전송후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ctr">
              <a:lnSpc>
                <a:spcPct val="115000"/>
              </a:lnSpc>
            </a:pPr>
            <a:r>
              <a:rPr lang="ko-KR" altLang="en-US" sz="1200" u="sng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사이트에서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개인정보 입력</a:t>
            </a:r>
            <a:endParaRPr lang="en-US" altLang="ko-KR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Rounded Rectangle 4">
            <a:extLst>
              <a:ext uri="{FF2B5EF4-FFF2-40B4-BE49-F238E27FC236}">
                <a16:creationId xmlns:a16="http://schemas.microsoft.com/office/drawing/2014/main" id="{F0AF128A-4E1D-545E-9FFF-32FB973F7B99}"/>
              </a:ext>
            </a:extLst>
          </p:cNvPr>
          <p:cNvSpPr/>
          <p:nvPr/>
        </p:nvSpPr>
        <p:spPr>
          <a:xfrm>
            <a:off x="487650" y="2205927"/>
            <a:ext cx="2016000" cy="2572388"/>
          </a:xfrm>
          <a:prstGeom prst="roundRect">
            <a:avLst>
              <a:gd name="adj" fmla="val 7519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9723" y="2370383"/>
            <a:ext cx="1751855" cy="670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정보 수집</a:t>
            </a:r>
            <a:endParaRPr lang="en-US" altLang="ko-KR" sz="17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35000"/>
              </a:lnSpc>
            </a:pPr>
            <a:r>
              <a:rPr 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전화 </a:t>
            </a:r>
            <a:r>
              <a:rPr lang="en-US" altLang="ko-KR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 선택</a:t>
            </a:r>
            <a:r>
              <a:rPr lang="en-US" altLang="ko-KR" sz="1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sz="1700" b="1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1417" y="3178459"/>
            <a:ext cx="1673351" cy="1496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lang="en-US"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전화번호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</a:t>
            </a: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알레르기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</a:t>
            </a:r>
            <a:endParaRPr lang="en-US" sz="1400" b="1" dirty="0">
              <a:solidFill>
                <a:srgbClr val="2B2F3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42000"/>
              </a:lnSpc>
            </a:pP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복용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중인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약 ·</a:t>
            </a:r>
            <a:r>
              <a:rPr lang="en-US"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>
              <a:lnSpc>
                <a:spcPct val="142000"/>
              </a:lnSpc>
            </a:pP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앓고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계신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병 · </a:t>
            </a:r>
            <a:endParaRPr lang="en-US" sz="1400" b="1" dirty="0">
              <a:solidFill>
                <a:srgbClr val="2B2F3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42000"/>
              </a:lnSpc>
            </a:pP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매장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</a:t>
            </a:r>
            <a:r>
              <a:rPr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400" b="1" dirty="0" err="1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설정</a:t>
            </a:r>
            <a:r>
              <a:rPr lang="en-US"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 </a:t>
            </a:r>
          </a:p>
          <a:p>
            <a:pPr algn="ctr">
              <a:lnSpc>
                <a:spcPct val="142000"/>
              </a:lnSpc>
            </a:pPr>
            <a:r>
              <a:rPr lang="ko-KR" altLang="en-US" sz="1400" b="1" dirty="0">
                <a:solidFill>
                  <a:srgbClr val="2B2F3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 수집</a:t>
            </a:r>
            <a:endParaRPr sz="1400" b="1" dirty="0">
              <a:solidFill>
                <a:srgbClr val="2B2F3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C0E21CF7-1F8C-6A23-CC09-B957C91B2647}"/>
              </a:ext>
            </a:extLst>
          </p:cNvPr>
          <p:cNvCxnSpPr>
            <a:stCxn id="41" idx="3"/>
            <a:endCxn id="15" idx="1"/>
          </p:cNvCxnSpPr>
          <p:nvPr/>
        </p:nvCxnSpPr>
        <p:spPr>
          <a:xfrm flipV="1">
            <a:off x="2503650" y="3888235"/>
            <a:ext cx="613735" cy="2159134"/>
          </a:xfrm>
          <a:prstGeom prst="bentConnector3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796484B-C72D-B07E-44FD-9D086D6BE26F}"/>
              </a:ext>
            </a:extLst>
          </p:cNvPr>
          <p:cNvCxnSpPr>
            <a:cxnSpLocks/>
          </p:cNvCxnSpPr>
          <p:nvPr/>
        </p:nvCxnSpPr>
        <p:spPr>
          <a:xfrm>
            <a:off x="75023" y="3971814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C0D1-BC44-7346-30B5-9ECBE837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2E3E8D9E-BCA4-1E2E-1FCD-54484B1DFC04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02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123BF53-A1EA-2CEF-60CC-40C48211827B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A9502D6-496B-6A2D-C151-828E1F8583C3}"/>
              </a:ext>
            </a:extLst>
          </p:cNvPr>
          <p:cNvSpPr txBox="1"/>
          <p:nvPr/>
        </p:nvSpPr>
        <p:spPr>
          <a:xfrm>
            <a:off x="937064" y="1115568"/>
            <a:ext cx="1014984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플로우 _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재방문 UX (프로필 생성 이후)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3BA51EE-0B48-A387-1203-7E4DE0109B5C}"/>
              </a:ext>
            </a:extLst>
          </p:cNvPr>
          <p:cNvSpPr/>
          <p:nvPr/>
        </p:nvSpPr>
        <p:spPr>
          <a:xfrm>
            <a:off x="853001" y="5906191"/>
            <a:ext cx="2016000" cy="739391"/>
          </a:xfrm>
          <a:prstGeom prst="roundRect">
            <a:avLst>
              <a:gd name="adj" fmla="val 7559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기존처럼 전화도 가능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익숙해지면 화면주문도 </a:t>
            </a:r>
            <a:endParaRPr lang="en-US" altLang="ko-KR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동일한 </a:t>
            </a:r>
            <a:r>
              <a:rPr lang="ko-KR" altLang="en-US" sz="12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추천로직으로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 가능</a:t>
            </a:r>
            <a:endParaRPr lang="en-US" altLang="ko-KR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8CB713F-62A3-BADA-5D27-5596B4FA295F}"/>
              </a:ext>
            </a:extLst>
          </p:cNvPr>
          <p:cNvSpPr/>
          <p:nvPr/>
        </p:nvSpPr>
        <p:spPr>
          <a:xfrm>
            <a:off x="3692115" y="5906191"/>
            <a:ext cx="2016000" cy="739391"/>
          </a:xfrm>
          <a:prstGeom prst="roundRect">
            <a:avLst>
              <a:gd name="adj" fmla="val 10308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“</a:t>
            </a:r>
            <a:r>
              <a:rPr lang="ko-KR" altLang="en-US" sz="12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김순자님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안녕하세요”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저장된 질환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약을 불러옴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6FB4AAF-DFFD-286F-BAA9-88D0F4E59A32}"/>
              </a:ext>
            </a:extLst>
          </p:cNvPr>
          <p:cNvSpPr/>
          <p:nvPr/>
        </p:nvSpPr>
        <p:spPr>
          <a:xfrm>
            <a:off x="6568002" y="5906191"/>
            <a:ext cx="2016000" cy="739391"/>
          </a:xfrm>
          <a:prstGeom prst="roundRect">
            <a:avLst>
              <a:gd name="adj" fmla="val 10308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자몽에이드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= </a:t>
            </a:r>
            <a:r>
              <a:rPr lang="ko-KR" altLang="en-US" sz="12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혈압약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충돌</a:t>
            </a:r>
          </a:p>
          <a:p>
            <a:pPr algn="ctr">
              <a:lnSpc>
                <a:spcPct val="115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→ 후보에서 제외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+ </a:t>
            </a:r>
            <a:r>
              <a:rPr lang="ko-KR" altLang="en-US" sz="12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이유 설명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BA47074-48CD-1669-0CDA-3CFBD056C8D6}"/>
              </a:ext>
            </a:extLst>
          </p:cNvPr>
          <p:cNvSpPr/>
          <p:nvPr/>
        </p:nvSpPr>
        <p:spPr>
          <a:xfrm>
            <a:off x="9460311" y="5906190"/>
            <a:ext cx="2016000" cy="739391"/>
          </a:xfrm>
          <a:prstGeom prst="roundRect">
            <a:avLst>
              <a:gd name="adj" fmla="val 7559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이번 주문도 이력에 기록</a:t>
            </a:r>
          </a:p>
          <a:p>
            <a:pPr algn="ctr">
              <a:lnSpc>
                <a:spcPct val="115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다음 추천에 반영</a:t>
            </a:r>
            <a:endParaRPr lang="ko-KR" altLang="en-US" sz="12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48" name="Picture 47" descr="A1_대기화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5" y="2175851"/>
            <a:ext cx="2016000" cy="3652886"/>
          </a:xfrm>
          <a:prstGeom prst="rect">
            <a:avLst/>
          </a:prstGeom>
        </p:spPr>
      </p:pic>
      <p:pic>
        <p:nvPicPr>
          <p:cNvPr id="49" name="Picture 48" descr="B1_재방문_프로필인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414" y="2175851"/>
            <a:ext cx="2016000" cy="3652886"/>
          </a:xfrm>
          <a:prstGeom prst="rect">
            <a:avLst/>
          </a:prstGeom>
        </p:spPr>
      </p:pic>
      <p:pic>
        <p:nvPicPr>
          <p:cNvPr id="50" name="Picture 49" descr="B2_재방문_약충돌제외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863" y="2175851"/>
            <a:ext cx="2016000" cy="3652886"/>
          </a:xfrm>
          <a:prstGeom prst="rect">
            <a:avLst/>
          </a:prstGeom>
        </p:spPr>
      </p:pic>
      <p:pic>
        <p:nvPicPr>
          <p:cNvPr id="51" name="Picture 50" descr="B4_재방문_완료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0311" y="2175851"/>
            <a:ext cx="2016000" cy="3652886"/>
          </a:xfrm>
          <a:prstGeom prst="rect">
            <a:avLst/>
          </a:prstGeom>
        </p:spPr>
      </p:pic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B236337-3BD9-EEEF-914F-1610B7FA7A07}"/>
              </a:ext>
            </a:extLst>
          </p:cNvPr>
          <p:cNvCxnSpPr>
            <a:cxnSpLocks/>
          </p:cNvCxnSpPr>
          <p:nvPr/>
        </p:nvCxnSpPr>
        <p:spPr>
          <a:xfrm>
            <a:off x="3137096" y="3967107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D070D37-2CBA-81C5-75DD-0F8AEFE24C5A}"/>
              </a:ext>
            </a:extLst>
          </p:cNvPr>
          <p:cNvCxnSpPr>
            <a:cxnSpLocks/>
          </p:cNvCxnSpPr>
          <p:nvPr/>
        </p:nvCxnSpPr>
        <p:spPr>
          <a:xfrm>
            <a:off x="5999168" y="3967107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A92EA58-FD2C-BDFC-B995-61A73900FB1E}"/>
              </a:ext>
            </a:extLst>
          </p:cNvPr>
          <p:cNvCxnSpPr>
            <a:cxnSpLocks/>
          </p:cNvCxnSpPr>
          <p:nvPr/>
        </p:nvCxnSpPr>
        <p:spPr>
          <a:xfrm>
            <a:off x="8799971" y="3967107"/>
            <a:ext cx="29636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B2DA67F-9248-B71C-0AD6-68A103C011BE}"/>
              </a:ext>
            </a:extLst>
          </p:cNvPr>
          <p:cNvSpPr txBox="1"/>
          <p:nvPr/>
        </p:nvSpPr>
        <p:spPr>
          <a:xfrm>
            <a:off x="668216" y="18503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대기화면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284285-039E-3076-F743-075B10F84FB7}"/>
              </a:ext>
            </a:extLst>
          </p:cNvPr>
          <p:cNvSpPr txBox="1"/>
          <p:nvPr/>
        </p:nvSpPr>
        <p:spPr>
          <a:xfrm>
            <a:off x="531056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264A7A-CD9E-24AB-7979-B86A90CC504F}"/>
              </a:ext>
            </a:extLst>
          </p:cNvPr>
          <p:cNvSpPr txBox="1"/>
          <p:nvPr/>
        </p:nvSpPr>
        <p:spPr>
          <a:xfrm>
            <a:off x="3530288" y="1850328"/>
            <a:ext cx="233172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번호 입력 </a:t>
            </a:r>
            <a:r>
              <a:rPr lang="en-US" altLang="ko-KR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 프로필 인식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CD581-A736-2D1A-8566-1A8298038381}"/>
              </a:ext>
            </a:extLst>
          </p:cNvPr>
          <p:cNvSpPr txBox="1"/>
          <p:nvPr/>
        </p:nvSpPr>
        <p:spPr>
          <a:xfrm>
            <a:off x="3393128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AF7F34-1621-A4E9-7443-877BCAFF644E}"/>
              </a:ext>
            </a:extLst>
          </p:cNvPr>
          <p:cNvSpPr txBox="1"/>
          <p:nvPr/>
        </p:nvSpPr>
        <p:spPr>
          <a:xfrm>
            <a:off x="6392360" y="1850328"/>
            <a:ext cx="233172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통화 중 · </a:t>
            </a: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건강 반영 추천 </a:t>
            </a:r>
            <a:endParaRPr sz="1400" b="1" dirty="0">
              <a:solidFill>
                <a:srgbClr val="22406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489580-6EDB-3F54-7905-716C72D1E7D4}"/>
              </a:ext>
            </a:extLst>
          </p:cNvPr>
          <p:cNvSpPr txBox="1"/>
          <p:nvPr/>
        </p:nvSpPr>
        <p:spPr>
          <a:xfrm>
            <a:off x="6255200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C5ACF6-148F-3BC3-04D1-192AD6778702}"/>
              </a:ext>
            </a:extLst>
          </p:cNvPr>
          <p:cNvSpPr txBox="1"/>
          <p:nvPr/>
        </p:nvSpPr>
        <p:spPr>
          <a:xfrm>
            <a:off x="9254432" y="1850328"/>
            <a:ext cx="233172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완료 </a:t>
            </a:r>
            <a:r>
              <a:rPr lang="en-US" altLang="ko-KR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 dirty="0">
                <a:solidFill>
                  <a:srgbClr val="224066"/>
                </a:solidFill>
                <a:latin typeface="Pretendard"/>
                <a:ea typeface="Pretendard"/>
                <a:cs typeface="Pretendard"/>
              </a:rPr>
              <a:t>프로필 업데이트 저장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96A703-7CEC-FF6E-8B83-53E8584E7F7E}"/>
              </a:ext>
            </a:extLst>
          </p:cNvPr>
          <p:cNvSpPr txBox="1"/>
          <p:nvPr/>
        </p:nvSpPr>
        <p:spPr>
          <a:xfrm>
            <a:off x="9117272" y="1666680"/>
            <a:ext cx="2606040" cy="18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STEP 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41A248-1C41-2601-1B97-A6A29AD4320F}"/>
              </a:ext>
            </a:extLst>
          </p:cNvPr>
          <p:cNvSpPr txBox="1"/>
          <p:nvPr/>
        </p:nvSpPr>
        <p:spPr>
          <a:xfrm>
            <a:off x="3167316" y="6634097"/>
            <a:ext cx="3128212" cy="223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*’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말한내용을 적어보세요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.’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는 데모버전을 위한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UI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입니다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05296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/>
          <p:cNvSpPr/>
          <p:nvPr/>
        </p:nvSpPr>
        <p:spPr>
          <a:xfrm>
            <a:off x="839788" y="2211146"/>
            <a:ext cx="10796859" cy="2752853"/>
          </a:xfrm>
          <a:prstGeom prst="roundRect">
            <a:avLst>
              <a:gd name="adj" fmla="val 72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09897" y="2454346"/>
            <a:ext cx="10656640" cy="209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 추천 엔진 (Health Recommendation Engine)</a:t>
            </a:r>
            <a:endParaRPr lang="en-US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30930" y="3026761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09610" y="3079238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정규화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29281" y="3533773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프로필/주문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434173" y="3533773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37288" y="3026761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815969" y="3079238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 조회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835638" y="3533773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질환·약·알레르기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240530" y="3533773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43645" y="3026761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622327" y="3079238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 필터링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641996" y="3533773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불가 제거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046888" y="3533773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350003" y="3026761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428684" y="3079238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점수화/랭킹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448356" y="3533773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영양/건강 점수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853247" y="3533773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156363" y="3026761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35042" y="3079238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 생성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254713" y="3533773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1순위+이유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9659604" y="3533773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962720" y="3026761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041398" y="3079238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생성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0061071" y="3533773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쉽고 쉬운 말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930930" y="4073900"/>
            <a:ext cx="10538758" cy="715179"/>
          </a:xfrm>
          <a:prstGeom prst="roundRect">
            <a:avLst>
              <a:gd name="adj" fmla="val 14080"/>
            </a:avLst>
          </a:prstGeom>
          <a:solidFill>
            <a:srgbClr val="14243D"/>
          </a:solidFill>
          <a:ln w="12700">
            <a:solidFill>
              <a:srgbClr val="B79BD9"/>
            </a:solidFill>
            <a:prstDash val="solid"/>
          </a:ln>
        </p:spPr>
        <p:txBody>
          <a:bodyPr/>
          <a:lstStyle/>
          <a:p>
            <a:endParaRPr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30930" y="4198769"/>
            <a:ext cx="10538758" cy="15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동의 기반 사용자 프로필</a:t>
            </a:r>
            <a:endParaRPr lang="en-US" sz="1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350386" y="4459294"/>
            <a:ext cx="9699853" cy="32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 · 복용약 · </a:t>
            </a:r>
            <a:r>
              <a:rPr lang="en-US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알레르기</a:t>
            </a:r>
            <a:r>
              <a:rPr 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, </a:t>
            </a:r>
            <a:r>
              <a:rPr lang="en-US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선호</a:t>
            </a:r>
            <a:r>
              <a:rPr 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en-US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기타</a:t>
            </a:r>
            <a:r>
              <a:rPr 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, </a:t>
            </a:r>
            <a:r>
              <a:rPr lang="en-US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저장→재방문</a:t>
            </a:r>
            <a:r>
              <a:rPr 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조회</a:t>
            </a: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533FB968-FAD4-C0D2-497E-FF7993DB2F32}"/>
              </a:ext>
            </a:extLst>
          </p:cNvPr>
          <p:cNvSpPr/>
          <p:nvPr/>
        </p:nvSpPr>
        <p:spPr>
          <a:xfrm>
            <a:off x="937064" y="164967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</a:t>
            </a:r>
            <a:r>
              <a:rPr lang="en-US" altLang="ko-KR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ko-KR" altLang="en-US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에이전트와 함께하는 키오스크 데이터 흐름</a:t>
            </a:r>
            <a:endParaRPr lang="en-US" sz="13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77AE8C-29AF-E62C-ED03-2A560A8C9057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02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18AF17AC-DD64-B5E7-5016-212998F0355A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E629B1D-8FF4-E6B2-778A-E26122982C4C}"/>
              </a:ext>
            </a:extLst>
          </p:cNvPr>
          <p:cNvSpPr txBox="1"/>
          <p:nvPr/>
        </p:nvSpPr>
        <p:spPr>
          <a:xfrm>
            <a:off x="937064" y="1115568"/>
            <a:ext cx="769030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추천 로직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건강 추천 엔진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0CD3-B7C7-8E70-648F-681200F8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2">
            <a:extLst>
              <a:ext uri="{FF2B5EF4-FFF2-40B4-BE49-F238E27FC236}">
                <a16:creationId xmlns:a16="http://schemas.microsoft.com/office/drawing/2014/main" id="{CF47D77B-F426-A9D7-2267-D6A4F8F8450D}"/>
              </a:ext>
            </a:extLst>
          </p:cNvPr>
          <p:cNvSpPr/>
          <p:nvPr/>
        </p:nvSpPr>
        <p:spPr>
          <a:xfrm>
            <a:off x="839788" y="2205038"/>
            <a:ext cx="10796859" cy="2292302"/>
          </a:xfrm>
          <a:prstGeom prst="roundRect">
            <a:avLst>
              <a:gd name="adj" fmla="val 72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44">
            <a:extLst>
              <a:ext uri="{FF2B5EF4-FFF2-40B4-BE49-F238E27FC236}">
                <a16:creationId xmlns:a16="http://schemas.microsoft.com/office/drawing/2014/main" id="{41CD7B9E-D4AA-4520-EF29-C4D37891AE12}"/>
              </a:ext>
            </a:extLst>
          </p:cNvPr>
          <p:cNvSpPr/>
          <p:nvPr/>
        </p:nvSpPr>
        <p:spPr>
          <a:xfrm>
            <a:off x="2591530" y="2876345"/>
            <a:ext cx="5371545" cy="1285558"/>
          </a:xfrm>
          <a:prstGeom prst="roundRect">
            <a:avLst>
              <a:gd name="adj" fmla="val 6593"/>
            </a:avLst>
          </a:prstGeom>
          <a:solidFill>
            <a:srgbClr val="14243D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6FAD556-977A-BD17-AED3-53FEF2289D4F}"/>
              </a:ext>
            </a:extLst>
          </p:cNvPr>
          <p:cNvSpPr/>
          <p:nvPr/>
        </p:nvSpPr>
        <p:spPr>
          <a:xfrm>
            <a:off x="909897" y="2448238"/>
            <a:ext cx="10656640" cy="209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1424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 추천 엔진 (Health Recommendation Engine)</a:t>
            </a:r>
            <a:endParaRPr lang="en-US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758B5D4-BF80-8B49-770E-B08169629830}"/>
              </a:ext>
            </a:extLst>
          </p:cNvPr>
          <p:cNvSpPr/>
          <p:nvPr/>
        </p:nvSpPr>
        <p:spPr>
          <a:xfrm>
            <a:off x="930930" y="3020653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8278DC7-CEBC-D432-61AF-A417140D201F}"/>
              </a:ext>
            </a:extLst>
          </p:cNvPr>
          <p:cNvSpPr/>
          <p:nvPr/>
        </p:nvSpPr>
        <p:spPr>
          <a:xfrm>
            <a:off x="1009610" y="3073130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정규화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498DD69-A970-6064-9E0B-07F5233AA5BF}"/>
              </a:ext>
            </a:extLst>
          </p:cNvPr>
          <p:cNvSpPr/>
          <p:nvPr/>
        </p:nvSpPr>
        <p:spPr>
          <a:xfrm>
            <a:off x="1029281" y="3527665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프로필/주문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EDB9A58-3B70-2EF9-EE7C-803ACF33C3D2}"/>
              </a:ext>
            </a:extLst>
          </p:cNvPr>
          <p:cNvSpPr/>
          <p:nvPr/>
        </p:nvSpPr>
        <p:spPr>
          <a:xfrm>
            <a:off x="2434173" y="3527665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DC4408F9-35D0-0423-36A4-B679AEA25210}"/>
              </a:ext>
            </a:extLst>
          </p:cNvPr>
          <p:cNvSpPr/>
          <p:nvPr/>
        </p:nvSpPr>
        <p:spPr>
          <a:xfrm>
            <a:off x="2737288" y="3020653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03D50F0-3CFA-F5C6-67EE-2279241B0195}"/>
              </a:ext>
            </a:extLst>
          </p:cNvPr>
          <p:cNvSpPr/>
          <p:nvPr/>
        </p:nvSpPr>
        <p:spPr>
          <a:xfrm>
            <a:off x="2815969" y="3073130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 조회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EFC205C-A51F-24D7-5FAB-40896D983125}"/>
              </a:ext>
            </a:extLst>
          </p:cNvPr>
          <p:cNvSpPr/>
          <p:nvPr/>
        </p:nvSpPr>
        <p:spPr>
          <a:xfrm>
            <a:off x="2835638" y="3527665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질환·약·알레르기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ABD9DE1-9E98-4689-3FA8-80919CF13DF9}"/>
              </a:ext>
            </a:extLst>
          </p:cNvPr>
          <p:cNvSpPr/>
          <p:nvPr/>
        </p:nvSpPr>
        <p:spPr>
          <a:xfrm>
            <a:off x="4240530" y="3527665"/>
            <a:ext cx="222065" cy="0"/>
          </a:xfrm>
          <a:prstGeom prst="line">
            <a:avLst/>
          </a:prstGeom>
          <a:noFill/>
          <a:ln w="27940">
            <a:solidFill>
              <a:schemeClr val="bg1">
                <a:lumMod val="85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D6FC056-2A9C-65AE-F001-2215FF7B362C}"/>
              </a:ext>
            </a:extLst>
          </p:cNvPr>
          <p:cNvSpPr/>
          <p:nvPr/>
        </p:nvSpPr>
        <p:spPr>
          <a:xfrm>
            <a:off x="4543645" y="3020653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034CDCD-A100-E4F5-AF8E-691FB6F4319D}"/>
              </a:ext>
            </a:extLst>
          </p:cNvPr>
          <p:cNvSpPr/>
          <p:nvPr/>
        </p:nvSpPr>
        <p:spPr>
          <a:xfrm>
            <a:off x="4622327" y="3073130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후보 필터링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A34CC7F-D489-D7BE-2B88-52702D945F57}"/>
              </a:ext>
            </a:extLst>
          </p:cNvPr>
          <p:cNvSpPr/>
          <p:nvPr/>
        </p:nvSpPr>
        <p:spPr>
          <a:xfrm>
            <a:off x="4641996" y="3527665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불가 제거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DF59CD2A-9A5E-33DA-3486-F19FEDF9FE14}"/>
              </a:ext>
            </a:extLst>
          </p:cNvPr>
          <p:cNvSpPr/>
          <p:nvPr/>
        </p:nvSpPr>
        <p:spPr>
          <a:xfrm>
            <a:off x="6046888" y="3527665"/>
            <a:ext cx="222065" cy="0"/>
          </a:xfrm>
          <a:prstGeom prst="line">
            <a:avLst/>
          </a:prstGeom>
          <a:noFill/>
          <a:ln w="27940">
            <a:solidFill>
              <a:schemeClr val="bg1">
                <a:lumMod val="85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EEECEB86-101B-E77D-1873-8F81063CB013}"/>
              </a:ext>
            </a:extLst>
          </p:cNvPr>
          <p:cNvSpPr/>
          <p:nvPr/>
        </p:nvSpPr>
        <p:spPr>
          <a:xfrm>
            <a:off x="6350003" y="3020653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B412D7DE-2125-F886-DDB6-E751D5793799}"/>
              </a:ext>
            </a:extLst>
          </p:cNvPr>
          <p:cNvSpPr/>
          <p:nvPr/>
        </p:nvSpPr>
        <p:spPr>
          <a:xfrm>
            <a:off x="6428684" y="3073130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점수화/랭킹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2C960B2A-B726-6A6C-82AF-7B09F8B6943D}"/>
              </a:ext>
            </a:extLst>
          </p:cNvPr>
          <p:cNvSpPr/>
          <p:nvPr/>
        </p:nvSpPr>
        <p:spPr>
          <a:xfrm>
            <a:off x="6448356" y="3527665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영양/건강 점수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EE869004-97BC-D103-A661-D5ADED5FECF4}"/>
              </a:ext>
            </a:extLst>
          </p:cNvPr>
          <p:cNvSpPr/>
          <p:nvPr/>
        </p:nvSpPr>
        <p:spPr>
          <a:xfrm>
            <a:off x="7853247" y="3527665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D37302D1-9EF5-5B84-1F3E-C72B629D2F48}"/>
              </a:ext>
            </a:extLst>
          </p:cNvPr>
          <p:cNvSpPr/>
          <p:nvPr/>
        </p:nvSpPr>
        <p:spPr>
          <a:xfrm>
            <a:off x="8156363" y="3020653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7429801-AEA9-90AA-0BC3-81BB97131FB9}"/>
              </a:ext>
            </a:extLst>
          </p:cNvPr>
          <p:cNvSpPr/>
          <p:nvPr/>
        </p:nvSpPr>
        <p:spPr>
          <a:xfrm>
            <a:off x="8235042" y="3073130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 생성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F8869F11-32A4-5F25-B3AD-55C8738C3311}"/>
              </a:ext>
            </a:extLst>
          </p:cNvPr>
          <p:cNvSpPr/>
          <p:nvPr/>
        </p:nvSpPr>
        <p:spPr>
          <a:xfrm>
            <a:off x="8254713" y="3527665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1순위+이유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30B673A-963F-CF75-AC98-702C49BBBA56}"/>
              </a:ext>
            </a:extLst>
          </p:cNvPr>
          <p:cNvSpPr/>
          <p:nvPr/>
        </p:nvSpPr>
        <p:spPr>
          <a:xfrm>
            <a:off x="9659604" y="3527665"/>
            <a:ext cx="222065" cy="0"/>
          </a:xfrm>
          <a:prstGeom prst="line">
            <a:avLst/>
          </a:prstGeom>
          <a:noFill/>
          <a:ln w="27940">
            <a:solidFill>
              <a:srgbClr val="2E4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B40E47D0-A8A8-C3D2-3F70-A2E798137D8F}"/>
              </a:ext>
            </a:extLst>
          </p:cNvPr>
          <p:cNvSpPr/>
          <p:nvPr/>
        </p:nvSpPr>
        <p:spPr>
          <a:xfrm>
            <a:off x="9962720" y="3020653"/>
            <a:ext cx="1491639" cy="944573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9050">
            <a:solidFill>
              <a:srgbClr val="14243D"/>
            </a:solidFill>
            <a:prstDash val="solid"/>
          </a:ln>
        </p:spPr>
        <p:txBody>
          <a:bodyPr/>
          <a:lstStyle/>
          <a:p>
            <a:endParaRPr sz="4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56FA562C-C326-015D-B6A6-5FB0EC13D609}"/>
              </a:ext>
            </a:extLst>
          </p:cNvPr>
          <p:cNvSpPr/>
          <p:nvPr/>
        </p:nvSpPr>
        <p:spPr>
          <a:xfrm>
            <a:off x="10041398" y="3073130"/>
            <a:ext cx="1334279" cy="44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생성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FBECC54F-E59A-462A-B8B3-2476D29EA3FA}"/>
              </a:ext>
            </a:extLst>
          </p:cNvPr>
          <p:cNvSpPr/>
          <p:nvPr/>
        </p:nvSpPr>
        <p:spPr>
          <a:xfrm>
            <a:off x="10061071" y="3527665"/>
            <a:ext cx="1294939" cy="29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쉽고 쉬운 말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3B98F1B5-9918-00C8-1AB9-13047B27E64F}"/>
              </a:ext>
            </a:extLst>
          </p:cNvPr>
          <p:cNvSpPr/>
          <p:nvPr/>
        </p:nvSpPr>
        <p:spPr>
          <a:xfrm>
            <a:off x="937064" y="164967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</a:t>
            </a:r>
            <a:r>
              <a:rPr lang="en-US" altLang="ko-KR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ko-KR" altLang="en-US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에이전트와 함께하는 키오스크 데이터 흐름</a:t>
            </a:r>
            <a:endParaRPr lang="en-US" sz="13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93CC52-9C68-5A87-36A1-DADD13C62F89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02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0649B36-CCB8-52A4-18AE-5D2F2A7DD3E5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FB40B55-0C49-293A-85CA-921644D4EAE5}"/>
              </a:ext>
            </a:extLst>
          </p:cNvPr>
          <p:cNvSpPr txBox="1"/>
          <p:nvPr/>
        </p:nvSpPr>
        <p:spPr>
          <a:xfrm>
            <a:off x="937064" y="1115568"/>
            <a:ext cx="769030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핵심 추천 로직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건강 추천 엔진 구축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5D30F51-F7B0-AB25-2E53-1A0A75091264}"/>
              </a:ext>
            </a:extLst>
          </p:cNvPr>
          <p:cNvSpPr txBox="1"/>
          <p:nvPr/>
        </p:nvSpPr>
        <p:spPr>
          <a:xfrm>
            <a:off x="523386" y="5208329"/>
            <a:ext cx="3016093" cy="81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lnSpc>
                <a:spcPct val="130000"/>
              </a:lnSpc>
            </a:pP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고혈압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이상지질혈증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고지혈증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),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당뇨병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골관절염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류머티즘관절염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골다공증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통풍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만성콩팥병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(CKD),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심혈관질환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협심증 등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ko-KR" sz="1200" dirty="0">
              <a:solidFill>
                <a:srgbClr val="43434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51">
            <a:extLst>
              <a:ext uri="{FF2B5EF4-FFF2-40B4-BE49-F238E27FC236}">
                <a16:creationId xmlns:a16="http://schemas.microsoft.com/office/drawing/2014/main" id="{F05C119C-35AC-4D71-9723-276A0E621730}"/>
              </a:ext>
            </a:extLst>
          </p:cNvPr>
          <p:cNvSpPr/>
          <p:nvPr/>
        </p:nvSpPr>
        <p:spPr>
          <a:xfrm flipH="1">
            <a:off x="5313506" y="4161903"/>
            <a:ext cx="0" cy="579277"/>
          </a:xfrm>
          <a:prstGeom prst="line">
            <a:avLst/>
          </a:prstGeom>
          <a:noFill/>
          <a:ln w="2794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4BE728D-F191-8FDB-94EB-13BF6E64521B}"/>
              </a:ext>
            </a:extLst>
          </p:cNvPr>
          <p:cNvSpPr/>
          <p:nvPr/>
        </p:nvSpPr>
        <p:spPr>
          <a:xfrm>
            <a:off x="3627541" y="4709113"/>
            <a:ext cx="1871959" cy="1871959"/>
          </a:xfrm>
          <a:prstGeom prst="ellipse">
            <a:avLst/>
          </a:prstGeom>
          <a:solidFill>
            <a:srgbClr val="FFC72C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유병률 높고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식이개입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필요 질병 선정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5A9E746-84A4-D697-330F-16564DDD4BE2}"/>
              </a:ext>
            </a:extLst>
          </p:cNvPr>
          <p:cNvSpPr/>
          <p:nvPr/>
        </p:nvSpPr>
        <p:spPr>
          <a:xfrm>
            <a:off x="5302237" y="4694017"/>
            <a:ext cx="1871959" cy="1871959"/>
          </a:xfrm>
          <a:prstGeom prst="ellipse">
            <a:avLst/>
          </a:prstGeom>
          <a:solidFill>
            <a:srgbClr val="FFC72C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공식 식이 가이드라인 기반 규칙 설계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2C03B-9686-BFBD-22B0-A26C4D744744}"/>
              </a:ext>
            </a:extLst>
          </p:cNvPr>
          <p:cNvSpPr txBox="1"/>
          <p:nvPr/>
        </p:nvSpPr>
        <p:spPr>
          <a:xfrm>
            <a:off x="7254240" y="5105585"/>
            <a:ext cx="4537521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30000"/>
              </a:lnSpc>
            </a:pP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보건복지부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한국보건사회연구원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대한당뇨병학회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 err="1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질병관리청등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에서 제공된 식이요법 가이드를 참고하여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점수화하고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 생성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fontAlgn="t">
              <a:lnSpc>
                <a:spcPct val="130000"/>
              </a:lnSpc>
            </a:pP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(‘ex. HIGH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가이드라인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공식 포털에서 직접 제한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권장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MEDIUM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식품군 확장 또는 대체 추천에 해석이 일부 포함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.’ </a:t>
            </a:r>
            <a:r>
              <a:rPr lang="ko-KR" altLang="en-US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이외 부록 페이지 참고</a:t>
            </a:r>
            <a:r>
              <a:rPr lang="en-US" altLang="ko-KR" sz="1200" dirty="0">
                <a:solidFill>
                  <a:srgbClr val="43434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A5A06-ECA0-ADC0-BF88-BB02DACF6872}"/>
              </a:ext>
            </a:extLst>
          </p:cNvPr>
          <p:cNvSpPr txBox="1"/>
          <p:nvPr/>
        </p:nvSpPr>
        <p:spPr>
          <a:xfrm>
            <a:off x="4624105" y="4231581"/>
            <a:ext cx="1423956" cy="2098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 err="1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질환·약</a:t>
            </a:r>
            <a:r>
              <a:rPr lang="en-US" altLang="ko-KR" sz="105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5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관련 알고리즘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0702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37064" y="164967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</a:t>
            </a:r>
            <a:r>
              <a:rPr lang="en-US" altLang="ko-KR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ko-KR" altLang="en-US" sz="13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에이전트와 함께하는 키오스크 데이터 흐름</a:t>
            </a:r>
            <a:endParaRPr lang="en-US" sz="130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88892C5-C864-D170-4F72-BF8DDB0CDBEA}"/>
              </a:ext>
            </a:extLst>
          </p:cNvPr>
          <p:cNvGrpSpPr/>
          <p:nvPr/>
        </p:nvGrpSpPr>
        <p:grpSpPr>
          <a:xfrm>
            <a:off x="312007" y="2451301"/>
            <a:ext cx="1281996" cy="1993392"/>
            <a:chOff x="312007" y="2451301"/>
            <a:chExt cx="1281996" cy="1993392"/>
          </a:xfrm>
        </p:grpSpPr>
        <p:sp>
          <p:nvSpPr>
            <p:cNvPr id="7" name="Shape 5"/>
            <p:cNvSpPr/>
            <p:nvPr/>
          </p:nvSpPr>
          <p:spPr>
            <a:xfrm>
              <a:off x="312007" y="2451301"/>
              <a:ext cx="1280632" cy="1993392"/>
            </a:xfrm>
            <a:prstGeom prst="roundRect">
              <a:avLst>
                <a:gd name="adj" fmla="val 4688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" name="Text 7"/>
            <p:cNvSpPr/>
            <p:nvPr/>
          </p:nvSpPr>
          <p:spPr>
            <a:xfrm>
              <a:off x="367107" y="2794914"/>
              <a:ext cx="11704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사용자</a:t>
              </a:r>
              <a:endParaRPr lang="en-US" sz="16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332679" y="3600384"/>
              <a:ext cx="1261324" cy="609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2G 폴더폰 포함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로그인 없이 이용</a:t>
              </a:r>
              <a:endParaRPr lang="en-US" sz="12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E77EBE3-2C11-506F-A1E7-DE90C40D36A9}"/>
              </a:ext>
            </a:extLst>
          </p:cNvPr>
          <p:cNvGrpSpPr/>
          <p:nvPr/>
        </p:nvGrpSpPr>
        <p:grpSpPr>
          <a:xfrm>
            <a:off x="1823335" y="2451301"/>
            <a:ext cx="1281996" cy="1993392"/>
            <a:chOff x="2087294" y="2451301"/>
            <a:chExt cx="1281996" cy="1993392"/>
          </a:xfrm>
        </p:grpSpPr>
        <p:sp>
          <p:nvSpPr>
            <p:cNvPr id="13" name="Shape 10"/>
            <p:cNvSpPr/>
            <p:nvPr/>
          </p:nvSpPr>
          <p:spPr>
            <a:xfrm>
              <a:off x="2087294" y="2451301"/>
              <a:ext cx="1280632" cy="1993392"/>
            </a:xfrm>
            <a:prstGeom prst="roundRect">
              <a:avLst>
                <a:gd name="adj" fmla="val 4688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6" name="Text 12"/>
            <p:cNvSpPr/>
            <p:nvPr/>
          </p:nvSpPr>
          <p:spPr>
            <a:xfrm>
              <a:off x="2153412" y="2799486"/>
              <a:ext cx="11704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전화망</a:t>
              </a:r>
              <a:endParaRPr lang="en-US" sz="160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2107966" y="3600384"/>
              <a:ext cx="1261324" cy="609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일반 음성 통화망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2G·3G·4G·5G</a:t>
              </a:r>
              <a:endParaRPr lang="en-US" sz="12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1AC1174-32C1-BF5F-3128-5C9D77588EA3}"/>
              </a:ext>
            </a:extLst>
          </p:cNvPr>
          <p:cNvGrpSpPr/>
          <p:nvPr/>
        </p:nvGrpSpPr>
        <p:grpSpPr>
          <a:xfrm>
            <a:off x="3334663" y="2451301"/>
            <a:ext cx="1281996" cy="1993392"/>
            <a:chOff x="3436034" y="2451301"/>
            <a:chExt cx="1281996" cy="1993392"/>
          </a:xfrm>
        </p:grpSpPr>
        <p:sp>
          <p:nvSpPr>
            <p:cNvPr id="19" name="Shape 15"/>
            <p:cNvSpPr/>
            <p:nvPr/>
          </p:nvSpPr>
          <p:spPr>
            <a:xfrm>
              <a:off x="3436034" y="2451301"/>
              <a:ext cx="1280632" cy="1993392"/>
            </a:xfrm>
            <a:prstGeom prst="roundRect">
              <a:avLst>
                <a:gd name="adj" fmla="val 4688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2" name="Text 17"/>
            <p:cNvSpPr/>
            <p:nvPr/>
          </p:nvSpPr>
          <p:spPr>
            <a:xfrm>
              <a:off x="3491134" y="2805099"/>
              <a:ext cx="11704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음성 처리</a:t>
              </a:r>
              <a:endParaRPr lang="en-US" sz="16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3456706" y="3600384"/>
              <a:ext cx="1261324" cy="609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STT 음성→텍스트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TTS 텍스트→음성</a:t>
              </a:r>
              <a:endParaRPr lang="en-US" sz="1200" dirty="0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C6EDCC1-15CD-94DD-B46F-4368B302CEE8}"/>
              </a:ext>
            </a:extLst>
          </p:cNvPr>
          <p:cNvGrpSpPr/>
          <p:nvPr/>
        </p:nvGrpSpPr>
        <p:grpSpPr>
          <a:xfrm>
            <a:off x="4845991" y="2451301"/>
            <a:ext cx="1281996" cy="1993392"/>
            <a:chOff x="4784774" y="2451301"/>
            <a:chExt cx="1281996" cy="1993392"/>
          </a:xfrm>
        </p:grpSpPr>
        <p:sp>
          <p:nvSpPr>
            <p:cNvPr id="25" name="Shape 20"/>
            <p:cNvSpPr/>
            <p:nvPr/>
          </p:nvSpPr>
          <p:spPr>
            <a:xfrm>
              <a:off x="4784774" y="2451301"/>
              <a:ext cx="1280632" cy="1993392"/>
            </a:xfrm>
            <a:prstGeom prst="roundRect">
              <a:avLst>
                <a:gd name="adj" fmla="val 468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rgbClr val="14243D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8" name="Text 22"/>
            <p:cNvSpPr/>
            <p:nvPr/>
          </p:nvSpPr>
          <p:spPr>
            <a:xfrm>
              <a:off x="4794211" y="2811195"/>
              <a:ext cx="126175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AI </a:t>
              </a:r>
              <a:r>
                <a:rPr lang="en-US" sz="1600" b="1" dirty="0" err="1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주문</a:t>
              </a: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</a:p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에이전트</a:t>
              </a:r>
              <a:endParaRPr lang="en-US" sz="1600" dirty="0"/>
            </a:p>
          </p:txBody>
        </p:sp>
        <p:sp>
          <p:nvSpPr>
            <p:cNvPr id="29" name="Text 23"/>
            <p:cNvSpPr/>
            <p:nvPr/>
          </p:nvSpPr>
          <p:spPr>
            <a:xfrm>
              <a:off x="4805446" y="3600384"/>
              <a:ext cx="1261324" cy="609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의도·선호 파악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TypeScript 룰 엔진</a:t>
              </a:r>
              <a:endParaRPr lang="en-US" sz="1200" dirty="0"/>
            </a:p>
          </p:txBody>
        </p:sp>
      </p:grpSp>
      <p:sp>
        <p:nvSpPr>
          <p:cNvPr id="94" name="Shape 50">
            <a:extLst>
              <a:ext uri="{FF2B5EF4-FFF2-40B4-BE49-F238E27FC236}">
                <a16:creationId xmlns:a16="http://schemas.microsoft.com/office/drawing/2014/main" id="{D129658D-ADB9-1DF4-037D-18482A4144B3}"/>
              </a:ext>
            </a:extLst>
          </p:cNvPr>
          <p:cNvSpPr/>
          <p:nvPr/>
        </p:nvSpPr>
        <p:spPr>
          <a:xfrm>
            <a:off x="332679" y="4919716"/>
            <a:ext cx="11541319" cy="1320985"/>
          </a:xfrm>
          <a:prstGeom prst="roundRect">
            <a:avLst>
              <a:gd name="adj" fmla="val 7547"/>
            </a:avLst>
          </a:prstGeom>
          <a:solidFill>
            <a:srgbClr val="FFC72C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43A1531-23A2-E2A1-2453-09685F90C457}"/>
              </a:ext>
            </a:extLst>
          </p:cNvPr>
          <p:cNvGrpSpPr/>
          <p:nvPr/>
        </p:nvGrpSpPr>
        <p:grpSpPr>
          <a:xfrm>
            <a:off x="6357319" y="2451301"/>
            <a:ext cx="2503916" cy="1993392"/>
            <a:chOff x="6192774" y="2451301"/>
            <a:chExt cx="2503916" cy="1993392"/>
          </a:xfrm>
        </p:grpSpPr>
        <p:sp>
          <p:nvSpPr>
            <p:cNvPr id="31" name="Shape 25"/>
            <p:cNvSpPr/>
            <p:nvPr/>
          </p:nvSpPr>
          <p:spPr>
            <a:xfrm>
              <a:off x="6199632" y="2451301"/>
              <a:ext cx="2487168" cy="1993392"/>
            </a:xfrm>
            <a:prstGeom prst="roundRect">
              <a:avLst>
                <a:gd name="adj" fmla="val 7339"/>
              </a:avLst>
            </a:prstGeom>
            <a:solidFill>
              <a:srgbClr val="14243D"/>
            </a:solidFill>
            <a:ln/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2" name="Text 26"/>
            <p:cNvSpPr/>
            <p:nvPr/>
          </p:nvSpPr>
          <p:spPr>
            <a:xfrm>
              <a:off x="6199632" y="2581467"/>
              <a:ext cx="24871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&amp; 규칙 엔진</a:t>
              </a:r>
              <a:endParaRPr lang="en-US" sz="1600" dirty="0"/>
            </a:p>
          </p:txBody>
        </p:sp>
        <p:sp>
          <p:nvSpPr>
            <p:cNvPr id="33" name="Shape 27"/>
            <p:cNvSpPr/>
            <p:nvPr/>
          </p:nvSpPr>
          <p:spPr>
            <a:xfrm>
              <a:off x="6327648" y="3000879"/>
              <a:ext cx="1060704" cy="457200"/>
            </a:xfrm>
            <a:prstGeom prst="roundRect">
              <a:avLst>
                <a:gd name="adj" fmla="val 8000"/>
              </a:avLst>
            </a:prstGeom>
            <a:solidFill>
              <a:srgbClr val="213351"/>
            </a:solidFill>
            <a:ln w="9525">
              <a:solidFill>
                <a:srgbClr val="35507A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pic>
          <p:nvPicPr>
            <p:cNvPr id="34" name="Image 4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4224" y="3084699"/>
              <a:ext cx="146304" cy="146304"/>
            </a:xfrm>
            <a:prstGeom prst="rect">
              <a:avLst/>
            </a:prstGeom>
          </p:spPr>
        </p:pic>
        <p:sp>
          <p:nvSpPr>
            <p:cNvPr id="35" name="Text 28"/>
            <p:cNvSpPr/>
            <p:nvPr/>
          </p:nvSpPr>
          <p:spPr>
            <a:xfrm>
              <a:off x="6531102" y="3048123"/>
              <a:ext cx="9951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메뉴 DB</a:t>
              </a:r>
              <a:endParaRPr lang="en-US" sz="1050" dirty="0"/>
            </a:p>
          </p:txBody>
        </p:sp>
        <p:sp>
          <p:nvSpPr>
            <p:cNvPr id="36" name="Text 29"/>
            <p:cNvSpPr/>
            <p:nvPr/>
          </p:nvSpPr>
          <p:spPr>
            <a:xfrm>
              <a:off x="6538722" y="3240147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AEBBD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가격·속성</a:t>
              </a:r>
              <a:endParaRPr lang="en-US" sz="1000" dirty="0"/>
            </a:p>
          </p:txBody>
        </p:sp>
        <p:sp>
          <p:nvSpPr>
            <p:cNvPr id="37" name="Shape 30"/>
            <p:cNvSpPr/>
            <p:nvPr/>
          </p:nvSpPr>
          <p:spPr>
            <a:xfrm>
              <a:off x="7498080" y="3000879"/>
              <a:ext cx="1060704" cy="457200"/>
            </a:xfrm>
            <a:prstGeom prst="roundRect">
              <a:avLst>
                <a:gd name="adj" fmla="val 8000"/>
              </a:avLst>
            </a:prstGeom>
            <a:solidFill>
              <a:srgbClr val="213351"/>
            </a:solidFill>
            <a:ln w="9525">
              <a:solidFill>
                <a:srgbClr val="35507A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pic>
          <p:nvPicPr>
            <p:cNvPr id="38" name="Image 5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4656" y="3084699"/>
              <a:ext cx="146304" cy="146304"/>
            </a:xfrm>
            <a:prstGeom prst="rect">
              <a:avLst/>
            </a:prstGeom>
          </p:spPr>
        </p:pic>
        <p:sp>
          <p:nvSpPr>
            <p:cNvPr id="39" name="Text 31"/>
            <p:cNvSpPr/>
            <p:nvPr/>
          </p:nvSpPr>
          <p:spPr>
            <a:xfrm>
              <a:off x="7701534" y="3048123"/>
              <a:ext cx="9951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영양/태그 DB</a:t>
              </a:r>
              <a:endParaRPr lang="en-US" sz="1050" dirty="0"/>
            </a:p>
          </p:txBody>
        </p:sp>
        <p:sp>
          <p:nvSpPr>
            <p:cNvPr id="40" name="Text 32"/>
            <p:cNvSpPr/>
            <p:nvPr/>
          </p:nvSpPr>
          <p:spPr>
            <a:xfrm>
              <a:off x="7709154" y="3240147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AEBBD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당도·알레르기</a:t>
              </a:r>
              <a:endParaRPr lang="en-US" sz="1000" dirty="0"/>
            </a:p>
          </p:txBody>
        </p:sp>
        <p:sp>
          <p:nvSpPr>
            <p:cNvPr id="41" name="Shape 33"/>
            <p:cNvSpPr/>
            <p:nvPr/>
          </p:nvSpPr>
          <p:spPr>
            <a:xfrm>
              <a:off x="6327648" y="3531231"/>
              <a:ext cx="1060704" cy="457200"/>
            </a:xfrm>
            <a:prstGeom prst="roundRect">
              <a:avLst>
                <a:gd name="adj" fmla="val 8000"/>
              </a:avLst>
            </a:prstGeom>
            <a:solidFill>
              <a:srgbClr val="213351"/>
            </a:solidFill>
            <a:ln w="9525">
              <a:solidFill>
                <a:srgbClr val="35507A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pic>
          <p:nvPicPr>
            <p:cNvPr id="42" name="Image 6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4224" y="3615051"/>
              <a:ext cx="146304" cy="146304"/>
            </a:xfrm>
            <a:prstGeom prst="rect">
              <a:avLst/>
            </a:prstGeom>
          </p:spPr>
        </p:pic>
        <p:sp>
          <p:nvSpPr>
            <p:cNvPr id="43" name="Text 34"/>
            <p:cNvSpPr/>
            <p:nvPr/>
          </p:nvSpPr>
          <p:spPr>
            <a:xfrm>
              <a:off x="6531102" y="3578475"/>
              <a:ext cx="9951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건강 규칙 DB</a:t>
              </a:r>
              <a:endParaRPr lang="en-US" sz="1050" dirty="0"/>
            </a:p>
          </p:txBody>
        </p:sp>
        <p:sp>
          <p:nvSpPr>
            <p:cNvPr id="44" name="Text 35"/>
            <p:cNvSpPr/>
            <p:nvPr/>
          </p:nvSpPr>
          <p:spPr>
            <a:xfrm>
              <a:off x="6538722" y="3770499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AEBBD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질환·약·영양</a:t>
              </a:r>
              <a:endParaRPr lang="en-US" sz="1000" dirty="0"/>
            </a:p>
          </p:txBody>
        </p:sp>
        <p:sp>
          <p:nvSpPr>
            <p:cNvPr id="45" name="Shape 36"/>
            <p:cNvSpPr/>
            <p:nvPr/>
          </p:nvSpPr>
          <p:spPr>
            <a:xfrm>
              <a:off x="7498080" y="3531231"/>
              <a:ext cx="1060704" cy="457200"/>
            </a:xfrm>
            <a:prstGeom prst="roundRect">
              <a:avLst>
                <a:gd name="adj" fmla="val 8000"/>
              </a:avLst>
            </a:prstGeom>
            <a:solidFill>
              <a:srgbClr val="213351"/>
            </a:solidFill>
            <a:ln w="9525">
              <a:solidFill>
                <a:srgbClr val="35507A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pic>
          <p:nvPicPr>
            <p:cNvPr id="46" name="Image 7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4656" y="3615051"/>
              <a:ext cx="146304" cy="146304"/>
            </a:xfrm>
            <a:prstGeom prst="rect">
              <a:avLst/>
            </a:prstGeom>
          </p:spPr>
        </p:pic>
        <p:sp>
          <p:nvSpPr>
            <p:cNvPr id="47" name="Text 37"/>
            <p:cNvSpPr/>
            <p:nvPr/>
          </p:nvSpPr>
          <p:spPr>
            <a:xfrm>
              <a:off x="7701534" y="3578475"/>
              <a:ext cx="9951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프로필·이력 DB</a:t>
              </a:r>
              <a:endParaRPr lang="en-US" sz="1050" dirty="0"/>
            </a:p>
          </p:txBody>
        </p:sp>
        <p:sp>
          <p:nvSpPr>
            <p:cNvPr id="48" name="Text 38"/>
            <p:cNvSpPr/>
            <p:nvPr/>
          </p:nvSpPr>
          <p:spPr>
            <a:xfrm>
              <a:off x="7709154" y="3770499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AEBBD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선호·주문내역</a:t>
              </a:r>
              <a:endParaRPr lang="en-US" sz="1000" dirty="0"/>
            </a:p>
          </p:txBody>
        </p:sp>
        <p:sp>
          <p:nvSpPr>
            <p:cNvPr id="49" name="Text 39"/>
            <p:cNvSpPr/>
            <p:nvPr/>
          </p:nvSpPr>
          <p:spPr>
            <a:xfrm>
              <a:off x="6192774" y="4120198"/>
              <a:ext cx="248716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7D2E4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22시트 규칙셋 → JSON 규칙으로 구축</a:t>
              </a:r>
              <a:endParaRPr lang="en-US" sz="10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2680CA0-D11E-877C-5EE3-30269EBC9AF9}"/>
              </a:ext>
            </a:extLst>
          </p:cNvPr>
          <p:cNvGrpSpPr/>
          <p:nvPr/>
        </p:nvGrpSpPr>
        <p:grpSpPr>
          <a:xfrm>
            <a:off x="9080677" y="2451301"/>
            <a:ext cx="1281996" cy="1993392"/>
            <a:chOff x="8798990" y="2451301"/>
            <a:chExt cx="1281996" cy="1993392"/>
          </a:xfrm>
        </p:grpSpPr>
        <p:sp>
          <p:nvSpPr>
            <p:cNvPr id="51" name="Shape 41"/>
            <p:cNvSpPr/>
            <p:nvPr/>
          </p:nvSpPr>
          <p:spPr>
            <a:xfrm>
              <a:off x="8798990" y="2451301"/>
              <a:ext cx="1280632" cy="1993392"/>
            </a:xfrm>
            <a:prstGeom prst="roundRect">
              <a:avLst>
                <a:gd name="adj" fmla="val 4688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4" name="Text 43"/>
            <p:cNvSpPr/>
            <p:nvPr/>
          </p:nvSpPr>
          <p:spPr>
            <a:xfrm>
              <a:off x="8868156" y="2811195"/>
              <a:ext cx="11704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키오스크 화면</a:t>
              </a:r>
              <a:endParaRPr lang="en-US" sz="1600" dirty="0"/>
            </a:p>
          </p:txBody>
        </p:sp>
        <p:sp>
          <p:nvSpPr>
            <p:cNvPr id="55" name="Text 44"/>
            <p:cNvSpPr/>
            <p:nvPr/>
          </p:nvSpPr>
          <p:spPr>
            <a:xfrm>
              <a:off x="8819662" y="3600384"/>
              <a:ext cx="1261324" cy="609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보이는 ARS 화면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큰글씨·고대비·음성</a:t>
              </a:r>
              <a:endParaRPr lang="en-US" sz="1200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FB3D4FE-AA98-5103-615E-3450B4CEA3A7}"/>
              </a:ext>
            </a:extLst>
          </p:cNvPr>
          <p:cNvGrpSpPr/>
          <p:nvPr/>
        </p:nvGrpSpPr>
        <p:grpSpPr>
          <a:xfrm>
            <a:off x="10592003" y="2451301"/>
            <a:ext cx="1281996" cy="1993392"/>
            <a:chOff x="10592003" y="2451301"/>
            <a:chExt cx="1281996" cy="1993392"/>
          </a:xfrm>
        </p:grpSpPr>
        <p:sp>
          <p:nvSpPr>
            <p:cNvPr id="57" name="Shape 46"/>
            <p:cNvSpPr/>
            <p:nvPr/>
          </p:nvSpPr>
          <p:spPr>
            <a:xfrm>
              <a:off x="10592003" y="2451301"/>
              <a:ext cx="1280632" cy="1993392"/>
            </a:xfrm>
            <a:prstGeom prst="roundRect">
              <a:avLst>
                <a:gd name="adj" fmla="val 4688"/>
              </a:avLst>
            </a:prstGeom>
            <a:solidFill>
              <a:schemeClr val="bg1">
                <a:lumMod val="9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60" name="Text 48"/>
            <p:cNvSpPr/>
            <p:nvPr/>
          </p:nvSpPr>
          <p:spPr>
            <a:xfrm>
              <a:off x="10647103" y="2805099"/>
              <a:ext cx="11704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결제 모듈</a:t>
              </a:r>
              <a:endParaRPr lang="en-US" sz="1600" dirty="0"/>
            </a:p>
          </p:txBody>
        </p:sp>
        <p:sp>
          <p:nvSpPr>
            <p:cNvPr id="61" name="Text 49"/>
            <p:cNvSpPr/>
            <p:nvPr/>
          </p:nvSpPr>
          <p:spPr>
            <a:xfrm>
              <a:off x="10612675" y="3600384"/>
              <a:ext cx="1261324" cy="609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실물카드 결제</a:t>
              </a:r>
              <a:endParaRPr lang="en-US" sz="1200" dirty="0"/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5A626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에이전트 영역 밖</a:t>
              </a:r>
              <a:endParaRPr lang="en-US" sz="1200" dirty="0"/>
            </a:p>
          </p:txBody>
        </p:sp>
      </p:grpSp>
      <p:sp>
        <p:nvSpPr>
          <p:cNvPr id="95" name="Text 51">
            <a:extLst>
              <a:ext uri="{FF2B5EF4-FFF2-40B4-BE49-F238E27FC236}">
                <a16:creationId xmlns:a16="http://schemas.microsoft.com/office/drawing/2014/main" id="{7260D699-D8FB-EB28-6511-3FE59356E49B}"/>
              </a:ext>
            </a:extLst>
          </p:cNvPr>
          <p:cNvSpPr/>
          <p:nvPr/>
        </p:nvSpPr>
        <p:spPr>
          <a:xfrm>
            <a:off x="539193" y="5044337"/>
            <a:ext cx="1304814" cy="373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 err="1">
                <a:solidFill>
                  <a:srgbClr val="1424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</a:t>
            </a:r>
            <a:endParaRPr lang="en-US" sz="1600" dirty="0">
              <a:solidFill>
                <a:srgbClr val="14243D"/>
              </a:solidFill>
            </a:endParaRPr>
          </a:p>
        </p:txBody>
      </p:sp>
      <p:sp>
        <p:nvSpPr>
          <p:cNvPr id="96" name="Shape 52">
            <a:extLst>
              <a:ext uri="{FF2B5EF4-FFF2-40B4-BE49-F238E27FC236}">
                <a16:creationId xmlns:a16="http://schemas.microsoft.com/office/drawing/2014/main" id="{64A074C8-7A54-22FB-8458-078DA3B61BC7}"/>
              </a:ext>
            </a:extLst>
          </p:cNvPr>
          <p:cNvSpPr/>
          <p:nvPr/>
        </p:nvSpPr>
        <p:spPr>
          <a:xfrm>
            <a:off x="509200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7" name="Text 53">
            <a:extLst>
              <a:ext uri="{FF2B5EF4-FFF2-40B4-BE49-F238E27FC236}">
                <a16:creationId xmlns:a16="http://schemas.microsoft.com/office/drawing/2014/main" id="{9CDA2F89-F8F9-D9F4-2A46-E26B8DC2BD6A}"/>
              </a:ext>
            </a:extLst>
          </p:cNvPr>
          <p:cNvSpPr/>
          <p:nvPr/>
        </p:nvSpPr>
        <p:spPr>
          <a:xfrm>
            <a:off x="652816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98" name="Text 54">
            <a:extLst>
              <a:ext uri="{FF2B5EF4-FFF2-40B4-BE49-F238E27FC236}">
                <a16:creationId xmlns:a16="http://schemas.microsoft.com/office/drawing/2014/main" id="{203E5FF2-35DA-BE5F-DEDC-209719985FDF}"/>
              </a:ext>
            </a:extLst>
          </p:cNvPr>
          <p:cNvSpPr/>
          <p:nvPr/>
        </p:nvSpPr>
        <p:spPr>
          <a:xfrm>
            <a:off x="548097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수집</a:t>
            </a:r>
            <a:endParaRPr lang="en-US" sz="1100" dirty="0"/>
          </a:p>
        </p:txBody>
      </p:sp>
      <p:sp>
        <p:nvSpPr>
          <p:cNvPr id="99" name="Text 55">
            <a:extLst>
              <a:ext uri="{FF2B5EF4-FFF2-40B4-BE49-F238E27FC236}">
                <a16:creationId xmlns:a16="http://schemas.microsoft.com/office/drawing/2014/main" id="{20E39C30-832A-6AE4-3103-4DB82FDFA0D7}"/>
              </a:ext>
            </a:extLst>
          </p:cNvPr>
          <p:cNvSpPr/>
          <p:nvPr/>
        </p:nvSpPr>
        <p:spPr>
          <a:xfrm>
            <a:off x="509200" y="5816989"/>
            <a:ext cx="109985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800" dirty="0"/>
          </a:p>
        </p:txBody>
      </p:sp>
      <p:sp>
        <p:nvSpPr>
          <p:cNvPr id="100" name="Text 56">
            <a:extLst>
              <a:ext uri="{FF2B5EF4-FFF2-40B4-BE49-F238E27FC236}">
                <a16:creationId xmlns:a16="http://schemas.microsoft.com/office/drawing/2014/main" id="{0DDB418F-687A-4A52-6DA4-4B576BA96E1B}"/>
              </a:ext>
            </a:extLst>
          </p:cNvPr>
          <p:cNvSpPr/>
          <p:nvPr/>
        </p:nvSpPr>
        <p:spPr>
          <a:xfrm>
            <a:off x="1622045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01" name="Shape 57">
            <a:extLst>
              <a:ext uri="{FF2B5EF4-FFF2-40B4-BE49-F238E27FC236}">
                <a16:creationId xmlns:a16="http://schemas.microsoft.com/office/drawing/2014/main" id="{6BB41CEC-0481-F99D-449A-652D564F476B}"/>
              </a:ext>
            </a:extLst>
          </p:cNvPr>
          <p:cNvSpPr/>
          <p:nvPr/>
        </p:nvSpPr>
        <p:spPr>
          <a:xfrm>
            <a:off x="1773573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2" name="Text 58">
            <a:extLst>
              <a:ext uri="{FF2B5EF4-FFF2-40B4-BE49-F238E27FC236}">
                <a16:creationId xmlns:a16="http://schemas.microsoft.com/office/drawing/2014/main" id="{21DCAE68-6BB2-B3F5-51BD-4069FE1D74B8}"/>
              </a:ext>
            </a:extLst>
          </p:cNvPr>
          <p:cNvSpPr/>
          <p:nvPr/>
        </p:nvSpPr>
        <p:spPr>
          <a:xfrm>
            <a:off x="1917188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03" name="Text 59">
            <a:extLst>
              <a:ext uri="{FF2B5EF4-FFF2-40B4-BE49-F238E27FC236}">
                <a16:creationId xmlns:a16="http://schemas.microsoft.com/office/drawing/2014/main" id="{8AA8337E-7790-6FF7-8CEA-35ADDEA748F7}"/>
              </a:ext>
            </a:extLst>
          </p:cNvPr>
          <p:cNvSpPr/>
          <p:nvPr/>
        </p:nvSpPr>
        <p:spPr>
          <a:xfrm>
            <a:off x="1812470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변환</a:t>
            </a:r>
            <a:endParaRPr lang="en-US" sz="1100" dirty="0"/>
          </a:p>
        </p:txBody>
      </p:sp>
      <p:sp>
        <p:nvSpPr>
          <p:cNvPr id="104" name="Text 60">
            <a:extLst>
              <a:ext uri="{FF2B5EF4-FFF2-40B4-BE49-F238E27FC236}">
                <a16:creationId xmlns:a16="http://schemas.microsoft.com/office/drawing/2014/main" id="{AB443F50-E56B-B28F-4E64-CE2526B03D54}"/>
              </a:ext>
            </a:extLst>
          </p:cNvPr>
          <p:cNvSpPr/>
          <p:nvPr/>
        </p:nvSpPr>
        <p:spPr>
          <a:xfrm>
            <a:off x="1718580" y="5816989"/>
            <a:ext cx="1209844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 err="1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mapTo</a:t>
            </a:r>
            <a:endParaRPr lang="en-US" sz="800" dirty="0">
              <a:solidFill>
                <a:srgbClr val="9FB0C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800" dirty="0" err="1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CanonicalInput</a:t>
            </a:r>
            <a:endParaRPr lang="en-US" sz="800" dirty="0"/>
          </a:p>
        </p:txBody>
      </p:sp>
      <p:sp>
        <p:nvSpPr>
          <p:cNvPr id="105" name="Text 61">
            <a:extLst>
              <a:ext uri="{FF2B5EF4-FFF2-40B4-BE49-F238E27FC236}">
                <a16:creationId xmlns:a16="http://schemas.microsoft.com/office/drawing/2014/main" id="{A8884560-A873-0F08-B35C-9F6B9C9915E0}"/>
              </a:ext>
            </a:extLst>
          </p:cNvPr>
          <p:cNvSpPr/>
          <p:nvPr/>
        </p:nvSpPr>
        <p:spPr>
          <a:xfrm>
            <a:off x="2889697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06" name="Shape 62">
            <a:extLst>
              <a:ext uri="{FF2B5EF4-FFF2-40B4-BE49-F238E27FC236}">
                <a16:creationId xmlns:a16="http://schemas.microsoft.com/office/drawing/2014/main" id="{818AAD84-5C21-E7B1-4938-7D24686EA5D5}"/>
              </a:ext>
            </a:extLst>
          </p:cNvPr>
          <p:cNvSpPr/>
          <p:nvPr/>
        </p:nvSpPr>
        <p:spPr>
          <a:xfrm>
            <a:off x="3037946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7" name="Text 63">
            <a:extLst>
              <a:ext uri="{FF2B5EF4-FFF2-40B4-BE49-F238E27FC236}">
                <a16:creationId xmlns:a16="http://schemas.microsoft.com/office/drawing/2014/main" id="{F59B3AB1-80E1-8AE1-5F09-F4396E74F4C4}"/>
              </a:ext>
            </a:extLst>
          </p:cNvPr>
          <p:cNvSpPr/>
          <p:nvPr/>
        </p:nvSpPr>
        <p:spPr>
          <a:xfrm>
            <a:off x="3181562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08" name="Text 64">
            <a:extLst>
              <a:ext uri="{FF2B5EF4-FFF2-40B4-BE49-F238E27FC236}">
                <a16:creationId xmlns:a16="http://schemas.microsoft.com/office/drawing/2014/main" id="{59BE1D5A-CE33-7C6F-E655-0F9EDBC2621C}"/>
              </a:ext>
            </a:extLst>
          </p:cNvPr>
          <p:cNvSpPr/>
          <p:nvPr/>
        </p:nvSpPr>
        <p:spPr>
          <a:xfrm>
            <a:off x="3076843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구성</a:t>
            </a:r>
            <a:endParaRPr lang="en-US" sz="1100" dirty="0"/>
          </a:p>
        </p:txBody>
      </p:sp>
      <p:sp>
        <p:nvSpPr>
          <p:cNvPr id="109" name="Text 65">
            <a:extLst>
              <a:ext uri="{FF2B5EF4-FFF2-40B4-BE49-F238E27FC236}">
                <a16:creationId xmlns:a16="http://schemas.microsoft.com/office/drawing/2014/main" id="{62EB4FA4-6906-6410-4D07-C8A8443458E2}"/>
              </a:ext>
            </a:extLst>
          </p:cNvPr>
          <p:cNvSpPr/>
          <p:nvPr/>
        </p:nvSpPr>
        <p:spPr>
          <a:xfrm>
            <a:off x="2922461" y="5816989"/>
            <a:ext cx="133082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SessionContext</a:t>
            </a:r>
            <a:endParaRPr lang="en-US" sz="800" dirty="0"/>
          </a:p>
        </p:txBody>
      </p:sp>
      <p:sp>
        <p:nvSpPr>
          <p:cNvPr id="110" name="Text 66">
            <a:extLst>
              <a:ext uri="{FF2B5EF4-FFF2-40B4-BE49-F238E27FC236}">
                <a16:creationId xmlns:a16="http://schemas.microsoft.com/office/drawing/2014/main" id="{B37B8590-4A5F-0F5F-0489-B28E165F19C4}"/>
              </a:ext>
            </a:extLst>
          </p:cNvPr>
          <p:cNvSpPr/>
          <p:nvPr/>
        </p:nvSpPr>
        <p:spPr>
          <a:xfrm>
            <a:off x="4154525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11" name="Shape 67">
            <a:extLst>
              <a:ext uri="{FF2B5EF4-FFF2-40B4-BE49-F238E27FC236}">
                <a16:creationId xmlns:a16="http://schemas.microsoft.com/office/drawing/2014/main" id="{7C5A5768-C09D-BB4E-6EEB-EE721A47866D}"/>
              </a:ext>
            </a:extLst>
          </p:cNvPr>
          <p:cNvSpPr/>
          <p:nvPr/>
        </p:nvSpPr>
        <p:spPr>
          <a:xfrm>
            <a:off x="4302319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2" name="Text 68">
            <a:extLst>
              <a:ext uri="{FF2B5EF4-FFF2-40B4-BE49-F238E27FC236}">
                <a16:creationId xmlns:a16="http://schemas.microsoft.com/office/drawing/2014/main" id="{B430E16F-D193-B943-B238-5A60A5FADCAD}"/>
              </a:ext>
            </a:extLst>
          </p:cNvPr>
          <p:cNvSpPr/>
          <p:nvPr/>
        </p:nvSpPr>
        <p:spPr>
          <a:xfrm>
            <a:off x="4445935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113" name="Text 69">
            <a:extLst>
              <a:ext uri="{FF2B5EF4-FFF2-40B4-BE49-F238E27FC236}">
                <a16:creationId xmlns:a16="http://schemas.microsoft.com/office/drawing/2014/main" id="{6CF4F684-DF9E-78CB-AA83-A7E1C1BC59AE}"/>
              </a:ext>
            </a:extLst>
          </p:cNvPr>
          <p:cNvSpPr/>
          <p:nvPr/>
        </p:nvSpPr>
        <p:spPr>
          <a:xfrm>
            <a:off x="4341216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필터</a:t>
            </a:r>
            <a:endParaRPr lang="en-US" sz="1100" dirty="0"/>
          </a:p>
        </p:txBody>
      </p:sp>
      <p:sp>
        <p:nvSpPr>
          <p:cNvPr id="114" name="Text 70">
            <a:extLst>
              <a:ext uri="{FF2B5EF4-FFF2-40B4-BE49-F238E27FC236}">
                <a16:creationId xmlns:a16="http://schemas.microsoft.com/office/drawing/2014/main" id="{AEC5CF78-2227-4A49-EA3C-F9FA39D0C277}"/>
              </a:ext>
            </a:extLst>
          </p:cNvPr>
          <p:cNvSpPr/>
          <p:nvPr/>
        </p:nvSpPr>
        <p:spPr>
          <a:xfrm>
            <a:off x="4302319" y="5816989"/>
            <a:ext cx="109985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</a:t>
            </a:r>
            <a:endParaRPr lang="en-US" sz="800" dirty="0"/>
          </a:p>
        </p:txBody>
      </p:sp>
      <p:sp>
        <p:nvSpPr>
          <p:cNvPr id="115" name="Text 71">
            <a:extLst>
              <a:ext uri="{FF2B5EF4-FFF2-40B4-BE49-F238E27FC236}">
                <a16:creationId xmlns:a16="http://schemas.microsoft.com/office/drawing/2014/main" id="{C5EACBAB-623F-1B0B-FC2E-354C0AF76FF3}"/>
              </a:ext>
            </a:extLst>
          </p:cNvPr>
          <p:cNvSpPr/>
          <p:nvPr/>
        </p:nvSpPr>
        <p:spPr>
          <a:xfrm>
            <a:off x="5419354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16" name="Shape 72">
            <a:extLst>
              <a:ext uri="{FF2B5EF4-FFF2-40B4-BE49-F238E27FC236}">
                <a16:creationId xmlns:a16="http://schemas.microsoft.com/office/drawing/2014/main" id="{33F77DEE-47E1-AC07-BE62-EDC4CBBA986B}"/>
              </a:ext>
            </a:extLst>
          </p:cNvPr>
          <p:cNvSpPr/>
          <p:nvPr/>
        </p:nvSpPr>
        <p:spPr>
          <a:xfrm>
            <a:off x="5566692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7" name="Text 73">
            <a:extLst>
              <a:ext uri="{FF2B5EF4-FFF2-40B4-BE49-F238E27FC236}">
                <a16:creationId xmlns:a16="http://schemas.microsoft.com/office/drawing/2014/main" id="{121EBAC9-BAAC-73D7-A009-EC8FA262E336}"/>
              </a:ext>
            </a:extLst>
          </p:cNvPr>
          <p:cNvSpPr/>
          <p:nvPr/>
        </p:nvSpPr>
        <p:spPr>
          <a:xfrm>
            <a:off x="5710308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118" name="Text 74">
            <a:extLst>
              <a:ext uri="{FF2B5EF4-FFF2-40B4-BE49-F238E27FC236}">
                <a16:creationId xmlns:a16="http://schemas.microsoft.com/office/drawing/2014/main" id="{19CCD931-94FC-1EDB-8984-338DFF92133C}"/>
              </a:ext>
            </a:extLst>
          </p:cNvPr>
          <p:cNvSpPr/>
          <p:nvPr/>
        </p:nvSpPr>
        <p:spPr>
          <a:xfrm>
            <a:off x="5605589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생성</a:t>
            </a:r>
            <a:endParaRPr lang="en-US" sz="1100" dirty="0"/>
          </a:p>
        </p:txBody>
      </p:sp>
      <p:sp>
        <p:nvSpPr>
          <p:cNvPr id="119" name="Text 75">
            <a:extLst>
              <a:ext uri="{FF2B5EF4-FFF2-40B4-BE49-F238E27FC236}">
                <a16:creationId xmlns:a16="http://schemas.microsoft.com/office/drawing/2014/main" id="{7B1E2397-44EB-E584-2E5D-7E90AFE8C739}"/>
              </a:ext>
            </a:extLst>
          </p:cNvPr>
          <p:cNvSpPr/>
          <p:nvPr/>
        </p:nvSpPr>
        <p:spPr>
          <a:xfrm>
            <a:off x="5566692" y="5816989"/>
            <a:ext cx="109985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</a:t>
            </a:r>
            <a:endParaRPr lang="en-US" sz="800" dirty="0"/>
          </a:p>
        </p:txBody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B51D71BC-3C6A-AE7F-BE3C-EAEB31824E38}"/>
              </a:ext>
            </a:extLst>
          </p:cNvPr>
          <p:cNvSpPr/>
          <p:nvPr/>
        </p:nvSpPr>
        <p:spPr>
          <a:xfrm>
            <a:off x="6684184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21" name="Shape 77">
            <a:extLst>
              <a:ext uri="{FF2B5EF4-FFF2-40B4-BE49-F238E27FC236}">
                <a16:creationId xmlns:a16="http://schemas.microsoft.com/office/drawing/2014/main" id="{107529E4-6538-2E2C-EB9A-ADEC73FFEDAB}"/>
              </a:ext>
            </a:extLst>
          </p:cNvPr>
          <p:cNvSpPr/>
          <p:nvPr/>
        </p:nvSpPr>
        <p:spPr>
          <a:xfrm>
            <a:off x="6826572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3" name="Text 79">
            <a:extLst>
              <a:ext uri="{FF2B5EF4-FFF2-40B4-BE49-F238E27FC236}">
                <a16:creationId xmlns:a16="http://schemas.microsoft.com/office/drawing/2014/main" id="{B897077A-F092-3418-CC56-C64C31177298}"/>
              </a:ext>
            </a:extLst>
          </p:cNvPr>
          <p:cNvSpPr/>
          <p:nvPr/>
        </p:nvSpPr>
        <p:spPr>
          <a:xfrm>
            <a:off x="6865469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설명</a:t>
            </a:r>
            <a:endParaRPr lang="en-US" sz="1100" dirty="0"/>
          </a:p>
        </p:txBody>
      </p:sp>
      <p:sp>
        <p:nvSpPr>
          <p:cNvPr id="124" name="Text 80">
            <a:extLst>
              <a:ext uri="{FF2B5EF4-FFF2-40B4-BE49-F238E27FC236}">
                <a16:creationId xmlns:a16="http://schemas.microsoft.com/office/drawing/2014/main" id="{8063760E-AB02-D058-7707-8836ABEB2594}"/>
              </a:ext>
            </a:extLst>
          </p:cNvPr>
          <p:cNvSpPr/>
          <p:nvPr/>
        </p:nvSpPr>
        <p:spPr>
          <a:xfrm>
            <a:off x="6644546" y="5816989"/>
            <a:ext cx="1463911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122" name="Text 78">
            <a:extLst>
              <a:ext uri="{FF2B5EF4-FFF2-40B4-BE49-F238E27FC236}">
                <a16:creationId xmlns:a16="http://schemas.microsoft.com/office/drawing/2014/main" id="{4DC614C2-30A0-8CDA-94D1-5BEFDBC45BD7}"/>
              </a:ext>
            </a:extLst>
          </p:cNvPr>
          <p:cNvSpPr/>
          <p:nvPr/>
        </p:nvSpPr>
        <p:spPr>
          <a:xfrm>
            <a:off x="6925995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125" name="Text 81">
            <a:extLst>
              <a:ext uri="{FF2B5EF4-FFF2-40B4-BE49-F238E27FC236}">
                <a16:creationId xmlns:a16="http://schemas.microsoft.com/office/drawing/2014/main" id="{05F415A5-B52A-33E8-3520-24C6CA5724AF}"/>
              </a:ext>
            </a:extLst>
          </p:cNvPr>
          <p:cNvSpPr/>
          <p:nvPr/>
        </p:nvSpPr>
        <p:spPr>
          <a:xfrm>
            <a:off x="7940048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26" name="Shape 82">
            <a:extLst>
              <a:ext uri="{FF2B5EF4-FFF2-40B4-BE49-F238E27FC236}">
                <a16:creationId xmlns:a16="http://schemas.microsoft.com/office/drawing/2014/main" id="{C1CFB6BF-23D2-8B16-1472-87442BB0316B}"/>
              </a:ext>
            </a:extLst>
          </p:cNvPr>
          <p:cNvSpPr/>
          <p:nvPr/>
        </p:nvSpPr>
        <p:spPr>
          <a:xfrm>
            <a:off x="8095438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7" name="Text 83">
            <a:extLst>
              <a:ext uri="{FF2B5EF4-FFF2-40B4-BE49-F238E27FC236}">
                <a16:creationId xmlns:a16="http://schemas.microsoft.com/office/drawing/2014/main" id="{AE186614-922B-DE5D-C623-104444B53E7C}"/>
              </a:ext>
            </a:extLst>
          </p:cNvPr>
          <p:cNvSpPr/>
          <p:nvPr/>
        </p:nvSpPr>
        <p:spPr>
          <a:xfrm>
            <a:off x="8239054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600" dirty="0"/>
          </a:p>
        </p:txBody>
      </p:sp>
      <p:sp>
        <p:nvSpPr>
          <p:cNvPr id="128" name="Text 84">
            <a:extLst>
              <a:ext uri="{FF2B5EF4-FFF2-40B4-BE49-F238E27FC236}">
                <a16:creationId xmlns:a16="http://schemas.microsoft.com/office/drawing/2014/main" id="{13D53AD5-A077-DEBB-A689-4D7A2EA13710}"/>
              </a:ext>
            </a:extLst>
          </p:cNvPr>
          <p:cNvSpPr/>
          <p:nvPr/>
        </p:nvSpPr>
        <p:spPr>
          <a:xfrm>
            <a:off x="8134336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 제안</a:t>
            </a:r>
            <a:endParaRPr lang="en-US" sz="1100" dirty="0"/>
          </a:p>
        </p:txBody>
      </p:sp>
      <p:sp>
        <p:nvSpPr>
          <p:cNvPr id="129" name="Text 85">
            <a:extLst>
              <a:ext uri="{FF2B5EF4-FFF2-40B4-BE49-F238E27FC236}">
                <a16:creationId xmlns:a16="http://schemas.microsoft.com/office/drawing/2014/main" id="{5A9B2527-B115-A49F-8BE5-254D87C2CE07}"/>
              </a:ext>
            </a:extLst>
          </p:cNvPr>
          <p:cNvSpPr/>
          <p:nvPr/>
        </p:nvSpPr>
        <p:spPr>
          <a:xfrm>
            <a:off x="8095438" y="5816989"/>
            <a:ext cx="109985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Alternatives</a:t>
            </a:r>
            <a:endParaRPr lang="en-US" sz="800" dirty="0"/>
          </a:p>
        </p:txBody>
      </p:sp>
      <p:sp>
        <p:nvSpPr>
          <p:cNvPr id="130" name="Text 86">
            <a:extLst>
              <a:ext uri="{FF2B5EF4-FFF2-40B4-BE49-F238E27FC236}">
                <a16:creationId xmlns:a16="http://schemas.microsoft.com/office/drawing/2014/main" id="{80AEB11A-6A16-EF8B-1ABC-F973E0143EB0}"/>
              </a:ext>
            </a:extLst>
          </p:cNvPr>
          <p:cNvSpPr/>
          <p:nvPr/>
        </p:nvSpPr>
        <p:spPr>
          <a:xfrm>
            <a:off x="9213843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31" name="Shape 87">
            <a:extLst>
              <a:ext uri="{FF2B5EF4-FFF2-40B4-BE49-F238E27FC236}">
                <a16:creationId xmlns:a16="http://schemas.microsoft.com/office/drawing/2014/main" id="{D34C1499-9D93-0CE1-18E2-23E09CDA7B02}"/>
              </a:ext>
            </a:extLst>
          </p:cNvPr>
          <p:cNvSpPr/>
          <p:nvPr/>
        </p:nvSpPr>
        <p:spPr>
          <a:xfrm>
            <a:off x="9359811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2" name="Text 88">
            <a:extLst>
              <a:ext uri="{FF2B5EF4-FFF2-40B4-BE49-F238E27FC236}">
                <a16:creationId xmlns:a16="http://schemas.microsoft.com/office/drawing/2014/main" id="{0AE2039E-BF1A-46B4-5DC0-31478FE0E296}"/>
              </a:ext>
            </a:extLst>
          </p:cNvPr>
          <p:cNvSpPr/>
          <p:nvPr/>
        </p:nvSpPr>
        <p:spPr>
          <a:xfrm>
            <a:off x="9503427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600" dirty="0"/>
          </a:p>
        </p:txBody>
      </p:sp>
      <p:sp>
        <p:nvSpPr>
          <p:cNvPr id="133" name="Text 89">
            <a:extLst>
              <a:ext uri="{FF2B5EF4-FFF2-40B4-BE49-F238E27FC236}">
                <a16:creationId xmlns:a16="http://schemas.microsoft.com/office/drawing/2014/main" id="{76858067-718F-1E47-384B-02C50FE56B03}"/>
              </a:ext>
            </a:extLst>
          </p:cNvPr>
          <p:cNvSpPr/>
          <p:nvPr/>
        </p:nvSpPr>
        <p:spPr>
          <a:xfrm>
            <a:off x="9398708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결정</a:t>
            </a:r>
            <a:endParaRPr lang="en-US" sz="1100" dirty="0"/>
          </a:p>
        </p:txBody>
      </p:sp>
      <p:sp>
        <p:nvSpPr>
          <p:cNvPr id="134" name="Text 90">
            <a:extLst>
              <a:ext uri="{FF2B5EF4-FFF2-40B4-BE49-F238E27FC236}">
                <a16:creationId xmlns:a16="http://schemas.microsoft.com/office/drawing/2014/main" id="{0A3A100A-800D-351C-C88E-DEFBE19B27A6}"/>
              </a:ext>
            </a:extLst>
          </p:cNvPr>
          <p:cNvSpPr/>
          <p:nvPr/>
        </p:nvSpPr>
        <p:spPr>
          <a:xfrm>
            <a:off x="9359811" y="5816989"/>
            <a:ext cx="109985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 err="1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collectUser</a:t>
            </a:r>
            <a:endParaRPr lang="en-US" sz="800" dirty="0">
              <a:solidFill>
                <a:srgbClr val="9FB0C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00" dirty="0"/>
          </a:p>
        </p:txBody>
      </p:sp>
      <p:sp>
        <p:nvSpPr>
          <p:cNvPr id="135" name="Text 91">
            <a:extLst>
              <a:ext uri="{FF2B5EF4-FFF2-40B4-BE49-F238E27FC236}">
                <a16:creationId xmlns:a16="http://schemas.microsoft.com/office/drawing/2014/main" id="{7A88E26E-2402-96D5-C4AF-1C94B0CB2A05}"/>
              </a:ext>
            </a:extLst>
          </p:cNvPr>
          <p:cNvSpPr/>
          <p:nvPr/>
        </p:nvSpPr>
        <p:spPr>
          <a:xfrm>
            <a:off x="10473168" y="5492974"/>
            <a:ext cx="138999" cy="62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A92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36" name="Shape 92">
            <a:extLst>
              <a:ext uri="{FF2B5EF4-FFF2-40B4-BE49-F238E27FC236}">
                <a16:creationId xmlns:a16="http://schemas.microsoft.com/office/drawing/2014/main" id="{FA97BA1D-F46A-65D4-3902-014FCF4D9D21}"/>
              </a:ext>
            </a:extLst>
          </p:cNvPr>
          <p:cNvSpPr/>
          <p:nvPr/>
        </p:nvSpPr>
        <p:spPr>
          <a:xfrm>
            <a:off x="10624185" y="5492974"/>
            <a:ext cx="1099858" cy="623106"/>
          </a:xfrm>
          <a:prstGeom prst="roundRect">
            <a:avLst>
              <a:gd name="adj" fmla="val 1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7" name="Text 93">
            <a:extLst>
              <a:ext uri="{FF2B5EF4-FFF2-40B4-BE49-F238E27FC236}">
                <a16:creationId xmlns:a16="http://schemas.microsoft.com/office/drawing/2014/main" id="{81E84051-917E-5E07-E0C7-93FDEC92EA4E}"/>
              </a:ext>
            </a:extLst>
          </p:cNvPr>
          <p:cNvSpPr/>
          <p:nvPr/>
        </p:nvSpPr>
        <p:spPr>
          <a:xfrm>
            <a:off x="10767801" y="5415004"/>
            <a:ext cx="297854" cy="523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FD8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600" dirty="0"/>
          </a:p>
        </p:txBody>
      </p:sp>
      <p:sp>
        <p:nvSpPr>
          <p:cNvPr id="138" name="Text 94">
            <a:extLst>
              <a:ext uri="{FF2B5EF4-FFF2-40B4-BE49-F238E27FC236}">
                <a16:creationId xmlns:a16="http://schemas.microsoft.com/office/drawing/2014/main" id="{C99B178F-8483-9E13-D330-AC03B675D3A9}"/>
              </a:ext>
            </a:extLst>
          </p:cNvPr>
          <p:cNvSpPr/>
          <p:nvPr/>
        </p:nvSpPr>
        <p:spPr>
          <a:xfrm>
            <a:off x="10663083" y="5506981"/>
            <a:ext cx="1099858" cy="324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실행계획</a:t>
            </a:r>
            <a:endParaRPr lang="en-US" sz="1100" dirty="0"/>
          </a:p>
        </p:txBody>
      </p:sp>
      <p:sp>
        <p:nvSpPr>
          <p:cNvPr id="139" name="Text 95">
            <a:extLst>
              <a:ext uri="{FF2B5EF4-FFF2-40B4-BE49-F238E27FC236}">
                <a16:creationId xmlns:a16="http://schemas.microsoft.com/office/drawing/2014/main" id="{42954AE6-FDED-06A0-B8E8-FAEAB27CF928}"/>
              </a:ext>
            </a:extLst>
          </p:cNvPr>
          <p:cNvSpPr/>
          <p:nvPr/>
        </p:nvSpPr>
        <p:spPr>
          <a:xfrm>
            <a:off x="10624185" y="5816989"/>
            <a:ext cx="1099858" cy="27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ExecutionPlan</a:t>
            </a:r>
            <a:endParaRPr 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37C99-7F90-A90D-8564-DDACEEBED42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02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핵심 플로우 및 주요 화면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1EF0482-4A52-8C55-F7A4-C4712790E03D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4A2595-6383-6B4C-F327-95E7C1A10581}"/>
              </a:ext>
            </a:extLst>
          </p:cNvPr>
          <p:cNvSpPr txBox="1"/>
          <p:nvPr/>
        </p:nvSpPr>
        <p:spPr>
          <a:xfrm>
            <a:off x="937063" y="1115568"/>
            <a:ext cx="4943783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프론트엔드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기술 아키텍처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0751DE8D-04E2-A815-9A81-9D9F7EC9EE69}"/>
              </a:ext>
            </a:extLst>
          </p:cNvPr>
          <p:cNvCxnSpPr>
            <a:cxnSpLocks/>
          </p:cNvCxnSpPr>
          <p:nvPr/>
        </p:nvCxnSpPr>
        <p:spPr>
          <a:xfrm>
            <a:off x="1592639" y="3420225"/>
            <a:ext cx="16910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8670C1B-80AA-6E63-CA21-DFF983ECDD67}"/>
              </a:ext>
            </a:extLst>
          </p:cNvPr>
          <p:cNvCxnSpPr>
            <a:cxnSpLocks/>
          </p:cNvCxnSpPr>
          <p:nvPr/>
        </p:nvCxnSpPr>
        <p:spPr>
          <a:xfrm>
            <a:off x="3103967" y="3420225"/>
            <a:ext cx="16910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0CD1F18-CF74-DEFF-5F7D-79A71267EC80}"/>
              </a:ext>
            </a:extLst>
          </p:cNvPr>
          <p:cNvCxnSpPr>
            <a:cxnSpLocks/>
          </p:cNvCxnSpPr>
          <p:nvPr/>
        </p:nvCxnSpPr>
        <p:spPr>
          <a:xfrm>
            <a:off x="4615295" y="3420225"/>
            <a:ext cx="16910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F4E44B9-D52D-4EE5-CBCD-38E3520EDC4C}"/>
              </a:ext>
            </a:extLst>
          </p:cNvPr>
          <p:cNvCxnSpPr>
            <a:cxnSpLocks/>
          </p:cNvCxnSpPr>
          <p:nvPr/>
        </p:nvCxnSpPr>
        <p:spPr>
          <a:xfrm>
            <a:off x="6126623" y="3420225"/>
            <a:ext cx="16910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21072B18-D532-B03A-67CF-BFBD7A549208}"/>
              </a:ext>
            </a:extLst>
          </p:cNvPr>
          <p:cNvCxnSpPr>
            <a:cxnSpLocks/>
          </p:cNvCxnSpPr>
          <p:nvPr/>
        </p:nvCxnSpPr>
        <p:spPr>
          <a:xfrm>
            <a:off x="8843838" y="3431409"/>
            <a:ext cx="16910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479B6C4-F439-C021-5D10-DF36B762CF83}"/>
              </a:ext>
            </a:extLst>
          </p:cNvPr>
          <p:cNvCxnSpPr>
            <a:cxnSpLocks/>
          </p:cNvCxnSpPr>
          <p:nvPr/>
        </p:nvCxnSpPr>
        <p:spPr>
          <a:xfrm>
            <a:off x="10361309" y="3431409"/>
            <a:ext cx="16910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1">
                <a:solidFill>
                  <a:srgbClr val="3A537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24528"/>
            <a:ext cx="10515600" cy="655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 구현 결과 검증</a:t>
            </a:r>
            <a:endParaRPr sz="40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600" b="0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시뮬레이터 및 코딩을 통한 아이디어 구현 검증</a:t>
            </a:r>
            <a:endParaRPr sz="1600" b="0" dirty="0">
              <a:solidFill>
                <a:srgbClr val="9FB0C8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860C366-E6AE-BDDB-7139-56968CBB1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634815"/>
            <a:ext cx="219456" cy="219456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F7EB3FA4-5A2F-49CB-F1AE-217A74E70420}"/>
              </a:ext>
            </a:extLst>
          </p:cNvPr>
          <p:cNvSpPr/>
          <p:nvPr/>
        </p:nvSpPr>
        <p:spPr>
          <a:xfrm>
            <a:off x="1234440" y="1598239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7A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시뮬레이터 검증 PASS   </a:t>
            </a:r>
            <a:r>
              <a:rPr lang="en-US" sz="10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--execute · NORMAL_BOUNDARY_STOP · actualDeviceCommandSent:false · 외부 API 미사용</a:t>
            </a:r>
            <a:endParaRPr lang="en-US" sz="1150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487390A-0904-AC8A-342F-CF850C9B326A}"/>
              </a:ext>
            </a:extLst>
          </p:cNvPr>
          <p:cNvGrpSpPr/>
          <p:nvPr/>
        </p:nvGrpSpPr>
        <p:grpSpPr>
          <a:xfrm>
            <a:off x="258529" y="2080250"/>
            <a:ext cx="11674941" cy="4003111"/>
            <a:chOff x="839788" y="2267702"/>
            <a:chExt cx="10733647" cy="4003111"/>
          </a:xfrm>
        </p:grpSpPr>
        <p:sp>
          <p:nvSpPr>
            <p:cNvPr id="24" name="Shape 44">
              <a:extLst>
                <a:ext uri="{FF2B5EF4-FFF2-40B4-BE49-F238E27FC236}">
                  <a16:creationId xmlns:a16="http://schemas.microsoft.com/office/drawing/2014/main" id="{62C2C8AC-14C8-2A6B-0B2F-83C6F5404A95}"/>
                </a:ext>
              </a:extLst>
            </p:cNvPr>
            <p:cNvSpPr/>
            <p:nvPr/>
          </p:nvSpPr>
          <p:spPr>
            <a:xfrm>
              <a:off x="839788" y="2267702"/>
              <a:ext cx="10733647" cy="4003111"/>
            </a:xfrm>
            <a:prstGeom prst="roundRect">
              <a:avLst>
                <a:gd name="adj" fmla="val 2786"/>
              </a:avLst>
            </a:prstGeom>
            <a:solidFill>
              <a:schemeClr val="bg1"/>
            </a:solidFill>
            <a:ln w="19050">
              <a:noFill/>
              <a:prstDash val="solid"/>
            </a:ln>
          </p:spPr>
          <p:txBody>
            <a:bodyPr/>
            <a:lstStyle/>
            <a:p>
              <a:endParaRPr sz="6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EED0111C-B926-FCCA-F01B-3700F1D0B84B}"/>
                </a:ext>
              </a:extLst>
            </p:cNvPr>
            <p:cNvSpPr/>
            <p:nvPr/>
          </p:nvSpPr>
          <p:spPr>
            <a:xfrm>
              <a:off x="896112" y="2505456"/>
              <a:ext cx="64008" cy="566928"/>
            </a:xfrm>
            <a:prstGeom prst="roundRect">
              <a:avLst>
                <a:gd name="adj" fmla="val 42857"/>
              </a:avLst>
            </a:prstGeom>
            <a:solidFill>
              <a:srgbClr val="14243D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742F6546-8A9A-670E-964C-ED7A58CBC01D}"/>
                </a:ext>
              </a:extLst>
            </p:cNvPr>
            <p:cNvSpPr/>
            <p:nvPr/>
          </p:nvSpPr>
          <p:spPr>
            <a:xfrm>
              <a:off x="1133856" y="2505456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필수요건</a:t>
              </a:r>
              <a:endParaRPr lang="en-US" dirty="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7CDDD763-6EA7-6A14-88FD-B75D4A80E9C1}"/>
                </a:ext>
              </a:extLst>
            </p:cNvPr>
            <p:cNvSpPr/>
            <p:nvPr/>
          </p:nvSpPr>
          <p:spPr>
            <a:xfrm>
              <a:off x="1152144" y="2852928"/>
              <a:ext cx="91440" cy="91440"/>
            </a:xfrm>
            <a:prstGeom prst="ellipse">
              <a:avLst/>
            </a:prstGeom>
            <a:solidFill>
              <a:srgbClr val="2C7A4B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B857660F-96F1-8BF5-5846-26FA6FD5B329}"/>
                </a:ext>
              </a:extLst>
            </p:cNvPr>
            <p:cNvSpPr/>
            <p:nvPr/>
          </p:nvSpPr>
          <p:spPr>
            <a:xfrm>
              <a:off x="1298448" y="2798064"/>
              <a:ext cx="138988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C7A4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시뮬레이터 검증</a:t>
              </a:r>
              <a:endParaRPr lang="en-US" sz="1050" dirty="0"/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50782FA7-4852-AF5C-9E16-30C089DE9C82}"/>
                </a:ext>
              </a:extLst>
            </p:cNvPr>
            <p:cNvSpPr/>
            <p:nvPr/>
          </p:nvSpPr>
          <p:spPr>
            <a:xfrm>
              <a:off x="2788920" y="2450592"/>
              <a:ext cx="58064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상황 입력 → 후보 수집 → 불가 후보 제외 → 추천+이유 → 사용자 </a:t>
              </a:r>
              <a:r>
                <a:rPr lang="en-US" sz="1200" dirty="0" err="1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</a:t>
              </a: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→ 실행계획 → 디지털 트윈 시뮬레이션</a:t>
              </a:r>
              <a:endParaRPr lang="en-US" sz="1200" dirty="0"/>
            </a:p>
          </p:txBody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63177877-A191-7D1A-1869-6D0186568A2A}"/>
                </a:ext>
              </a:extLst>
            </p:cNvPr>
            <p:cNvSpPr/>
            <p:nvPr/>
          </p:nvSpPr>
          <p:spPr>
            <a:xfrm>
              <a:off x="8869680" y="2450592"/>
              <a:ext cx="251460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100" b="1" dirty="0">
                  <a:solidFill>
                    <a:srgbClr val="2B406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9단계 파이프라인 전 구간 동작 · 계약 검증 PASS</a:t>
              </a:r>
              <a:endParaRPr lang="en-US" sz="1100" dirty="0"/>
            </a:p>
          </p:txBody>
        </p:sp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5B34F27F-E89F-00FF-815D-09280BB9FAC7}"/>
                </a:ext>
              </a:extLst>
            </p:cNvPr>
            <p:cNvSpPr/>
            <p:nvPr/>
          </p:nvSpPr>
          <p:spPr>
            <a:xfrm>
              <a:off x="896112" y="3172968"/>
              <a:ext cx="10488168" cy="0"/>
            </a:xfrm>
            <a:prstGeom prst="line">
              <a:avLst/>
            </a:prstGeom>
            <a:noFill/>
            <a:ln w="9525">
              <a:solidFill>
                <a:srgbClr val="EE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1" name="Shape 13">
              <a:extLst>
                <a:ext uri="{FF2B5EF4-FFF2-40B4-BE49-F238E27FC236}">
                  <a16:creationId xmlns:a16="http://schemas.microsoft.com/office/drawing/2014/main" id="{74B89013-4044-D4C5-668C-0BAFB59315B1}"/>
                </a:ext>
              </a:extLst>
            </p:cNvPr>
            <p:cNvSpPr/>
            <p:nvPr/>
          </p:nvSpPr>
          <p:spPr>
            <a:xfrm>
              <a:off x="896112" y="3273552"/>
              <a:ext cx="64008" cy="566928"/>
            </a:xfrm>
            <a:prstGeom prst="roundRect">
              <a:avLst>
                <a:gd name="adj" fmla="val 42857"/>
              </a:avLst>
            </a:prstGeom>
            <a:solidFill>
              <a:srgbClr val="14243D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7D37370C-0953-0145-084C-9A9CF80A1AF0}"/>
                </a:ext>
              </a:extLst>
            </p:cNvPr>
            <p:cNvSpPr/>
            <p:nvPr/>
          </p:nvSpPr>
          <p:spPr>
            <a:xfrm>
              <a:off x="1133856" y="3273552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로직</a:t>
              </a:r>
              <a:endParaRPr lang="en-US" dirty="0"/>
            </a:p>
          </p:txBody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36F63802-4440-4B61-9694-B8975BA81494}"/>
                </a:ext>
              </a:extLst>
            </p:cNvPr>
            <p:cNvSpPr/>
            <p:nvPr/>
          </p:nvSpPr>
          <p:spPr>
            <a:xfrm>
              <a:off x="1152144" y="3621024"/>
              <a:ext cx="91440" cy="91440"/>
            </a:xfrm>
            <a:prstGeom prst="ellipse">
              <a:avLst/>
            </a:prstGeom>
            <a:solidFill>
              <a:srgbClr val="2C7A4B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7A7F1F8F-7A64-064A-5532-48411B14ABF2}"/>
                </a:ext>
              </a:extLst>
            </p:cNvPr>
            <p:cNvSpPr/>
            <p:nvPr/>
          </p:nvSpPr>
          <p:spPr>
            <a:xfrm>
              <a:off x="1298448" y="3566160"/>
              <a:ext cx="138988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C7A4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시뮬레이터 검증</a:t>
              </a:r>
              <a:endParaRPr lang="en-US" sz="1050" dirty="0"/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34A79629-44D2-C0C6-F018-E8493ECC03FD}"/>
                </a:ext>
              </a:extLst>
            </p:cNvPr>
            <p:cNvSpPr/>
            <p:nvPr/>
          </p:nvSpPr>
          <p:spPr>
            <a:xfrm>
              <a:off x="2788920" y="3218688"/>
              <a:ext cx="58064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의도·선호 해석 → 하드 제외(알레르기·품절·예산·서비스) → 질환·약 신호로 점수화. 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 err="1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건강</a:t>
              </a: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페널티(−40~−100)가 선호 보너스(+5)보다 커, 충돌 시 건강 안전 후보 우선</a:t>
              </a:r>
              <a:endParaRPr lang="en-US" sz="1200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CD4B244B-0157-B066-EFBD-937C692B7360}"/>
                </a:ext>
              </a:extLst>
            </p:cNvPr>
            <p:cNvSpPr/>
            <p:nvPr/>
          </p:nvSpPr>
          <p:spPr>
            <a:xfrm>
              <a:off x="8869680" y="3218688"/>
              <a:ext cx="251460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100" b="1" dirty="0">
                  <a:solidFill>
                    <a:srgbClr val="2B406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룰 기반 판단 · 모든 추천에 이유·제외 사유 동반</a:t>
              </a:r>
              <a:endParaRPr lang="en-US" sz="1100" dirty="0"/>
            </a:p>
          </p:txBody>
        </p:sp>
        <p:sp>
          <p:nvSpPr>
            <p:cNvPr id="43" name="Shape 19">
              <a:extLst>
                <a:ext uri="{FF2B5EF4-FFF2-40B4-BE49-F238E27FC236}">
                  <a16:creationId xmlns:a16="http://schemas.microsoft.com/office/drawing/2014/main" id="{0173DD68-8063-D489-7BEC-0D46CCC8F25D}"/>
                </a:ext>
              </a:extLst>
            </p:cNvPr>
            <p:cNvSpPr/>
            <p:nvPr/>
          </p:nvSpPr>
          <p:spPr>
            <a:xfrm>
              <a:off x="896112" y="3941064"/>
              <a:ext cx="10488168" cy="0"/>
            </a:xfrm>
            <a:prstGeom prst="line">
              <a:avLst/>
            </a:prstGeom>
            <a:noFill/>
            <a:ln w="9525">
              <a:solidFill>
                <a:srgbClr val="EE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5" name="Shape 20">
              <a:extLst>
                <a:ext uri="{FF2B5EF4-FFF2-40B4-BE49-F238E27FC236}">
                  <a16:creationId xmlns:a16="http://schemas.microsoft.com/office/drawing/2014/main" id="{BFF6E473-8457-F859-877F-799398AED036}"/>
                </a:ext>
              </a:extLst>
            </p:cNvPr>
            <p:cNvSpPr/>
            <p:nvPr/>
          </p:nvSpPr>
          <p:spPr>
            <a:xfrm>
              <a:off x="896112" y="4041648"/>
              <a:ext cx="64008" cy="566928"/>
            </a:xfrm>
            <a:prstGeom prst="roundRect">
              <a:avLst>
                <a:gd name="adj" fmla="val 42857"/>
              </a:avLst>
            </a:prstGeom>
            <a:solidFill>
              <a:srgbClr val="14243D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342FBD2A-411D-B45C-49A1-1414FB0BB8B9}"/>
                </a:ext>
              </a:extLst>
            </p:cNvPr>
            <p:cNvSpPr/>
            <p:nvPr/>
          </p:nvSpPr>
          <p:spPr>
            <a:xfrm>
              <a:off x="1133856" y="4041648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재방문 개인화</a:t>
              </a:r>
              <a:endParaRPr lang="en-US" dirty="0"/>
            </a:p>
          </p:txBody>
        </p:sp>
        <p:sp>
          <p:nvSpPr>
            <p:cNvPr id="49" name="Shape 22">
              <a:extLst>
                <a:ext uri="{FF2B5EF4-FFF2-40B4-BE49-F238E27FC236}">
                  <a16:creationId xmlns:a16="http://schemas.microsoft.com/office/drawing/2014/main" id="{51E5C44B-6129-0A21-6FD9-3926FF54BF40}"/>
                </a:ext>
              </a:extLst>
            </p:cNvPr>
            <p:cNvSpPr/>
            <p:nvPr/>
          </p:nvSpPr>
          <p:spPr>
            <a:xfrm>
              <a:off x="1152144" y="4389120"/>
              <a:ext cx="91440" cy="91440"/>
            </a:xfrm>
            <a:prstGeom prst="ellipse">
              <a:avLst/>
            </a:prstGeom>
            <a:solidFill>
              <a:srgbClr val="2C7A4B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51" name="Text 23">
              <a:extLst>
                <a:ext uri="{FF2B5EF4-FFF2-40B4-BE49-F238E27FC236}">
                  <a16:creationId xmlns:a16="http://schemas.microsoft.com/office/drawing/2014/main" id="{DD3C3405-E9D1-B5A6-AD6A-C1055221F673}"/>
                </a:ext>
              </a:extLst>
            </p:cNvPr>
            <p:cNvSpPr/>
            <p:nvPr/>
          </p:nvSpPr>
          <p:spPr>
            <a:xfrm>
              <a:off x="1298448" y="4334256"/>
              <a:ext cx="138988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2C7A4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시뮬레이터 검증</a:t>
              </a:r>
              <a:endParaRPr lang="en-US" sz="1050" dirty="0"/>
            </a:p>
          </p:txBody>
        </p:sp>
        <p:sp>
          <p:nvSpPr>
            <p:cNvPr id="53" name="Text 24">
              <a:extLst>
                <a:ext uri="{FF2B5EF4-FFF2-40B4-BE49-F238E27FC236}">
                  <a16:creationId xmlns:a16="http://schemas.microsoft.com/office/drawing/2014/main" id="{41EC4B64-4461-452C-63CA-63FF85AEEB14}"/>
                </a:ext>
              </a:extLst>
            </p:cNvPr>
            <p:cNvSpPr/>
            <p:nvPr/>
          </p:nvSpPr>
          <p:spPr>
            <a:xfrm>
              <a:off x="2788920" y="3986784"/>
              <a:ext cx="58064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전화번호 → SHA-256 해시 ID로 프로필 조회 → 저장된 질환·약·알레르기·선호 반영. 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 err="1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동의</a:t>
              </a: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있을 때만 질환·약 신호 발동(개인정보 최소수집)</a:t>
              </a:r>
              <a:endParaRPr lang="en-US" sz="1200" dirty="0"/>
            </a:p>
          </p:txBody>
        </p:sp>
        <p:sp>
          <p:nvSpPr>
            <p:cNvPr id="55" name="Text 25">
              <a:extLst>
                <a:ext uri="{FF2B5EF4-FFF2-40B4-BE49-F238E27FC236}">
                  <a16:creationId xmlns:a16="http://schemas.microsoft.com/office/drawing/2014/main" id="{D226AA8C-6AD9-65A5-1830-D3A2685931AF}"/>
                </a:ext>
              </a:extLst>
            </p:cNvPr>
            <p:cNvSpPr/>
            <p:nvPr/>
          </p:nvSpPr>
          <p:spPr>
            <a:xfrm>
              <a:off x="8869680" y="3986784"/>
              <a:ext cx="251460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100" b="1" dirty="0">
                  <a:solidFill>
                    <a:srgbClr val="2B406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phone-to-profile-id.js · 해시 기반 개인화 동작</a:t>
              </a:r>
              <a:endParaRPr lang="en-US" sz="1100" dirty="0"/>
            </a:p>
          </p:txBody>
        </p:sp>
        <p:sp>
          <p:nvSpPr>
            <p:cNvPr id="57" name="Shape 26">
              <a:extLst>
                <a:ext uri="{FF2B5EF4-FFF2-40B4-BE49-F238E27FC236}">
                  <a16:creationId xmlns:a16="http://schemas.microsoft.com/office/drawing/2014/main" id="{CE860EFC-2314-78FE-6BBC-EE9B40608F6B}"/>
                </a:ext>
              </a:extLst>
            </p:cNvPr>
            <p:cNvSpPr/>
            <p:nvPr/>
          </p:nvSpPr>
          <p:spPr>
            <a:xfrm>
              <a:off x="896112" y="4709160"/>
              <a:ext cx="10488168" cy="0"/>
            </a:xfrm>
            <a:prstGeom prst="line">
              <a:avLst/>
            </a:prstGeom>
            <a:noFill/>
            <a:ln w="9525">
              <a:solidFill>
                <a:srgbClr val="EE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59" name="Shape 27">
              <a:extLst>
                <a:ext uri="{FF2B5EF4-FFF2-40B4-BE49-F238E27FC236}">
                  <a16:creationId xmlns:a16="http://schemas.microsoft.com/office/drawing/2014/main" id="{0E79D631-61AB-0F5E-5C1F-16CED260050C}"/>
                </a:ext>
              </a:extLst>
            </p:cNvPr>
            <p:cNvSpPr/>
            <p:nvPr/>
          </p:nvSpPr>
          <p:spPr>
            <a:xfrm>
              <a:off x="896112" y="4809744"/>
              <a:ext cx="64008" cy="566928"/>
            </a:xfrm>
            <a:prstGeom prst="roundRect">
              <a:avLst>
                <a:gd name="adj" fmla="val 42857"/>
              </a:avLst>
            </a:prstGeom>
            <a:solidFill>
              <a:srgbClr val="6B7686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61" name="Text 28">
              <a:extLst>
                <a:ext uri="{FF2B5EF4-FFF2-40B4-BE49-F238E27FC236}">
                  <a16:creationId xmlns:a16="http://schemas.microsoft.com/office/drawing/2014/main" id="{F339E4F2-7638-FEFE-B491-26695A37868C}"/>
                </a:ext>
              </a:extLst>
            </p:cNvPr>
            <p:cNvSpPr/>
            <p:nvPr/>
          </p:nvSpPr>
          <p:spPr>
            <a:xfrm>
              <a:off x="1133856" y="480974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예외처리</a:t>
              </a:r>
              <a:endParaRPr lang="en-US" dirty="0"/>
            </a:p>
          </p:txBody>
        </p:sp>
        <p:sp>
          <p:nvSpPr>
            <p:cNvPr id="63" name="Shape 29">
              <a:extLst>
                <a:ext uri="{FF2B5EF4-FFF2-40B4-BE49-F238E27FC236}">
                  <a16:creationId xmlns:a16="http://schemas.microsoft.com/office/drawing/2014/main" id="{EE6927D7-AEF0-7B33-0436-2B1FC76A2AD2}"/>
                </a:ext>
              </a:extLst>
            </p:cNvPr>
            <p:cNvSpPr/>
            <p:nvPr/>
          </p:nvSpPr>
          <p:spPr>
            <a:xfrm>
              <a:off x="1152144" y="5157216"/>
              <a:ext cx="91440" cy="91440"/>
            </a:xfrm>
            <a:prstGeom prst="ellipse">
              <a:avLst/>
            </a:prstGeom>
            <a:solidFill>
              <a:srgbClr val="6B7686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65" name="Text 30">
              <a:extLst>
                <a:ext uri="{FF2B5EF4-FFF2-40B4-BE49-F238E27FC236}">
                  <a16:creationId xmlns:a16="http://schemas.microsoft.com/office/drawing/2014/main" id="{15806A7A-1901-5650-05D0-CEE0F19437DC}"/>
                </a:ext>
              </a:extLst>
            </p:cNvPr>
            <p:cNvSpPr/>
            <p:nvPr/>
          </p:nvSpPr>
          <p:spPr>
            <a:xfrm>
              <a:off x="1298448" y="5102352"/>
              <a:ext cx="138988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6B768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설계 완료</a:t>
              </a:r>
              <a:endParaRPr lang="en-US" sz="1050" dirty="0"/>
            </a:p>
          </p:txBody>
        </p:sp>
        <p:sp>
          <p:nvSpPr>
            <p:cNvPr id="67" name="Text 31">
              <a:extLst>
                <a:ext uri="{FF2B5EF4-FFF2-40B4-BE49-F238E27FC236}">
                  <a16:creationId xmlns:a16="http://schemas.microsoft.com/office/drawing/2014/main" id="{B40BD1EA-F87F-4243-F206-5037C665DA0D}"/>
                </a:ext>
              </a:extLst>
            </p:cNvPr>
            <p:cNvSpPr/>
            <p:nvPr/>
          </p:nvSpPr>
          <p:spPr>
            <a:xfrm>
              <a:off x="2788920" y="4754880"/>
              <a:ext cx="58064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음성 인식 실패 → 재질문 · 통화 무응답/끊김 → 화면 터치 폴백 · 애매하면 되묻기 · 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 err="1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이상</a:t>
              </a: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시 직원 호출 STOP</a:t>
              </a:r>
              <a:endParaRPr lang="en-US" sz="1200" dirty="0"/>
            </a:p>
          </p:txBody>
        </p:sp>
        <p:sp>
          <p:nvSpPr>
            <p:cNvPr id="69" name="Text 32">
              <a:extLst>
                <a:ext uri="{FF2B5EF4-FFF2-40B4-BE49-F238E27FC236}">
                  <a16:creationId xmlns:a16="http://schemas.microsoft.com/office/drawing/2014/main" id="{60EA5E47-F632-6D66-37C3-CC1DCC8E0F60}"/>
                </a:ext>
              </a:extLst>
            </p:cNvPr>
            <p:cNvSpPr/>
            <p:nvPr/>
          </p:nvSpPr>
          <p:spPr>
            <a:xfrm>
              <a:off x="8869680" y="4754880"/>
              <a:ext cx="251460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100" b="1" dirty="0">
                  <a:solidFill>
                    <a:srgbClr val="6B768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“전화가 안 되면 일반 키오스크로” · UX 설계 완료</a:t>
              </a:r>
              <a:endParaRPr lang="en-US" sz="1100" dirty="0"/>
            </a:p>
          </p:txBody>
        </p:sp>
        <p:sp>
          <p:nvSpPr>
            <p:cNvPr id="71" name="Shape 33">
              <a:extLst>
                <a:ext uri="{FF2B5EF4-FFF2-40B4-BE49-F238E27FC236}">
                  <a16:creationId xmlns:a16="http://schemas.microsoft.com/office/drawing/2014/main" id="{AD297D22-FEF6-2F2F-E48A-9C5077A78A02}"/>
                </a:ext>
              </a:extLst>
            </p:cNvPr>
            <p:cNvSpPr/>
            <p:nvPr/>
          </p:nvSpPr>
          <p:spPr>
            <a:xfrm>
              <a:off x="896112" y="5477256"/>
              <a:ext cx="10488168" cy="0"/>
            </a:xfrm>
            <a:prstGeom prst="line">
              <a:avLst/>
            </a:prstGeom>
            <a:noFill/>
            <a:ln w="9525">
              <a:solidFill>
                <a:srgbClr val="EE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73" name="Shape 34">
              <a:extLst>
                <a:ext uri="{FF2B5EF4-FFF2-40B4-BE49-F238E27FC236}">
                  <a16:creationId xmlns:a16="http://schemas.microsoft.com/office/drawing/2014/main" id="{EFC310C5-1000-26BD-5235-865DE99378A1}"/>
                </a:ext>
              </a:extLst>
            </p:cNvPr>
            <p:cNvSpPr/>
            <p:nvPr/>
          </p:nvSpPr>
          <p:spPr>
            <a:xfrm>
              <a:off x="896112" y="5577840"/>
              <a:ext cx="64008" cy="566928"/>
            </a:xfrm>
            <a:prstGeom prst="roundRect">
              <a:avLst>
                <a:gd name="adj" fmla="val 42857"/>
              </a:avLst>
            </a:prstGeom>
            <a:solidFill>
              <a:srgbClr val="6B7686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75" name="Text 35">
              <a:extLst>
                <a:ext uri="{FF2B5EF4-FFF2-40B4-BE49-F238E27FC236}">
                  <a16:creationId xmlns:a16="http://schemas.microsoft.com/office/drawing/2014/main" id="{0AB5FBC8-9F60-534A-B75C-4E252099A735}"/>
                </a:ext>
              </a:extLst>
            </p:cNvPr>
            <p:cNvSpPr/>
            <p:nvPr/>
          </p:nvSpPr>
          <p:spPr>
            <a:xfrm>
              <a:off x="1133856" y="5577840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B1F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추가요건</a:t>
              </a:r>
              <a:endParaRPr lang="en-US" dirty="0"/>
            </a:p>
          </p:txBody>
        </p:sp>
        <p:sp>
          <p:nvSpPr>
            <p:cNvPr id="77" name="Shape 36">
              <a:extLst>
                <a:ext uri="{FF2B5EF4-FFF2-40B4-BE49-F238E27FC236}">
                  <a16:creationId xmlns:a16="http://schemas.microsoft.com/office/drawing/2014/main" id="{1F70C6C2-948A-7827-9AC1-75C520069AE4}"/>
                </a:ext>
              </a:extLst>
            </p:cNvPr>
            <p:cNvSpPr/>
            <p:nvPr/>
          </p:nvSpPr>
          <p:spPr>
            <a:xfrm>
              <a:off x="1152144" y="5925312"/>
              <a:ext cx="91440" cy="91440"/>
            </a:xfrm>
            <a:prstGeom prst="ellipse">
              <a:avLst/>
            </a:prstGeom>
            <a:solidFill>
              <a:srgbClr val="6B7686"/>
            </a:solidFill>
            <a:ln/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79" name="Text 37">
              <a:extLst>
                <a:ext uri="{FF2B5EF4-FFF2-40B4-BE49-F238E27FC236}">
                  <a16:creationId xmlns:a16="http://schemas.microsoft.com/office/drawing/2014/main" id="{207605A3-86E7-C190-6DC0-42AD79DD3B4F}"/>
                </a:ext>
              </a:extLst>
            </p:cNvPr>
            <p:cNvSpPr/>
            <p:nvPr/>
          </p:nvSpPr>
          <p:spPr>
            <a:xfrm>
              <a:off x="1298448" y="5870448"/>
              <a:ext cx="138988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6B768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연동 예정</a:t>
              </a:r>
              <a:endParaRPr lang="en-US" sz="1050" dirty="0"/>
            </a:p>
          </p:txBody>
        </p:sp>
        <p:sp>
          <p:nvSpPr>
            <p:cNvPr id="81" name="Text 38">
              <a:extLst>
                <a:ext uri="{FF2B5EF4-FFF2-40B4-BE49-F238E27FC236}">
                  <a16:creationId xmlns:a16="http://schemas.microsoft.com/office/drawing/2014/main" id="{5BD7CDFE-0F39-3EBA-55F1-ADE14D6B5203}"/>
                </a:ext>
              </a:extLst>
            </p:cNvPr>
            <p:cNvSpPr/>
            <p:nvPr/>
          </p:nvSpPr>
          <p:spPr>
            <a:xfrm>
              <a:off x="2788920" y="5522976"/>
              <a:ext cx="58064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전화망 주문(2G 커버) · 보이는 ARS 화면 동기화 · 음성 STT 연동. 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 err="1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표준</a:t>
              </a:r>
              <a:r>
                <a:rPr lang="en-US" sz="1200" dirty="0">
                  <a:solidFill>
                    <a:srgbClr val="33383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입력 계약(canonical profile)으로 연동하는 구조 설계</a:t>
              </a:r>
              <a:endParaRPr lang="en-US" sz="1200" dirty="0"/>
            </a:p>
          </p:txBody>
        </p:sp>
        <p:sp>
          <p:nvSpPr>
            <p:cNvPr id="83" name="Text 39">
              <a:extLst>
                <a:ext uri="{FF2B5EF4-FFF2-40B4-BE49-F238E27FC236}">
                  <a16:creationId xmlns:a16="http://schemas.microsoft.com/office/drawing/2014/main" id="{31E3DA88-FB2B-3A47-4CA1-C4A9276F2702}"/>
                </a:ext>
              </a:extLst>
            </p:cNvPr>
            <p:cNvSpPr/>
            <p:nvPr/>
          </p:nvSpPr>
          <p:spPr>
            <a:xfrm>
              <a:off x="8869680" y="5522976"/>
              <a:ext cx="251460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100" b="1" dirty="0">
                  <a:solidFill>
                    <a:srgbClr val="6B768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표준 입력 계약 설계 완료 · 엔진 연동은 확장 시</a:t>
              </a:r>
              <a:endParaRPr lang="en-US" sz="1100" dirty="0"/>
            </a:p>
          </p:txBody>
        </p:sp>
        <p:sp>
          <p:nvSpPr>
            <p:cNvPr id="85" name="Shape 40">
              <a:extLst>
                <a:ext uri="{FF2B5EF4-FFF2-40B4-BE49-F238E27FC236}">
                  <a16:creationId xmlns:a16="http://schemas.microsoft.com/office/drawing/2014/main" id="{A4B7CC61-5DC0-9215-D0D7-0FA98565B6B0}"/>
                </a:ext>
              </a:extLst>
            </p:cNvPr>
            <p:cNvSpPr/>
            <p:nvPr/>
          </p:nvSpPr>
          <p:spPr>
            <a:xfrm>
              <a:off x="2587752" y="2478024"/>
              <a:ext cx="0" cy="3694176"/>
            </a:xfrm>
            <a:prstGeom prst="line">
              <a:avLst/>
            </a:prstGeom>
            <a:noFill/>
            <a:ln w="9525">
              <a:solidFill>
                <a:srgbClr val="EE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  <p:sp>
          <p:nvSpPr>
            <p:cNvPr id="87" name="Shape 41">
              <a:extLst>
                <a:ext uri="{FF2B5EF4-FFF2-40B4-BE49-F238E27FC236}">
                  <a16:creationId xmlns:a16="http://schemas.microsoft.com/office/drawing/2014/main" id="{6BF90A19-5435-FDB5-5948-EC383ADA6E3D}"/>
                </a:ext>
              </a:extLst>
            </p:cNvPr>
            <p:cNvSpPr/>
            <p:nvPr/>
          </p:nvSpPr>
          <p:spPr>
            <a:xfrm>
              <a:off x="8686800" y="2478024"/>
              <a:ext cx="0" cy="3694176"/>
            </a:xfrm>
            <a:prstGeom prst="line">
              <a:avLst/>
            </a:prstGeom>
            <a:noFill/>
            <a:ln w="9525">
              <a:solidFill>
                <a:srgbClr val="EEF0F2"/>
              </a:solidFill>
              <a:prstDash val="solid"/>
            </a:ln>
          </p:spPr>
          <p:txBody>
            <a:bodyPr/>
            <a:lstStyle/>
            <a:p>
              <a:endParaRPr lang="ko-KR" altLang="en-US" sz="2800"/>
            </a:p>
          </p:txBody>
        </p:sp>
      </p:grpSp>
      <p:sp>
        <p:nvSpPr>
          <p:cNvPr id="89" name="Text 42">
            <a:extLst>
              <a:ext uri="{FF2B5EF4-FFF2-40B4-BE49-F238E27FC236}">
                <a16:creationId xmlns:a16="http://schemas.microsoft.com/office/drawing/2014/main" id="{AAEB203A-3DFD-15F6-C379-5D5878B65851}"/>
              </a:ext>
            </a:extLst>
          </p:cNvPr>
          <p:cNvSpPr/>
          <p:nvPr/>
        </p:nvSpPr>
        <p:spPr>
          <a:xfrm>
            <a:off x="4439872" y="6179553"/>
            <a:ext cx="7493598" cy="305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 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엔진·규칙·9단계·재방문 개인화는 시뮬레이터 PASS로 증명 · 음성 STT·전화망은 표준 계약 설계 완료, 실서비스 확장 시 엔진 연동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BBED31-4885-EB17-9DF7-3507700E1D9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03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요구 구현 결과 검증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FD8EC68-8A43-E8E8-24F2-CF0D8BBF3F17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E6863B-445B-9B44-73E9-3360EBA6A5DC}"/>
              </a:ext>
            </a:extLst>
          </p:cNvPr>
          <p:cNvSpPr txBox="1"/>
          <p:nvPr/>
        </p:nvSpPr>
        <p:spPr>
          <a:xfrm>
            <a:off x="937064" y="1115568"/>
            <a:ext cx="76903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3000" b="1" dirty="0" err="1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요건</a:t>
            </a:r>
            <a:r>
              <a:rPr lang="en-US" altLang="ko-KR" sz="30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000" b="1" dirty="0" err="1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r>
              <a:rPr lang="en-US" altLang="ko-KR" sz="30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000" b="1" dirty="0" err="1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r>
              <a:rPr lang="en-US" altLang="ko-KR" sz="30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_ </a:t>
            </a:r>
            <a:r>
              <a:rPr lang="ko-KR" altLang="en-US" sz="30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altLang="ko-KR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F1A031-A8CB-8CF0-86AF-5698715A7230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구현 </a:t>
            </a:r>
            <a:r>
              <a:rPr lang="en-US" altLang="ko-KR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검증 </a:t>
            </a:r>
            <a:r>
              <a:rPr lang="en-US" altLang="ko-KR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비즈니스</a:t>
            </a:r>
            <a:endParaRPr lang="ko-KR" altLang="en-US" sz="14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2BBA68-01FE-84F3-C0A1-30A1DFAD4716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7208EC-25D2-7D36-D8B6-7DB60F49897F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요건 구현 결과 </a:t>
            </a:r>
            <a:r>
              <a:rPr lang="en-US" altLang="ko-KR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필수요건 </a:t>
            </a:r>
            <a:r>
              <a:rPr lang="en-US" altLang="ko-KR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PASS </a:t>
            </a:r>
            <a:r>
              <a:rPr lang="ko-KR" altLang="en-US" sz="3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화면</a:t>
            </a:r>
          </a:p>
        </p:txBody>
      </p:sp>
      <p:pic>
        <p:nvPicPr>
          <p:cNvPr id="6" name="Image 0" descr="pass_clean.png">
            <a:extLst>
              <a:ext uri="{FF2B5EF4-FFF2-40B4-BE49-F238E27FC236}">
                <a16:creationId xmlns:a16="http://schemas.microsoft.com/office/drawing/2014/main" id="{5FA3FF96-9615-23B6-3036-A283E0B04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492" r="38160"/>
          <a:stretch>
            <a:fillRect/>
          </a:stretch>
        </p:blipFill>
        <p:spPr>
          <a:xfrm>
            <a:off x="7075060" y="0"/>
            <a:ext cx="511694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40" name="Shape 5">
            <a:extLst>
              <a:ext uri="{FF2B5EF4-FFF2-40B4-BE49-F238E27FC236}">
                <a16:creationId xmlns:a16="http://schemas.microsoft.com/office/drawing/2014/main" id="{6731CBA1-7579-944E-4D72-3F6791F3966A}"/>
              </a:ext>
            </a:extLst>
          </p:cNvPr>
          <p:cNvSpPr/>
          <p:nvPr/>
        </p:nvSpPr>
        <p:spPr>
          <a:xfrm>
            <a:off x="937064" y="1856378"/>
            <a:ext cx="4610296" cy="4756796"/>
          </a:xfrm>
          <a:prstGeom prst="roundRect">
            <a:avLst>
              <a:gd name="adj" fmla="val 232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EBA4AAAC-C89A-8E76-288D-040BA779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4" y="2259902"/>
            <a:ext cx="219456" cy="219456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6D5DB4B1-9247-1F02-1096-4113F77C1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4" y="3009710"/>
            <a:ext cx="219456" cy="219456"/>
          </a:xfrm>
          <a:prstGeom prst="rect">
            <a:avLst/>
          </a:prstGeom>
        </p:spPr>
      </p:pic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3720457C-D46C-CA29-7814-C7619A358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4" y="3924110"/>
            <a:ext cx="219456" cy="219456"/>
          </a:xfrm>
          <a:prstGeom prst="rect">
            <a:avLst/>
          </a:prstGeom>
        </p:spPr>
      </p:pic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E5F3F459-7175-7132-3FB8-34E6C1A5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4" y="4820222"/>
            <a:ext cx="219456" cy="219456"/>
          </a:xfrm>
          <a:prstGeom prst="rect">
            <a:avLst/>
          </a:prstGeom>
        </p:spPr>
      </p:pic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EFBAEE7C-110F-C888-6448-E848DC59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4" y="5716334"/>
            <a:ext cx="219456" cy="219456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F8B88EAB-3CC4-FC2A-1FC6-01106271B28B}"/>
              </a:ext>
            </a:extLst>
          </p:cNvPr>
          <p:cNvSpPr/>
          <p:nvPr/>
        </p:nvSpPr>
        <p:spPr>
          <a:xfrm>
            <a:off x="1565860" y="2205038"/>
            <a:ext cx="3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SIMULATION PASS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F052292-895A-E0B3-9C3C-361F58449962}"/>
              </a:ext>
            </a:extLst>
          </p:cNvPr>
          <p:cNvSpPr/>
          <p:nvPr/>
        </p:nvSpPr>
        <p:spPr>
          <a:xfrm>
            <a:off x="1565860" y="2479358"/>
            <a:ext cx="3525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계약·안전·상태전환 검증을 모두 통과 (Evidence 화면 상단 배지)</a:t>
            </a:r>
            <a:endParaRPr lang="en-US" sz="11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48D7B7E-9AE4-ED23-1CAD-67607A9A0440}"/>
              </a:ext>
            </a:extLst>
          </p:cNvPr>
          <p:cNvSpPr/>
          <p:nvPr/>
        </p:nvSpPr>
        <p:spPr>
          <a:xfrm>
            <a:off x="1565860" y="2954846"/>
            <a:ext cx="3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경계 준수</a:t>
            </a:r>
            <a:endParaRPr lang="en-US" sz="16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DB957FA7-44A1-3F03-98BC-6F91E6BB8DC8}"/>
              </a:ext>
            </a:extLst>
          </p:cNvPr>
          <p:cNvSpPr/>
          <p:nvPr/>
        </p:nvSpPr>
        <p:spPr>
          <a:xfrm>
            <a:off x="1565860" y="3229166"/>
            <a:ext cx="3525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stopType: NORMAL_BOUNDARY_STOP ·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 err="1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stopReason</a:t>
            </a: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VERIFY_CART_VERIFIED</a:t>
            </a:r>
            <a:endParaRPr lang="en-US" sz="11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8229F12-3077-DB35-A1AC-131ED0D10182}"/>
              </a:ext>
            </a:extLst>
          </p:cNvPr>
          <p:cNvSpPr/>
          <p:nvPr/>
        </p:nvSpPr>
        <p:spPr>
          <a:xfrm>
            <a:off x="1565860" y="3869246"/>
            <a:ext cx="3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결제·기기명령 미실행</a:t>
            </a:r>
            <a:endParaRPr lang="en-US" sz="16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BF92E48B-E273-B08D-2051-B82C13BC9E62}"/>
              </a:ext>
            </a:extLst>
          </p:cNvPr>
          <p:cNvSpPr/>
          <p:nvPr/>
        </p:nvSpPr>
        <p:spPr>
          <a:xfrm>
            <a:off x="1565860" y="4143566"/>
            <a:ext cx="3525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결제(계획/실행/차단) 0/0/0 ·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 err="1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actualDeviceCommandSent</a:t>
            </a: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=== false</a:t>
            </a:r>
            <a:endParaRPr lang="en-US" sz="11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861232F6-49CD-AC94-0A1F-838F22A6C3C3}"/>
              </a:ext>
            </a:extLst>
          </p:cNvPr>
          <p:cNvSpPr/>
          <p:nvPr/>
        </p:nvSpPr>
        <p:spPr>
          <a:xfrm>
            <a:off x="1565860" y="4765358"/>
            <a:ext cx="3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검증 전 항목 PASS</a:t>
            </a:r>
            <a:endParaRPr lang="en-US" sz="16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AA196D6-7E7F-CDC1-8D4D-2B92B387B70E}"/>
              </a:ext>
            </a:extLst>
          </p:cNvPr>
          <p:cNvSpPr/>
          <p:nvPr/>
        </p:nvSpPr>
        <p:spPr>
          <a:xfrm>
            <a:off x="1565860" y="5039678"/>
            <a:ext cx="3525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submissionValid · boundaryReached · requiredVerifierExecuted 등 초록 PASS</a:t>
            </a:r>
            <a:endParaRPr lang="en-US" sz="11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22A66CCB-C3C5-1B86-3B32-FCB323332C65}"/>
              </a:ext>
            </a:extLst>
          </p:cNvPr>
          <p:cNvSpPr/>
          <p:nvPr/>
        </p:nvSpPr>
        <p:spPr>
          <a:xfrm>
            <a:off x="1565860" y="5661470"/>
            <a:ext cx="3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재실행 가능한 증거</a:t>
            </a:r>
            <a:endParaRPr lang="en-US" sz="16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7079A4FE-D53B-92FE-207D-957AFA22BABC}"/>
              </a:ext>
            </a:extLst>
          </p:cNvPr>
          <p:cNvSpPr/>
          <p:nvPr/>
        </p:nvSpPr>
        <p:spPr>
          <a:xfrm>
            <a:off x="1565860" y="5935790"/>
            <a:ext cx="3525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runId: RUN-chicken-store-20260814 ·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 err="1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resultScope</a:t>
            </a:r>
            <a:r>
              <a:rPr lang="en-US" sz="1100" dirty="0">
                <a:solidFill>
                  <a:srgbClr val="5A62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SIMULATION_VALIDATION_ONLY</a:t>
            </a:r>
            <a:endParaRPr lang="en-US" sz="1100" dirty="0"/>
          </a:p>
        </p:txBody>
      </p:sp>
      <p:sp>
        <p:nvSpPr>
          <p:cNvPr id="11" name="Shape 51">
            <a:extLst>
              <a:ext uri="{FF2B5EF4-FFF2-40B4-BE49-F238E27FC236}">
                <a16:creationId xmlns:a16="http://schemas.microsoft.com/office/drawing/2014/main" id="{0F61B876-48EE-C044-1DDB-4521B90D2ED8}"/>
              </a:ext>
            </a:extLst>
          </p:cNvPr>
          <p:cNvSpPr/>
          <p:nvPr/>
        </p:nvSpPr>
        <p:spPr>
          <a:xfrm flipH="1">
            <a:off x="5740400" y="4143566"/>
            <a:ext cx="1334660" cy="0"/>
          </a:xfrm>
          <a:prstGeom prst="line">
            <a:avLst/>
          </a:prstGeom>
          <a:noFill/>
          <a:ln w="2794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4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25">
            <a:extLst>
              <a:ext uri="{FF2B5EF4-FFF2-40B4-BE49-F238E27FC236}">
                <a16:creationId xmlns:a16="http://schemas.microsoft.com/office/drawing/2014/main" id="{9165A10B-503A-3681-9987-9491D62FB7D6}"/>
              </a:ext>
            </a:extLst>
          </p:cNvPr>
          <p:cNvSpPr/>
          <p:nvPr/>
        </p:nvSpPr>
        <p:spPr>
          <a:xfrm>
            <a:off x="804672" y="2477658"/>
            <a:ext cx="10579608" cy="2610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595547C6-8300-494C-AB7A-3D8F4F40FF8C}"/>
              </a:ext>
            </a:extLst>
          </p:cNvPr>
          <p:cNvSpPr/>
          <p:nvPr/>
        </p:nvSpPr>
        <p:spPr>
          <a:xfrm>
            <a:off x="914400" y="2498489"/>
            <a:ext cx="1965960" cy="23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요소</a:t>
            </a:r>
            <a:endParaRPr lang="en-US" sz="105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B4E82F19-8B76-81DE-5503-D656FEC7E306}"/>
              </a:ext>
            </a:extLst>
          </p:cNvPr>
          <p:cNvSpPr/>
          <p:nvPr/>
        </p:nvSpPr>
        <p:spPr>
          <a:xfrm>
            <a:off x="3063240" y="2498489"/>
            <a:ext cx="3977640" cy="23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방식</a:t>
            </a:r>
            <a:endParaRPr lang="en-US" sz="105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0A977CAE-A898-00E4-9287-DB8444A42C0F}"/>
              </a:ext>
            </a:extLst>
          </p:cNvPr>
          <p:cNvSpPr/>
          <p:nvPr/>
        </p:nvSpPr>
        <p:spPr>
          <a:xfrm>
            <a:off x="7223760" y="2498489"/>
            <a:ext cx="2898648" cy="23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실증 · 검증 근거</a:t>
            </a:r>
            <a:endParaRPr lang="en-US" sz="105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5E3FC329-1C7D-5BEB-ECB8-14671C80A7FF}"/>
              </a:ext>
            </a:extLst>
          </p:cNvPr>
          <p:cNvSpPr/>
          <p:nvPr/>
        </p:nvSpPr>
        <p:spPr>
          <a:xfrm>
            <a:off x="10305288" y="2498489"/>
            <a:ext cx="1005840" cy="23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050" dirty="0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0E594C61-776B-5221-DE06-0DA1CF8B9518}"/>
              </a:ext>
            </a:extLst>
          </p:cNvPr>
          <p:cNvSpPr/>
          <p:nvPr/>
        </p:nvSpPr>
        <p:spPr>
          <a:xfrm>
            <a:off x="804672" y="2746064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913E451B-1421-F705-C1D9-42A456CD4E87}"/>
              </a:ext>
            </a:extLst>
          </p:cNvPr>
          <p:cNvSpPr/>
          <p:nvPr/>
        </p:nvSpPr>
        <p:spPr>
          <a:xfrm>
            <a:off x="914400" y="2746064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 엔진 (2층 구조)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TypeScript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0F8E6C66-6138-11E1-1435-E0DD68D87BA8}"/>
              </a:ext>
            </a:extLst>
          </p:cNvPr>
          <p:cNvSpPr/>
          <p:nvPr/>
        </p:nvSpPr>
        <p:spPr>
          <a:xfrm>
            <a:off x="3063240" y="2746064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코어(질환→추상신호)·어댑터(신호→환경속성) 분리.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</a:t>
            </a: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JSON만 교체하면 코드 수정 없이 규칙 확장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407DB810-0E25-341E-3ABD-580D27BF0D42}"/>
              </a:ext>
            </a:extLst>
          </p:cNvPr>
          <p:cNvSpPr/>
          <p:nvPr/>
        </p:nvSpPr>
        <p:spPr>
          <a:xfrm>
            <a:off x="7223760" y="2746064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health-engine.ts · README_health-logic.md · HOLD_SILENT 보류 로직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F209EA24-E06A-2BC0-3CAD-F94D74E998D5}"/>
              </a:ext>
            </a:extLst>
          </p:cNvPr>
          <p:cNvSpPr/>
          <p:nvPr/>
        </p:nvSpPr>
        <p:spPr>
          <a:xfrm>
            <a:off x="10469880" y="286859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3CFFA53D-DD9B-7396-3BF6-9E5ED3984143}"/>
              </a:ext>
            </a:extLst>
          </p:cNvPr>
          <p:cNvSpPr/>
          <p:nvPr/>
        </p:nvSpPr>
        <p:spPr>
          <a:xfrm>
            <a:off x="10469880" y="286859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9A3BD236-2385-7C5E-44AD-B0F347D15D6A}"/>
              </a:ext>
            </a:extLst>
          </p:cNvPr>
          <p:cNvSpPr/>
          <p:nvPr/>
        </p:nvSpPr>
        <p:spPr>
          <a:xfrm>
            <a:off x="804672" y="3247155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7A2B50E8-5271-B5F0-DA62-3DF258EE4C8C}"/>
              </a:ext>
            </a:extLst>
          </p:cNvPr>
          <p:cNvSpPr/>
          <p:nvPr/>
        </p:nvSpPr>
        <p:spPr>
          <a:xfrm>
            <a:off x="914400" y="3247155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 안전 우선 판정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룰 기반 점수화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FF38370B-D35F-1D09-2825-794AF457D64D}"/>
              </a:ext>
            </a:extLst>
          </p:cNvPr>
          <p:cNvSpPr/>
          <p:nvPr/>
        </p:nvSpPr>
        <p:spPr>
          <a:xfrm>
            <a:off x="3063240" y="3247155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 페널티(−40~−100) &gt; 선호 보너스(+5).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충돌</a:t>
            </a: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건강 안전 후보가 1순위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17A18A10-4BE7-52FF-A033-9678F5565319}"/>
              </a:ext>
            </a:extLst>
          </p:cNvPr>
          <p:cNvSpPr/>
          <p:nvPr/>
        </p:nvSpPr>
        <p:spPr>
          <a:xfrm>
            <a:off x="7223760" y="3247155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실측: 순한 CHICKEN-002 +15 vs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매운</a:t>
            </a: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CHICKEN-001 −95 · confidence 0.72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B96C427C-0275-BFCD-00AA-C225A693A5FF}"/>
              </a:ext>
            </a:extLst>
          </p:cNvPr>
          <p:cNvSpPr/>
          <p:nvPr/>
        </p:nvSpPr>
        <p:spPr>
          <a:xfrm>
            <a:off x="10469880" y="3369685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E4499B95-6088-350F-EC8C-44C7DAB757B6}"/>
              </a:ext>
            </a:extLst>
          </p:cNvPr>
          <p:cNvSpPr/>
          <p:nvPr/>
        </p:nvSpPr>
        <p:spPr>
          <a:xfrm>
            <a:off x="10469880" y="3369685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Shape 42">
            <a:extLst>
              <a:ext uri="{FF2B5EF4-FFF2-40B4-BE49-F238E27FC236}">
                <a16:creationId xmlns:a16="http://schemas.microsoft.com/office/drawing/2014/main" id="{5C25DF41-F6D2-5A7B-D3D0-3E339035DA94}"/>
              </a:ext>
            </a:extLst>
          </p:cNvPr>
          <p:cNvSpPr/>
          <p:nvPr/>
        </p:nvSpPr>
        <p:spPr>
          <a:xfrm>
            <a:off x="804672" y="3748246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208D6465-F8B0-C7C5-C90B-F91A9C50CA2D}"/>
              </a:ext>
            </a:extLst>
          </p:cNvPr>
          <p:cNvSpPr/>
          <p:nvPr/>
        </p:nvSpPr>
        <p:spPr>
          <a:xfrm>
            <a:off x="914400" y="3748246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 · 규칙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22시트 → JSON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666CD4E3-DDE3-DBD5-0A9C-E37EE03990C9}"/>
              </a:ext>
            </a:extLst>
          </p:cNvPr>
          <p:cNvSpPr/>
          <p:nvPr/>
        </p:nvSpPr>
        <p:spPr>
          <a:xfrm>
            <a:off x="3063240" y="3748246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질환·영양소·약물·알레르기·판정정책</a:t>
            </a: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22시트를 JSON 규칙으로 구축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04EE4B62-9AAB-C768-8B2E-117B340B23DD}"/>
              </a:ext>
            </a:extLst>
          </p:cNvPr>
          <p:cNvSpPr/>
          <p:nvPr/>
        </p:nvSpPr>
        <p:spPr>
          <a:xfrm>
            <a:off x="7223760" y="3748246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foodcourt_dataset_v4_3.xlsx (22시트) ·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health-</a:t>
            </a:r>
            <a:r>
              <a:rPr lang="en-US" sz="1000" dirty="0" err="1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rules.json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Shape 46">
            <a:extLst>
              <a:ext uri="{FF2B5EF4-FFF2-40B4-BE49-F238E27FC236}">
                <a16:creationId xmlns:a16="http://schemas.microsoft.com/office/drawing/2014/main" id="{E489F66A-23CE-C959-2663-690ECE9CB7F0}"/>
              </a:ext>
            </a:extLst>
          </p:cNvPr>
          <p:cNvSpPr/>
          <p:nvPr/>
        </p:nvSpPr>
        <p:spPr>
          <a:xfrm>
            <a:off x="10469880" y="387077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B2E0DCA7-AAFF-7C17-2FA5-3B52B865ED91}"/>
              </a:ext>
            </a:extLst>
          </p:cNvPr>
          <p:cNvSpPr/>
          <p:nvPr/>
        </p:nvSpPr>
        <p:spPr>
          <a:xfrm>
            <a:off x="10469880" y="38707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9" name="Shape 48">
            <a:extLst>
              <a:ext uri="{FF2B5EF4-FFF2-40B4-BE49-F238E27FC236}">
                <a16:creationId xmlns:a16="http://schemas.microsoft.com/office/drawing/2014/main" id="{912652CE-DFA3-D535-472F-F18914C4F9E8}"/>
              </a:ext>
            </a:extLst>
          </p:cNvPr>
          <p:cNvSpPr/>
          <p:nvPr/>
        </p:nvSpPr>
        <p:spPr>
          <a:xfrm>
            <a:off x="804672" y="4249338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0442F11E-96F2-84AF-9E64-B8ED09F14472}"/>
              </a:ext>
            </a:extLst>
          </p:cNvPr>
          <p:cNvSpPr/>
          <p:nvPr/>
        </p:nvSpPr>
        <p:spPr>
          <a:xfrm>
            <a:off x="914400" y="4249338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9단계 실행 파이프라인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@kiobridge/contracts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45CEB18E-59A9-7E7D-66B4-6AF9290E9086}"/>
              </a:ext>
            </a:extLst>
          </p:cNvPr>
          <p:cNvSpPr/>
          <p:nvPr/>
        </p:nvSpPr>
        <p:spPr>
          <a:xfrm>
            <a:off x="3063240" y="4249338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정보수집→표준변환→세션→후보필터→추천</a:t>
            </a:r>
            <a:endParaRPr lang="en-US" sz="1000" dirty="0">
              <a:solidFill>
                <a:srgbClr val="1B1F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→설명→대안→결정→실행계획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4E71F7F2-0A39-3E2A-571A-95092B8610DB}"/>
              </a:ext>
            </a:extLst>
          </p:cNvPr>
          <p:cNvSpPr/>
          <p:nvPr/>
        </p:nvSpPr>
        <p:spPr>
          <a:xfrm>
            <a:off x="7223760" y="4249338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계약검증 PASS · 실행계획 9액션(상태전이 검증) ·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</a:t>
            </a: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이유문 실제 생성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Shape 52">
            <a:extLst>
              <a:ext uri="{FF2B5EF4-FFF2-40B4-BE49-F238E27FC236}">
                <a16:creationId xmlns:a16="http://schemas.microsoft.com/office/drawing/2014/main" id="{C830180D-DD95-6474-758C-06530E050770}"/>
              </a:ext>
            </a:extLst>
          </p:cNvPr>
          <p:cNvSpPr/>
          <p:nvPr/>
        </p:nvSpPr>
        <p:spPr>
          <a:xfrm>
            <a:off x="10469880" y="4371867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Text 53">
            <a:extLst>
              <a:ext uri="{FF2B5EF4-FFF2-40B4-BE49-F238E27FC236}">
                <a16:creationId xmlns:a16="http://schemas.microsoft.com/office/drawing/2014/main" id="{AB4EA22C-CB1B-380D-A6CC-1158AA51216C}"/>
              </a:ext>
            </a:extLst>
          </p:cNvPr>
          <p:cNvSpPr/>
          <p:nvPr/>
        </p:nvSpPr>
        <p:spPr>
          <a:xfrm>
            <a:off x="10469880" y="4371867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1" name="Shape 54">
            <a:extLst>
              <a:ext uri="{FF2B5EF4-FFF2-40B4-BE49-F238E27FC236}">
                <a16:creationId xmlns:a16="http://schemas.microsoft.com/office/drawing/2014/main" id="{B1F63232-611B-BC83-A508-642F4460842F}"/>
              </a:ext>
            </a:extLst>
          </p:cNvPr>
          <p:cNvSpPr/>
          <p:nvPr/>
        </p:nvSpPr>
        <p:spPr>
          <a:xfrm>
            <a:off x="804672" y="4750429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1CE612A6-77EE-367B-CD01-F0EEA3ABF735}"/>
              </a:ext>
            </a:extLst>
          </p:cNvPr>
          <p:cNvSpPr/>
          <p:nvPr/>
        </p:nvSpPr>
        <p:spPr>
          <a:xfrm>
            <a:off x="914400" y="4750429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개인정보 · 안전 경계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SHA-256 / STOP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C9BB5315-080F-A852-A56D-7B0D63F77083}"/>
              </a:ext>
            </a:extLst>
          </p:cNvPr>
          <p:cNvSpPr/>
          <p:nvPr/>
        </p:nvSpPr>
        <p:spPr>
          <a:xfrm>
            <a:off x="3063240" y="4750429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전화번호는 되돌릴 수 없는 해시 ID로만 처리, 원본 미저장.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결제·기기명령</a:t>
            </a: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미실행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7" name="Text 57">
            <a:extLst>
              <a:ext uri="{FF2B5EF4-FFF2-40B4-BE49-F238E27FC236}">
                <a16:creationId xmlns:a16="http://schemas.microsoft.com/office/drawing/2014/main" id="{1616CC6F-D273-B596-C76A-1FFDDC21E1E2}"/>
              </a:ext>
            </a:extLst>
          </p:cNvPr>
          <p:cNvSpPr/>
          <p:nvPr/>
        </p:nvSpPr>
        <p:spPr>
          <a:xfrm>
            <a:off x="7223760" y="4750429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phone-to-profile-id.js · actualDeviceCommandSent:false · 외부 API 미사용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9" name="Shape 58">
            <a:extLst>
              <a:ext uri="{FF2B5EF4-FFF2-40B4-BE49-F238E27FC236}">
                <a16:creationId xmlns:a16="http://schemas.microsoft.com/office/drawing/2014/main" id="{211F4128-CA83-0178-4C03-B00F07C559B8}"/>
              </a:ext>
            </a:extLst>
          </p:cNvPr>
          <p:cNvSpPr/>
          <p:nvPr/>
        </p:nvSpPr>
        <p:spPr>
          <a:xfrm>
            <a:off x="10469880" y="487295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F8FF83D0-0423-1F30-AD0D-0AC1394C88D5}"/>
              </a:ext>
            </a:extLst>
          </p:cNvPr>
          <p:cNvSpPr/>
          <p:nvPr/>
        </p:nvSpPr>
        <p:spPr>
          <a:xfrm>
            <a:off x="10469880" y="487295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Shape 60">
            <a:extLst>
              <a:ext uri="{FF2B5EF4-FFF2-40B4-BE49-F238E27FC236}">
                <a16:creationId xmlns:a16="http://schemas.microsoft.com/office/drawing/2014/main" id="{5705D84A-4E2F-3E1B-19F4-7683224EE882}"/>
              </a:ext>
            </a:extLst>
          </p:cNvPr>
          <p:cNvSpPr/>
          <p:nvPr/>
        </p:nvSpPr>
        <p:spPr>
          <a:xfrm>
            <a:off x="804672" y="5251520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Text 61">
            <a:extLst>
              <a:ext uri="{FF2B5EF4-FFF2-40B4-BE49-F238E27FC236}">
                <a16:creationId xmlns:a16="http://schemas.microsoft.com/office/drawing/2014/main" id="{467B773D-386C-4E38-A2CA-4D055BE9C6FE}"/>
              </a:ext>
            </a:extLst>
          </p:cNvPr>
          <p:cNvSpPr/>
          <p:nvPr/>
        </p:nvSpPr>
        <p:spPr>
          <a:xfrm>
            <a:off x="914400" y="5251520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음성 안내 (TTS)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브라우저 TTS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Text 62">
            <a:extLst>
              <a:ext uri="{FF2B5EF4-FFF2-40B4-BE49-F238E27FC236}">
                <a16:creationId xmlns:a16="http://schemas.microsoft.com/office/drawing/2014/main" id="{B743F8E6-7D40-1EC6-0888-4246A4D863E8}"/>
              </a:ext>
            </a:extLst>
          </p:cNvPr>
          <p:cNvSpPr/>
          <p:nvPr/>
        </p:nvSpPr>
        <p:spPr>
          <a:xfrm>
            <a:off x="3063240" y="5251520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 문구를 한국어 음성으로 안내.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큰글씨·고대비와</a:t>
            </a: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함께 배리어프리 지원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9" name="Text 63">
            <a:extLst>
              <a:ext uri="{FF2B5EF4-FFF2-40B4-BE49-F238E27FC236}">
                <a16:creationId xmlns:a16="http://schemas.microsoft.com/office/drawing/2014/main" id="{0D7EEC27-C474-883D-6586-43A74A46DC6E}"/>
              </a:ext>
            </a:extLst>
          </p:cNvPr>
          <p:cNvSpPr/>
          <p:nvPr/>
        </p:nvSpPr>
        <p:spPr>
          <a:xfrm>
            <a:off x="7223760" y="5251520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example-ui/app.js (speechSynthesis 동작) ·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접근성</a:t>
            </a: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VOICE_GUIDANCE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1" name="Shape 64">
            <a:extLst>
              <a:ext uri="{FF2B5EF4-FFF2-40B4-BE49-F238E27FC236}">
                <a16:creationId xmlns:a16="http://schemas.microsoft.com/office/drawing/2014/main" id="{0F26FF68-FC61-65AA-CFB5-01E7A6239DE6}"/>
              </a:ext>
            </a:extLst>
          </p:cNvPr>
          <p:cNvSpPr/>
          <p:nvPr/>
        </p:nvSpPr>
        <p:spPr>
          <a:xfrm>
            <a:off x="10469880" y="537405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3" name="Text 65">
            <a:extLst>
              <a:ext uri="{FF2B5EF4-FFF2-40B4-BE49-F238E27FC236}">
                <a16:creationId xmlns:a16="http://schemas.microsoft.com/office/drawing/2014/main" id="{46D32936-7374-B790-4A4A-4055C88E894A}"/>
              </a:ext>
            </a:extLst>
          </p:cNvPr>
          <p:cNvSpPr/>
          <p:nvPr/>
        </p:nvSpPr>
        <p:spPr>
          <a:xfrm>
            <a:off x="10469880" y="537405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5" name="Shape 66">
            <a:extLst>
              <a:ext uri="{FF2B5EF4-FFF2-40B4-BE49-F238E27FC236}">
                <a16:creationId xmlns:a16="http://schemas.microsoft.com/office/drawing/2014/main" id="{91719032-BB1F-7299-4AC9-2CD446AE71FB}"/>
              </a:ext>
            </a:extLst>
          </p:cNvPr>
          <p:cNvSpPr/>
          <p:nvPr/>
        </p:nvSpPr>
        <p:spPr>
          <a:xfrm>
            <a:off x="804672" y="5752611"/>
            <a:ext cx="10579608" cy="501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7" name="Text 67">
            <a:extLst>
              <a:ext uri="{FF2B5EF4-FFF2-40B4-BE49-F238E27FC236}">
                <a16:creationId xmlns:a16="http://schemas.microsoft.com/office/drawing/2014/main" id="{75448FFC-4825-EBBE-CDF0-7CCE710578F4}"/>
              </a:ext>
            </a:extLst>
          </p:cNvPr>
          <p:cNvSpPr/>
          <p:nvPr/>
        </p:nvSpPr>
        <p:spPr>
          <a:xfrm>
            <a:off x="914400" y="5752611"/>
            <a:ext cx="1965960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음성 인식(STT) · 전화망
</a:t>
            </a:r>
            <a:r>
              <a:rPr lang="en-US" sz="10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표준 입력 계약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9" name="Text 68">
            <a:extLst>
              <a:ext uri="{FF2B5EF4-FFF2-40B4-BE49-F238E27FC236}">
                <a16:creationId xmlns:a16="http://schemas.microsoft.com/office/drawing/2014/main" id="{331E9361-FDE6-3182-9C36-8BBEEECDD57F}"/>
              </a:ext>
            </a:extLst>
          </p:cNvPr>
          <p:cNvSpPr/>
          <p:nvPr/>
        </p:nvSpPr>
        <p:spPr>
          <a:xfrm>
            <a:off x="3063240" y="5752611"/>
            <a:ext cx="3941064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음성/전화 입력을 표준 프로필(canonical)로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변환하는</a:t>
            </a:r>
            <a:r>
              <a:rPr lang="en-US" sz="1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계약 구조 설계. 엔진은 확장 시 연동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1" name="Text 69">
            <a:extLst>
              <a:ext uri="{FF2B5EF4-FFF2-40B4-BE49-F238E27FC236}">
                <a16:creationId xmlns:a16="http://schemas.microsoft.com/office/drawing/2014/main" id="{279CB71A-409A-CC0B-59CF-0E2888BF599D}"/>
              </a:ext>
            </a:extLst>
          </p:cNvPr>
          <p:cNvSpPr/>
          <p:nvPr/>
        </p:nvSpPr>
        <p:spPr>
          <a:xfrm>
            <a:off x="7223760" y="5752611"/>
            <a:ext cx="2862072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voice-input.json 등 입력 예제 · canonical-profile.schema.json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" name="Shape 70">
            <a:extLst>
              <a:ext uri="{FF2B5EF4-FFF2-40B4-BE49-F238E27FC236}">
                <a16:creationId xmlns:a16="http://schemas.microsoft.com/office/drawing/2014/main" id="{6676E0C3-C8FC-BD23-AAC1-B0DD9DB14690}"/>
              </a:ext>
            </a:extLst>
          </p:cNvPr>
          <p:cNvSpPr/>
          <p:nvPr/>
        </p:nvSpPr>
        <p:spPr>
          <a:xfrm>
            <a:off x="10469880" y="5875141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8A929C"/>
          </a:solidFill>
          <a:ln w="12700">
            <a:solidFill>
              <a:srgbClr val="8A929C"/>
            </a:solidFill>
            <a:prstDash val="dash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5" name="Text 71">
            <a:extLst>
              <a:ext uri="{FF2B5EF4-FFF2-40B4-BE49-F238E27FC236}">
                <a16:creationId xmlns:a16="http://schemas.microsoft.com/office/drawing/2014/main" id="{516B9A9F-8CB4-6B2E-9D57-6FF57A595FAC}"/>
              </a:ext>
            </a:extLst>
          </p:cNvPr>
          <p:cNvSpPr/>
          <p:nvPr/>
        </p:nvSpPr>
        <p:spPr>
          <a:xfrm>
            <a:off x="10469880" y="5875141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예정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7" name="Shape 72">
            <a:extLst>
              <a:ext uri="{FF2B5EF4-FFF2-40B4-BE49-F238E27FC236}">
                <a16:creationId xmlns:a16="http://schemas.microsoft.com/office/drawing/2014/main" id="{552AF164-8ADC-B619-18E1-88C8115DA27D}"/>
              </a:ext>
            </a:extLst>
          </p:cNvPr>
          <p:cNvSpPr/>
          <p:nvPr/>
        </p:nvSpPr>
        <p:spPr>
          <a:xfrm>
            <a:off x="833361" y="63614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9" name="Text 73">
            <a:extLst>
              <a:ext uri="{FF2B5EF4-FFF2-40B4-BE49-F238E27FC236}">
                <a16:creationId xmlns:a16="http://schemas.microsoft.com/office/drawing/2014/main" id="{96D5DBE7-8430-2968-8695-C2C740D35657}"/>
              </a:ext>
            </a:extLst>
          </p:cNvPr>
          <p:cNvSpPr/>
          <p:nvPr/>
        </p:nvSpPr>
        <p:spPr>
          <a:xfrm>
            <a:off x="833361" y="6361459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1" name="Text 74">
            <a:extLst>
              <a:ext uri="{FF2B5EF4-FFF2-40B4-BE49-F238E27FC236}">
                <a16:creationId xmlns:a16="http://schemas.microsoft.com/office/drawing/2014/main" id="{8FD10E4F-6BAB-1627-0861-B9DD0E2A53EB}"/>
              </a:ext>
            </a:extLst>
          </p:cNvPr>
          <p:cNvSpPr/>
          <p:nvPr/>
        </p:nvSpPr>
        <p:spPr>
          <a:xfrm>
            <a:off x="1363713" y="6324883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시뮬레이터 PASS로 증명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3" name="Shape 75">
            <a:extLst>
              <a:ext uri="{FF2B5EF4-FFF2-40B4-BE49-F238E27FC236}">
                <a16:creationId xmlns:a16="http://schemas.microsoft.com/office/drawing/2014/main" id="{4212DA83-6203-996D-1B24-89F9D3CABE2D}"/>
              </a:ext>
            </a:extLst>
          </p:cNvPr>
          <p:cNvSpPr/>
          <p:nvPr/>
        </p:nvSpPr>
        <p:spPr>
          <a:xfrm>
            <a:off x="2746286" y="63614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5" name="Text 76">
            <a:extLst>
              <a:ext uri="{FF2B5EF4-FFF2-40B4-BE49-F238E27FC236}">
                <a16:creationId xmlns:a16="http://schemas.microsoft.com/office/drawing/2014/main" id="{75DAE7D7-F6F9-160B-C82B-32014FCB8229}"/>
              </a:ext>
            </a:extLst>
          </p:cNvPr>
          <p:cNvSpPr/>
          <p:nvPr/>
        </p:nvSpPr>
        <p:spPr>
          <a:xfrm>
            <a:off x="2746286" y="6361459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부분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7" name="Text 77">
            <a:extLst>
              <a:ext uri="{FF2B5EF4-FFF2-40B4-BE49-F238E27FC236}">
                <a16:creationId xmlns:a16="http://schemas.microsoft.com/office/drawing/2014/main" id="{E5FFA25D-D3A1-CCCF-D54E-BBCA236FB72D}"/>
              </a:ext>
            </a:extLst>
          </p:cNvPr>
          <p:cNvSpPr/>
          <p:nvPr/>
        </p:nvSpPr>
        <p:spPr>
          <a:xfrm>
            <a:off x="3276638" y="6324883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코드로 동작 확인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9" name="Shape 78">
            <a:extLst>
              <a:ext uri="{FF2B5EF4-FFF2-40B4-BE49-F238E27FC236}">
                <a16:creationId xmlns:a16="http://schemas.microsoft.com/office/drawing/2014/main" id="{F4408BD2-B076-3E80-FEDD-7CBB52E099A3}"/>
              </a:ext>
            </a:extLst>
          </p:cNvPr>
          <p:cNvSpPr/>
          <p:nvPr/>
        </p:nvSpPr>
        <p:spPr>
          <a:xfrm>
            <a:off x="4507420" y="63614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8A929C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1" name="Text 79">
            <a:extLst>
              <a:ext uri="{FF2B5EF4-FFF2-40B4-BE49-F238E27FC236}">
                <a16:creationId xmlns:a16="http://schemas.microsoft.com/office/drawing/2014/main" id="{AAA118FD-36EE-FDFE-C9A1-522CFCD1D0FC}"/>
              </a:ext>
            </a:extLst>
          </p:cNvPr>
          <p:cNvSpPr/>
          <p:nvPr/>
        </p:nvSpPr>
        <p:spPr>
          <a:xfrm>
            <a:off x="4507420" y="6361459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3" name="Text 80">
            <a:extLst>
              <a:ext uri="{FF2B5EF4-FFF2-40B4-BE49-F238E27FC236}">
                <a16:creationId xmlns:a16="http://schemas.microsoft.com/office/drawing/2014/main" id="{86CE05F3-E9FF-B37E-C259-C7B26B910041}"/>
              </a:ext>
            </a:extLst>
          </p:cNvPr>
          <p:cNvSpPr/>
          <p:nvPr/>
        </p:nvSpPr>
        <p:spPr>
          <a:xfrm>
            <a:off x="5037772" y="6324883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2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표준 계약 설계 완료·엔진 연동 확장 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A12C51-3D54-8A37-D4FA-E14B0F7DB026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구현 </a:t>
            </a:r>
            <a:r>
              <a:rPr lang="en-US" altLang="ko-KR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검증 </a:t>
            </a:r>
            <a:r>
              <a:rPr lang="en-US" altLang="ko-KR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비즈니스</a:t>
            </a:r>
            <a:endParaRPr lang="ko-KR" altLang="en-US" sz="14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CBDF2EE-40C9-68C0-A055-C2E50194D20E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2F4C89-A7D7-4BA2-31C5-7B816FFC740F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시뮬레이터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PASS 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상세 내용</a:t>
            </a:r>
            <a:endParaRPr lang="ko-KR" altLang="en-US" sz="30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44">
            <a:extLst>
              <a:ext uri="{FF2B5EF4-FFF2-40B4-BE49-F238E27FC236}">
                <a16:creationId xmlns:a16="http://schemas.microsoft.com/office/drawing/2014/main" id="{7E11C3A4-22E8-E35E-628B-EF3E84E327DC}"/>
              </a:ext>
            </a:extLst>
          </p:cNvPr>
          <p:cNvSpPr/>
          <p:nvPr/>
        </p:nvSpPr>
        <p:spPr>
          <a:xfrm>
            <a:off x="804672" y="1897566"/>
            <a:ext cx="10579608" cy="469937"/>
          </a:xfrm>
          <a:prstGeom prst="roundRect">
            <a:avLst>
              <a:gd name="adj" fmla="val 50000"/>
            </a:avLst>
          </a:prstGeom>
          <a:solidFill>
            <a:srgbClr val="14243D"/>
          </a:solidFill>
          <a:ln w="1905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전화망 연동 제외 모두 시뮬레이터 및 코드로 확인 완료</a:t>
            </a:r>
            <a:endParaRPr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1">
                <a:solidFill>
                  <a:srgbClr val="3A537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245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팀의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목표와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자체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</a:t>
            </a:r>
            <a:endParaRPr sz="40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7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F84F0151-F7EC-A935-95D4-FE58C005CFCC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03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ADC6CC8-D98B-E3D7-6013-F3745E72259B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6D25CC5-2C2F-18BF-D7D7-71AAD7866546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팀 자체 평가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요약</a:t>
            </a:r>
            <a:endParaRPr lang="ko-KR" altLang="en-US" sz="30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A392424-0E2E-CA39-5DA3-33D88F79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44260"/>
              </p:ext>
            </p:extLst>
          </p:nvPr>
        </p:nvGraphicFramePr>
        <p:xfrm>
          <a:off x="839788" y="2963782"/>
          <a:ext cx="10629900" cy="356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095">
                  <a:extLst>
                    <a:ext uri="{9D8B030D-6E8A-4147-A177-3AD203B41FA5}">
                      <a16:colId xmlns:a16="http://schemas.microsoft.com/office/drawing/2014/main" val="1766328732"/>
                    </a:ext>
                  </a:extLst>
                </a:gridCol>
                <a:gridCol w="4578493">
                  <a:extLst>
                    <a:ext uri="{9D8B030D-6E8A-4147-A177-3AD203B41FA5}">
                      <a16:colId xmlns:a16="http://schemas.microsoft.com/office/drawing/2014/main" val="2841413226"/>
                    </a:ext>
                  </a:extLst>
                </a:gridCol>
                <a:gridCol w="4900312">
                  <a:extLst>
                    <a:ext uri="{9D8B030D-6E8A-4147-A177-3AD203B41FA5}">
                      <a16:colId xmlns:a16="http://schemas.microsoft.com/office/drawing/2014/main" val="359722949"/>
                    </a:ext>
                  </a:extLst>
                </a:gridCol>
              </a:tblGrid>
              <a:tr h="292668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가설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목표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검증 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평가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525115"/>
                  </a:ext>
                </a:extLst>
              </a:tr>
              <a:tr h="8808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차별성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전화망 기반 접근이면 </a:t>
                      </a:r>
                      <a:endParaRPr lang="en-US" altLang="ko-KR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기기 교체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앱 설치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학습 없이 </a:t>
                      </a:r>
                      <a:endParaRPr lang="en-US" altLang="ko-KR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2G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폰 사용자까지 주문 가능</a:t>
                      </a:r>
                      <a:endParaRPr lang="en-US" altLang="ko-KR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전화망 접근은 유일 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 </a:t>
                      </a:r>
                      <a:r>
                        <a:rPr lang="ko-KR" altLang="en-US" sz="1600" b="0" dirty="0" err="1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폴더폰까지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커버</a:t>
                      </a: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ko-KR" altLang="en-US" sz="1600" b="1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✅ 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008715"/>
                  </a:ext>
                </a:extLst>
              </a:tr>
              <a:tr h="8395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완성도</a:t>
                      </a:r>
                      <a:endParaRPr lang="en-US" altLang="ko-KR" sz="16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600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실배포</a:t>
                      </a:r>
                      <a:r>
                        <a:rPr lang="ko-KR" altLang="ko-KR" sz="16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환경에서 주문 전 과정을 </a:t>
                      </a:r>
                      <a:endParaRPr lang="en-US" altLang="ko-KR" sz="16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6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오류 없이 완주 가능</a:t>
                      </a:r>
                      <a:endParaRPr lang="ko-KR" altLang="en-US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ko-KR" sz="1600" b="0" dirty="0" err="1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Vercel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배포 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 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시뮬레이터 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PASS </a:t>
                      </a: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✅ </a:t>
                      </a:r>
                      <a:r>
                        <a:rPr lang="ko-KR" altLang="en-US" sz="1600" b="1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전화연동 제외 </a:t>
                      </a:r>
                      <a:r>
                        <a:rPr lang="ko-KR" altLang="en-US" sz="1600" b="1" dirty="0" err="1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실배포</a:t>
                      </a:r>
                      <a:r>
                        <a:rPr lang="en-US" altLang="ko-KR" sz="1600" b="1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</a:t>
                      </a:r>
                      <a:r>
                        <a:rPr lang="ko-KR" altLang="en-US" sz="1600" b="1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시뮬레이션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571254"/>
                  </a:ext>
                </a:extLst>
              </a:tr>
              <a:tr h="8395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효과성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화면 탐색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을 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 받기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'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 대체하면</a:t>
                      </a:r>
                      <a:endParaRPr lang="en-US" altLang="ko-KR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주문 </a:t>
                      </a:r>
                      <a:r>
                        <a:rPr lang="ko-KR" altLang="en-US" sz="1600" b="0" dirty="0" err="1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완주율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상승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소요시간 단축됨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ko-KR" altLang="en-US" sz="1600" b="0" dirty="0" err="1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완주율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·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소요시간 세션 로그 측정 설계</a:t>
                      </a: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🔄 </a:t>
                      </a:r>
                      <a:r>
                        <a:rPr lang="ko-KR" altLang="en-US" sz="1600" b="1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파일럿 측정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21542"/>
                  </a:ext>
                </a:extLst>
              </a:tr>
              <a:tr h="633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편의성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익숙한 매체를 융합 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핸드폰 통화</a:t>
                      </a:r>
                      <a:r>
                        <a:rPr lang="en-US" altLang="ko-KR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하면</a:t>
                      </a:r>
                      <a:endParaRPr lang="en-US" altLang="ko-KR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편의성 극대화됨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ko-KR" altLang="en-US" sz="1600" b="0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전화 주문에 대한 거부감 없음 확인 </a:t>
                      </a:r>
                      <a:endParaRPr lang="en-US" altLang="ko-KR" sz="1600" b="0" dirty="0">
                        <a:solidFill>
                          <a:srgbClr val="1B1F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ko-KR" altLang="en-US" sz="1600" b="1" dirty="0">
                          <a:solidFill>
                            <a:srgbClr val="1B1F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✅ 설문으로 의향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74994"/>
                  </a:ext>
                </a:extLst>
              </a:tr>
            </a:tbl>
          </a:graphicData>
        </a:graphic>
      </p:graphicFrame>
      <p:sp>
        <p:nvSpPr>
          <p:cNvPr id="10" name="Rounded Rectangle 36">
            <a:extLst>
              <a:ext uri="{FF2B5EF4-FFF2-40B4-BE49-F238E27FC236}">
                <a16:creationId xmlns:a16="http://schemas.microsoft.com/office/drawing/2014/main" id="{2FF90F7D-2580-0C5B-6785-D53F20F41FB7}"/>
              </a:ext>
            </a:extLst>
          </p:cNvPr>
          <p:cNvSpPr/>
          <p:nvPr/>
        </p:nvSpPr>
        <p:spPr>
          <a:xfrm>
            <a:off x="808831" y="2065596"/>
            <a:ext cx="5287169" cy="593335"/>
          </a:xfrm>
          <a:prstGeom prst="roundRect">
            <a:avLst/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ko-KR" altLang="en-US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키오스크를 어려워하는 사람들도</a:t>
            </a:r>
            <a:r>
              <a:rPr lang="en-US" altLang="ko-KR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배움없이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사용</a:t>
            </a:r>
            <a:r>
              <a:rPr lang="en-US" altLang="ko-KR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2" name="Rounded Rectangle 36">
            <a:extLst>
              <a:ext uri="{FF2B5EF4-FFF2-40B4-BE49-F238E27FC236}">
                <a16:creationId xmlns:a16="http://schemas.microsoft.com/office/drawing/2014/main" id="{43B6F4B4-521B-A72E-6D06-9F4C0DD6F01B}"/>
              </a:ext>
            </a:extLst>
          </p:cNvPr>
          <p:cNvSpPr/>
          <p:nvPr/>
        </p:nvSpPr>
        <p:spPr>
          <a:xfrm>
            <a:off x="6182519" y="2065596"/>
            <a:ext cx="5287169" cy="593335"/>
          </a:xfrm>
          <a:prstGeom prst="roundRect">
            <a:avLst/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ko-KR" altLang="en-US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재방문마다 </a:t>
            </a:r>
            <a:r>
              <a:rPr lang="ko-KR" altLang="en-US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똑똑해지는</a:t>
            </a:r>
            <a:r>
              <a:rPr lang="en-US" altLang="ko-KR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건강 추천 로직</a:t>
            </a:r>
            <a:r>
              <a:rPr lang="en-US" altLang="ko-KR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233C1-28C2-F08F-45FA-B567EFBAFA33}"/>
              </a:ext>
            </a:extLst>
          </p:cNvPr>
          <p:cNvSpPr txBox="1"/>
          <p:nvPr/>
        </p:nvSpPr>
        <p:spPr>
          <a:xfrm>
            <a:off x="3091498" y="1633533"/>
            <a:ext cx="6096000" cy="38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1800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[ </a:t>
            </a:r>
            <a:r>
              <a:rPr lang="ko-KR" altLang="en-US" sz="1800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서비스 최종 목표 </a:t>
            </a:r>
            <a:r>
              <a:rPr lang="en-US" altLang="ko-KR" sz="1800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2F40-287F-B775-DF08-1223D235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36">
            <a:extLst>
              <a:ext uri="{FF2B5EF4-FFF2-40B4-BE49-F238E27FC236}">
                <a16:creationId xmlns:a16="http://schemas.microsoft.com/office/drawing/2014/main" id="{F4E6FFB7-F0AB-A474-D4B0-DACB9BA7776B}"/>
              </a:ext>
            </a:extLst>
          </p:cNvPr>
          <p:cNvSpPr/>
          <p:nvPr/>
        </p:nvSpPr>
        <p:spPr>
          <a:xfrm>
            <a:off x="951161" y="2581973"/>
            <a:ext cx="3580209" cy="661549"/>
          </a:xfrm>
          <a:prstGeom prst="roundRect">
            <a:avLst/>
          </a:prstGeom>
          <a:solidFill>
            <a:srgbClr val="FFC72C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1632A4-4244-7AE9-6581-0CCA0F14134A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04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DCBF1EA0-6868-2600-C1AF-466BABE20B19}"/>
              </a:ext>
            </a:extLst>
          </p:cNvPr>
          <p:cNvSpPr/>
          <p:nvPr/>
        </p:nvSpPr>
        <p:spPr>
          <a:xfrm>
            <a:off x="7808771" y="3272853"/>
            <a:ext cx="2958850" cy="661549"/>
          </a:xfrm>
          <a:prstGeom prst="roundRect">
            <a:avLst/>
          </a:prstGeom>
          <a:solidFill>
            <a:srgbClr val="FFC72C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903DB27-608B-A83E-6E0B-4F84898575A5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ounded Rectangle 36">
            <a:extLst>
              <a:ext uri="{FF2B5EF4-FFF2-40B4-BE49-F238E27FC236}">
                <a16:creationId xmlns:a16="http://schemas.microsoft.com/office/drawing/2014/main" id="{204BD1CD-C5A4-4F41-EF39-A2556E8106B9}"/>
              </a:ext>
            </a:extLst>
          </p:cNvPr>
          <p:cNvSpPr/>
          <p:nvPr/>
        </p:nvSpPr>
        <p:spPr>
          <a:xfrm>
            <a:off x="5720090" y="5457620"/>
            <a:ext cx="4106198" cy="661549"/>
          </a:xfrm>
          <a:prstGeom prst="roundRect">
            <a:avLst/>
          </a:prstGeom>
          <a:solidFill>
            <a:srgbClr val="FFC72C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36D7DB-6A7B-A985-B4B6-D968A8A20549}"/>
              </a:ext>
            </a:extLst>
          </p:cNvPr>
          <p:cNvSpPr txBox="1"/>
          <p:nvPr/>
        </p:nvSpPr>
        <p:spPr>
          <a:xfrm>
            <a:off x="937064" y="1115568"/>
            <a:ext cx="337585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팀 목표</a:t>
            </a:r>
            <a:endParaRPr lang="ko-KR" altLang="en-US" sz="30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Rounded Rectangle 36">
            <a:extLst>
              <a:ext uri="{FF2B5EF4-FFF2-40B4-BE49-F238E27FC236}">
                <a16:creationId xmlns:a16="http://schemas.microsoft.com/office/drawing/2014/main" id="{E7E437E4-27D9-7C6E-2F16-33CE7A0A2C1B}"/>
              </a:ext>
            </a:extLst>
          </p:cNvPr>
          <p:cNvSpPr/>
          <p:nvPr/>
        </p:nvSpPr>
        <p:spPr>
          <a:xfrm>
            <a:off x="937064" y="4729411"/>
            <a:ext cx="5241784" cy="661549"/>
          </a:xfrm>
          <a:prstGeom prst="roundRect">
            <a:avLst/>
          </a:prstGeom>
          <a:solidFill>
            <a:srgbClr val="FFC72C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BCA90-24DB-BCDA-D25E-577AED035356}"/>
              </a:ext>
            </a:extLst>
          </p:cNvPr>
          <p:cNvSpPr txBox="1"/>
          <p:nvPr/>
        </p:nvSpPr>
        <p:spPr>
          <a:xfrm>
            <a:off x="1018354" y="2548895"/>
            <a:ext cx="10629900" cy="3574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전화 매체를 융합 </a:t>
            </a:r>
            <a:r>
              <a:rPr lang="ko-KR" altLang="en-US" sz="4100" dirty="0">
                <a:latin typeface="Pretendard"/>
                <a:ea typeface="Pretendard"/>
                <a:cs typeface="Pretendard"/>
              </a:rPr>
              <a:t>하여</a:t>
            </a:r>
            <a:endParaRPr lang="en-US" altLang="ko-KR" sz="41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5000"/>
              </a:lnSpc>
            </a:pPr>
            <a:r>
              <a:rPr lang="ko-KR" altLang="en-US" sz="4100" dirty="0">
                <a:latin typeface="Pretendard"/>
                <a:ea typeface="Pretendard"/>
                <a:cs typeface="Pretendard"/>
              </a:rPr>
              <a:t>키오스크를 어려워하는 사람들도</a:t>
            </a:r>
            <a:r>
              <a:rPr lang="en-US" altLang="ko-KR" sz="4100" dirty="0"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4100" b="1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배움없이</a:t>
            </a:r>
            <a:r>
              <a:rPr lang="ko-KR" altLang="en-US" sz="41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사용</a:t>
            </a:r>
            <a:r>
              <a:rPr lang="en-US" altLang="ko-KR" sz="41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>
              <a:lnSpc>
                <a:spcPct val="115000"/>
              </a:lnSpc>
            </a:pPr>
            <a:endParaRPr lang="en-US" altLang="ko-KR" sz="4100" dirty="0">
              <a:latin typeface="Pretendard"/>
              <a:ea typeface="Pretendard"/>
              <a:cs typeface="Pretendard"/>
            </a:endParaRPr>
          </a:p>
          <a:p>
            <a:pPr>
              <a:lnSpc>
                <a:spcPct val="115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지난 주문부터 영양까지</a:t>
            </a:r>
            <a:r>
              <a:rPr lang="en-US" altLang="ko-KR" sz="41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41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altLang="ko-KR" sz="4100" dirty="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15000"/>
              </a:lnSpc>
            </a:pPr>
            <a:r>
              <a:rPr lang="ko-KR" altLang="en-US" sz="4100" dirty="0">
                <a:latin typeface="Pretendard"/>
                <a:ea typeface="Pretendard"/>
                <a:cs typeface="Pretendard"/>
              </a:rPr>
              <a:t>재방문마다 </a:t>
            </a:r>
            <a:r>
              <a:rPr lang="ko-KR" altLang="en-US" sz="4100" dirty="0" err="1">
                <a:latin typeface="Pretendard"/>
                <a:ea typeface="Pretendard"/>
                <a:cs typeface="Pretendard"/>
              </a:rPr>
              <a:t>똑똑해지는</a:t>
            </a:r>
            <a:r>
              <a:rPr lang="ko-KR" altLang="en-US" sz="4100" dirty="0"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4100" b="1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건강 기반 추천 로직 </a:t>
            </a:r>
            <a:r>
              <a:rPr lang="ko-KR" altLang="en-US" sz="4100" dirty="0">
                <a:latin typeface="Pretendard"/>
                <a:ea typeface="Pretendard"/>
                <a:cs typeface="Pretendard"/>
              </a:rPr>
              <a:t>설계</a:t>
            </a:r>
            <a:r>
              <a:rPr lang="en-US" altLang="ko-KR" sz="4100" dirty="0">
                <a:latin typeface="Pretendard"/>
                <a:ea typeface="Pretendard"/>
                <a:cs typeface="Pretendard"/>
              </a:rPr>
              <a:t>.</a:t>
            </a:r>
            <a:endParaRPr lang="ko-KR" altLang="en-US" sz="4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50B9F0-B200-8318-E40F-65EA5F21ACCE}"/>
              </a:ext>
            </a:extLst>
          </p:cNvPr>
          <p:cNvSpPr txBox="1"/>
          <p:nvPr/>
        </p:nvSpPr>
        <p:spPr>
          <a:xfrm>
            <a:off x="937064" y="2095262"/>
            <a:ext cx="1155896" cy="420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1.</a:t>
            </a:r>
            <a:endParaRPr lang="ko-KR" altLang="en-US" sz="20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D6DB51-E996-62EA-F734-7261ED7DDB94}"/>
              </a:ext>
            </a:extLst>
          </p:cNvPr>
          <p:cNvSpPr txBox="1"/>
          <p:nvPr/>
        </p:nvSpPr>
        <p:spPr>
          <a:xfrm>
            <a:off x="937064" y="4275778"/>
            <a:ext cx="1155896" cy="420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2.</a:t>
            </a:r>
            <a:endParaRPr lang="ko-KR" altLang="en-US" sz="2000" b="1" dirty="0">
              <a:solidFill>
                <a:schemeClr val="bg1">
                  <a:lumMod val="65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51134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D6C77-7A4B-D89B-013F-895A9D2F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3D239C5-16E2-5A3B-7D1E-F55C74A280AD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04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F8EF0EE-D4CA-1561-EB5F-B74967A9E620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5BC39B1-D13D-57A3-E473-38AD876BBA28}"/>
              </a:ext>
            </a:extLst>
          </p:cNvPr>
          <p:cNvSpPr txBox="1"/>
          <p:nvPr/>
        </p:nvSpPr>
        <p:spPr>
          <a:xfrm>
            <a:off x="937064" y="1115568"/>
            <a:ext cx="8218511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차별성 평가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키오스크의 궁극적 니즈 연구에서 시작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CD58982-ABD6-D016-4C5C-0FE3F78FD851}"/>
              </a:ext>
            </a:extLst>
          </p:cNvPr>
          <p:cNvSpPr/>
          <p:nvPr/>
        </p:nvSpPr>
        <p:spPr>
          <a:xfrm>
            <a:off x="968001" y="1993256"/>
            <a:ext cx="2564247" cy="2564247"/>
          </a:xfrm>
          <a:prstGeom prst="ellipse">
            <a:avLst/>
          </a:prstGeom>
          <a:solidFill>
            <a:srgbClr val="14243D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최소한의 정보로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간편 가입 프로세스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9008FBA-03F8-1788-08E6-678ABE305361}"/>
              </a:ext>
            </a:extLst>
          </p:cNvPr>
          <p:cNvSpPr/>
          <p:nvPr/>
        </p:nvSpPr>
        <p:spPr>
          <a:xfrm>
            <a:off x="4872615" y="1993256"/>
            <a:ext cx="2564247" cy="2564247"/>
          </a:xfrm>
          <a:prstGeom prst="ellipse">
            <a:avLst/>
          </a:prstGeom>
          <a:solidFill>
            <a:srgbClr val="14243D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(2G</a:t>
            </a: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폰까지 커버</a:t>
            </a:r>
            <a:r>
              <a: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 툴을 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활용한 음성인식 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사용성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12FF548-0CB2-9211-51D6-EA35A95DFD79}"/>
              </a:ext>
            </a:extLst>
          </p:cNvPr>
          <p:cNvSpPr/>
          <p:nvPr/>
        </p:nvSpPr>
        <p:spPr>
          <a:xfrm>
            <a:off x="8777229" y="1993256"/>
            <a:ext cx="2564247" cy="2564247"/>
          </a:xfrm>
          <a:prstGeom prst="ellipse">
            <a:avLst/>
          </a:prstGeom>
          <a:solidFill>
            <a:srgbClr val="14243D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 정보 활용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정말 나를 위한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 로직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471052-9836-9089-1430-F27615011710}"/>
              </a:ext>
            </a:extLst>
          </p:cNvPr>
          <p:cNvSpPr txBox="1"/>
          <p:nvPr/>
        </p:nvSpPr>
        <p:spPr>
          <a:xfrm>
            <a:off x="686513" y="4834491"/>
            <a:ext cx="31272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주문을 먼저하고</a:t>
            </a:r>
            <a:r>
              <a:rPr lang="en-US" altLang="ko-KR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주문을 바탕으로 가입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처리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</a:p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추가 정보는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주문후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입력 가능하나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안해도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주문시마다 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프로필 내용 업데이트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8B81D8-3C45-5232-558F-CE3CF60AD1E4}"/>
              </a:ext>
            </a:extLst>
          </p:cNvPr>
          <p:cNvSpPr txBox="1"/>
          <p:nvPr/>
        </p:nvSpPr>
        <p:spPr>
          <a:xfrm>
            <a:off x="4622851" y="4834491"/>
            <a:ext cx="31272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주문 수단이 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QR</a:t>
            </a:r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주문으로 이동되는 시점</a:t>
            </a:r>
            <a:endParaRPr lang="en-US" altLang="ko-KR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가장 큰 니즈가 나오는 타겟층 커버</a:t>
            </a:r>
            <a:endParaRPr lang="en-US" altLang="ko-KR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</a:p>
          <a:p>
            <a:pPr algn="ctr"/>
            <a:r>
              <a:rPr lang="ko-KR" altLang="en-US" sz="16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전화와 키오스크를 연동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시켜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전화로 주문 가능 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DC7BBB-C902-3FD6-016F-10CED8E73DDE}"/>
              </a:ext>
            </a:extLst>
          </p:cNvPr>
          <p:cNvSpPr txBox="1"/>
          <p:nvPr/>
        </p:nvSpPr>
        <p:spPr>
          <a:xfrm>
            <a:off x="8495741" y="4834491"/>
            <a:ext cx="31272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웰니스</a:t>
            </a:r>
            <a:r>
              <a:rPr lang="en-US" altLang="ko-KR" sz="16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웰에이징</a:t>
            </a:r>
            <a:r>
              <a:rPr lang="en-US" altLang="ko-KR" sz="16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웰다잉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건강에 대한 관심 증가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</a:p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주요 타겟층의 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건강관련 수요에</a:t>
            </a:r>
            <a:r>
              <a:rPr lang="en-US" altLang="ko-KR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따라 </a:t>
            </a:r>
            <a:endParaRPr lang="en-US" altLang="ko-KR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맞춤 건강 </a:t>
            </a:r>
            <a:r>
              <a:rPr lang="ko-KR" altLang="en-US" sz="1600" b="1" u="sng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추천로직</a:t>
            </a:r>
            <a:r>
              <a:rPr lang="ko-KR" altLang="en-US" sz="1600" b="1" u="sng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설계</a:t>
            </a:r>
            <a:endParaRPr lang="en-US" altLang="ko-KR" sz="1600" b="1" u="sng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974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E6B3B-E747-ADD1-9ACC-0C883B9A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다리꼴 4">
            <a:extLst>
              <a:ext uri="{FF2B5EF4-FFF2-40B4-BE49-F238E27FC236}">
                <a16:creationId xmlns:a16="http://schemas.microsoft.com/office/drawing/2014/main" id="{AEB3D66B-CC9B-3E9B-80E6-E461DD3467E3}"/>
              </a:ext>
            </a:extLst>
          </p:cNvPr>
          <p:cNvSpPr/>
          <p:nvPr/>
        </p:nvSpPr>
        <p:spPr>
          <a:xfrm rot="10800000">
            <a:off x="645147" y="3021797"/>
            <a:ext cx="11196332" cy="1188721"/>
          </a:xfrm>
          <a:prstGeom prst="trapezoid">
            <a:avLst>
              <a:gd name="adj" fmla="val 64922"/>
            </a:avLst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B87CC7-328F-A4F3-82F1-FE1F122461B1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04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C4498AD-AC2D-EAA7-3530-A1D2591955C2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9F1B97E-BB2F-89C4-A5B0-9A7BAEE141C4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완성도 평가 _ 시뮬레이션 외 부분은 </a:t>
            </a:r>
            <a:r>
              <a:rPr lang="ko-KR" altLang="en-US" sz="3000" b="1" dirty="0">
                <a:solidFill>
                  <a:srgbClr val="C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 </a:t>
            </a:r>
            <a:r>
              <a:rPr lang="ko-KR" altLang="en-US" sz="3000" b="1" dirty="0" err="1">
                <a:solidFill>
                  <a:srgbClr val="C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구현후</a:t>
            </a:r>
            <a:r>
              <a:rPr lang="ko-KR" altLang="en-US" sz="3000" b="1" dirty="0">
                <a:solidFill>
                  <a:srgbClr val="C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3000" b="1" dirty="0">
                <a:solidFill>
                  <a:srgbClr val="C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QA </a:t>
            </a:r>
            <a:r>
              <a:rPr lang="ko-KR" altLang="en-US" sz="3000" b="1" dirty="0">
                <a:solidFill>
                  <a:srgbClr val="C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1990383"/>
            <a:ext cx="2697480" cy="1188720"/>
          </a:xfrm>
          <a:prstGeom prst="roundRect">
            <a:avLst/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1247" y="2154975"/>
            <a:ext cx="23317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 err="1">
                <a:solidFill>
                  <a:srgbClr val="FFC7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실서비스</a:t>
            </a:r>
            <a:r>
              <a:rPr sz="900" b="1" dirty="0">
                <a:solidFill>
                  <a:srgbClr val="FFC7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900" b="1" dirty="0" err="1">
                <a:solidFill>
                  <a:srgbClr val="FFC7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</a:t>
            </a:r>
            <a:endParaRPr sz="900" b="1" dirty="0">
              <a:solidFill>
                <a:srgbClr val="FFC72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1247" y="2339706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Vercel</a:t>
            </a:r>
            <a:r>
              <a:rPr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0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</a:t>
            </a:r>
            <a:r>
              <a:rPr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2767623"/>
            <a:ext cx="2331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지금</a:t>
            </a:r>
            <a:r>
              <a:rPr sz="1050" b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접속</a:t>
            </a:r>
            <a:r>
              <a:rPr sz="1050" b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가능</a:t>
            </a:r>
            <a:endParaRPr sz="1050" b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474720" y="1990383"/>
            <a:ext cx="2697480" cy="1188720"/>
          </a:xfrm>
          <a:prstGeom prst="roundRect">
            <a:avLst/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75887" y="2154975"/>
            <a:ext cx="23317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C7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공식 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7" y="2339706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75887" y="2767623"/>
            <a:ext cx="2331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validate --execute 통과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1990383"/>
            <a:ext cx="2697480" cy="1188720"/>
          </a:xfrm>
          <a:prstGeom prst="roundRect">
            <a:avLst/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510528" y="2154975"/>
            <a:ext cx="23317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C7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음성 인식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2339706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77개 문장 통과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2767623"/>
            <a:ext cx="2331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선호·메뉴명·약·의도</a:t>
            </a:r>
            <a:r>
              <a:rPr sz="1050" b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sz="1050" b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테스트</a:t>
            </a:r>
            <a:endParaRPr sz="1050" b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144000" y="1990383"/>
            <a:ext cx="2697480" cy="1188720"/>
          </a:xfrm>
          <a:prstGeom prst="roundRect">
            <a:avLst/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45168" y="2154975"/>
            <a:ext cx="23317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C72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키오스크 규격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2339706"/>
            <a:ext cx="2331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1080 × 1920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2767623"/>
            <a:ext cx="2331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세로 9:16 · 국내 무인주문기 표준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8B3F6C-2D70-9288-250B-8510D69DF2AF}"/>
              </a:ext>
            </a:extLst>
          </p:cNvPr>
          <p:cNvGrpSpPr/>
          <p:nvPr/>
        </p:nvGrpSpPr>
        <p:grpSpPr>
          <a:xfrm>
            <a:off x="1337160" y="3967056"/>
            <a:ext cx="9812306" cy="2273647"/>
            <a:chOff x="576072" y="3954529"/>
            <a:chExt cx="11247120" cy="260611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44056C0-A2A4-8360-A9D9-A05462FC43F2}"/>
                </a:ext>
              </a:extLst>
            </p:cNvPr>
            <p:cNvGrpSpPr/>
            <p:nvPr/>
          </p:nvGrpSpPr>
          <p:grpSpPr>
            <a:xfrm>
              <a:off x="644843" y="3954529"/>
              <a:ext cx="11178349" cy="2286174"/>
              <a:chOff x="644843" y="3128167"/>
              <a:chExt cx="11471264" cy="2346080"/>
            </a:xfrm>
          </p:grpSpPr>
          <p:pic>
            <p:nvPicPr>
              <p:cNvPr id="54" name="Picture 53" descr="W1_랜딩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4843" y="3128167"/>
                <a:ext cx="3753728" cy="2346080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pic>
            <p:nvPicPr>
              <p:cNvPr id="58" name="Picture 57" descr="W4_가입_건강정보_실시간미리보기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3611" y="3128167"/>
                <a:ext cx="3753728" cy="2346080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pic>
            <p:nvPicPr>
              <p:cNvPr id="62" name="Picture 61" descr="W8_주문이력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62379" y="3128167"/>
                <a:ext cx="3753728" cy="2346080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</p:grpSp>
        <p:sp>
          <p:nvSpPr>
            <p:cNvPr id="55" name="TextBox 54"/>
            <p:cNvSpPr txBox="1"/>
            <p:nvPr/>
          </p:nvSpPr>
          <p:spPr>
            <a:xfrm>
              <a:off x="576072" y="6345199"/>
              <a:ext cx="3529584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정보입력 사이트 메인</a:t>
              </a:r>
              <a:endPara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434840" y="6345199"/>
              <a:ext cx="3529584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추가 </a:t>
              </a: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건강정보</a:t>
              </a: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등록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페이지</a:t>
              </a:r>
              <a:endPara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293608" y="6345199"/>
              <a:ext cx="3529584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주문</a:t>
              </a: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이력</a:t>
              </a: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등 마이페이지</a:t>
              </a:r>
              <a:endPara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0647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5941-AA32-E7BF-C675-17D82658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659E2D-A579-AF98-762B-45BD7F03E22D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250CC92-FA5A-376B-2BA7-C8169422B1A1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효과성 평가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비즈니스적 측면의 효용성 증명 </a:t>
            </a:r>
            <a:r>
              <a:rPr lang="en-US" altLang="ko-KR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 </a:t>
            </a:r>
            <a:endParaRPr lang="ko-KR" altLang="en-US" sz="3000" b="1" dirty="0">
              <a:solidFill>
                <a:srgbClr val="C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2F697-F7EA-F5C4-BA6E-3E9F0A681CE0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04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1D98FB7-EA9E-561D-9334-72EEDD9110EA}"/>
              </a:ext>
            </a:extLst>
          </p:cNvPr>
          <p:cNvSpPr/>
          <p:nvPr/>
        </p:nvSpPr>
        <p:spPr>
          <a:xfrm>
            <a:off x="2607258" y="2105728"/>
            <a:ext cx="7260365" cy="1579581"/>
          </a:xfrm>
          <a:prstGeom prst="roundRect">
            <a:avLst>
              <a:gd name="adj" fmla="val 10165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764831" y="2627022"/>
            <a:ext cx="6827742" cy="81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 err="1">
                <a:solidFill>
                  <a:srgbClr val="1B1F26"/>
                </a:solidFill>
                <a:latin typeface="Pretendard"/>
              </a:rPr>
              <a:t>전국</a:t>
            </a:r>
            <a:r>
              <a:rPr sz="2000" b="0" dirty="0">
                <a:solidFill>
                  <a:srgbClr val="1B1F26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1B1F26"/>
                </a:solidFill>
                <a:latin typeface="Pretendard"/>
              </a:rPr>
              <a:t>키오스크</a:t>
            </a:r>
            <a:r>
              <a:rPr sz="2000" b="0" dirty="0">
                <a:solidFill>
                  <a:srgbClr val="1B1F26"/>
                </a:solidFill>
                <a:latin typeface="Pretendard"/>
              </a:rPr>
              <a:t> </a:t>
            </a:r>
            <a:r>
              <a:rPr sz="2000" b="1" dirty="0">
                <a:solidFill>
                  <a:srgbClr val="1B1F26"/>
                </a:solidFill>
                <a:latin typeface="Pretendard"/>
              </a:rPr>
              <a:t>53.7만 대</a:t>
            </a:r>
            <a:r>
              <a:rPr sz="2000" b="0" dirty="0">
                <a:solidFill>
                  <a:srgbClr val="1B1F26"/>
                </a:solidFill>
                <a:latin typeface="Pretendard"/>
              </a:rPr>
              <a:t>(2023, 2년새 155%↑)</a:t>
            </a:r>
          </a:p>
          <a:p>
            <a:pPr algn="ctr">
              <a:lnSpc>
                <a:spcPct val="125000"/>
              </a:lnSpc>
            </a:pPr>
            <a:r>
              <a:rPr sz="2000" b="0" dirty="0" err="1">
                <a:solidFill>
                  <a:srgbClr val="1B1F26"/>
                </a:solidFill>
                <a:latin typeface="Pretendard"/>
              </a:rPr>
              <a:t>배리어프리</a:t>
            </a:r>
            <a:r>
              <a:rPr sz="2000" b="0" dirty="0">
                <a:solidFill>
                  <a:srgbClr val="1B1F26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B1F26"/>
                </a:solidFill>
                <a:latin typeface="Pretendard"/>
              </a:rPr>
              <a:t>의무화</a:t>
            </a:r>
            <a:r>
              <a:rPr sz="2000" b="1" dirty="0">
                <a:solidFill>
                  <a:srgbClr val="1B1F26"/>
                </a:solidFill>
                <a:latin typeface="Pretendard"/>
              </a:rPr>
              <a:t> 2026.1.28 </a:t>
            </a:r>
            <a:r>
              <a:rPr sz="2000" b="1" dirty="0" err="1">
                <a:solidFill>
                  <a:srgbClr val="1B1F26"/>
                </a:solidFill>
                <a:latin typeface="Pretendard"/>
              </a:rPr>
              <a:t>전면</a:t>
            </a:r>
            <a:r>
              <a:rPr sz="2000" b="1" dirty="0">
                <a:solidFill>
                  <a:srgbClr val="1B1F26"/>
                </a:solidFill>
                <a:latin typeface="Pretendard"/>
              </a:rPr>
              <a:t> </a:t>
            </a:r>
            <a:r>
              <a:rPr sz="2000" b="1" dirty="0" err="1">
                <a:solidFill>
                  <a:srgbClr val="1B1F26"/>
                </a:solidFill>
                <a:latin typeface="Pretendard"/>
              </a:rPr>
              <a:t>시행</a:t>
            </a:r>
            <a:r>
              <a:rPr sz="2000" b="0" dirty="0">
                <a:solidFill>
                  <a:srgbClr val="1B1F26"/>
                </a:solidFill>
                <a:latin typeface="Pretendard"/>
              </a:rPr>
              <a:t> → </a:t>
            </a:r>
            <a:r>
              <a:rPr sz="2000" b="0" dirty="0" err="1">
                <a:solidFill>
                  <a:srgbClr val="1B1F26"/>
                </a:solidFill>
                <a:latin typeface="Pretendard"/>
              </a:rPr>
              <a:t>SW로</a:t>
            </a:r>
            <a:r>
              <a:rPr sz="2000" b="0" dirty="0">
                <a:solidFill>
                  <a:srgbClr val="1B1F26"/>
                </a:solidFill>
                <a:latin typeface="Pretendard"/>
              </a:rPr>
              <a:t> </a:t>
            </a:r>
            <a:r>
              <a:rPr sz="2000" b="0" dirty="0" err="1">
                <a:solidFill>
                  <a:srgbClr val="1B1F26"/>
                </a:solidFill>
                <a:latin typeface="Pretendard"/>
              </a:rPr>
              <a:t>대응</a:t>
            </a:r>
            <a:endParaRPr sz="2000" b="0" dirty="0">
              <a:solidFill>
                <a:srgbClr val="1B1F26"/>
              </a:solidFill>
              <a:latin typeface="Pretendar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3725958-F52F-CFA1-C6D9-6611D6EF42F3}"/>
              </a:ext>
            </a:extLst>
          </p:cNvPr>
          <p:cNvSpPr/>
          <p:nvPr/>
        </p:nvSpPr>
        <p:spPr>
          <a:xfrm>
            <a:off x="2607258" y="3979264"/>
            <a:ext cx="7260365" cy="2157926"/>
          </a:xfrm>
          <a:prstGeom prst="roundRect">
            <a:avLst>
              <a:gd name="adj" fmla="val 10165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2800" dirty="0">
              <a:solidFill>
                <a:srgbClr val="1424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62926-5203-FC6E-12FE-C338B8B69722}"/>
              </a:ext>
            </a:extLst>
          </p:cNvPr>
          <p:cNvSpPr txBox="1"/>
          <p:nvPr/>
        </p:nvSpPr>
        <p:spPr>
          <a:xfrm>
            <a:off x="2764831" y="4595257"/>
            <a:ext cx="6827742" cy="1211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75</a:t>
            </a:r>
            <a:r>
              <a:rPr lang="ko-KR" altLang="en-US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이상 키오스크 이용 경험 </a:t>
            </a:r>
            <a:r>
              <a:rPr lang="en-US" altLang="ko-KR" sz="20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19.1%</a:t>
            </a:r>
            <a:r>
              <a:rPr lang="ko-KR" altLang="en-US" sz="20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뿐</a:t>
            </a:r>
          </a:p>
          <a:p>
            <a:pPr algn="ctr">
              <a:lnSpc>
                <a:spcPct val="125000"/>
              </a:lnSpc>
            </a:pPr>
            <a:r>
              <a:rPr lang="ko-KR" altLang="en-US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나머지 </a:t>
            </a:r>
            <a:r>
              <a:rPr lang="en-US" altLang="ko-KR" sz="20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80.9%</a:t>
            </a:r>
            <a:r>
              <a:rPr lang="ko-KR" altLang="en-US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전화로 편입되는 잠재 고객</a:t>
            </a:r>
          </a:p>
          <a:p>
            <a:pPr algn="ctr">
              <a:lnSpc>
                <a:spcPct val="125000"/>
              </a:lnSpc>
            </a:pPr>
            <a:r>
              <a:rPr lang="en-US" altLang="ko-KR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서울디지털재단</a:t>
            </a:r>
            <a:r>
              <a:rPr lang="en-US" altLang="ko-KR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2023 </a:t>
            </a:r>
            <a:r>
              <a:rPr lang="ko-KR" altLang="en-US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디지털역량실태조사</a:t>
            </a:r>
            <a:r>
              <a:rPr lang="en-US" altLang="ko-KR" sz="2000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411D587-1672-C49D-4CA2-CCC295A5C6DB}"/>
              </a:ext>
            </a:extLst>
          </p:cNvPr>
          <p:cNvSpPr/>
          <p:nvPr/>
        </p:nvSpPr>
        <p:spPr>
          <a:xfrm>
            <a:off x="2607258" y="2072380"/>
            <a:ext cx="7260365" cy="457976"/>
          </a:xfrm>
          <a:prstGeom prst="roundRect">
            <a:avLst>
              <a:gd name="adj" fmla="val 32350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B2B </a:t>
            </a:r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대응 시장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A8F474D-EE99-D2FB-1A35-11238A011DD7}"/>
              </a:ext>
            </a:extLst>
          </p:cNvPr>
          <p:cNvSpPr/>
          <p:nvPr/>
        </p:nvSpPr>
        <p:spPr>
          <a:xfrm>
            <a:off x="2607258" y="3987195"/>
            <a:ext cx="7260365" cy="457976"/>
          </a:xfrm>
          <a:prstGeom prst="roundRect">
            <a:avLst>
              <a:gd name="adj" fmla="val 32350"/>
            </a:avLst>
          </a:prstGeom>
          <a:solidFill>
            <a:srgbClr val="14243D"/>
          </a:solidFill>
          <a:ln w="19050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20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키오스크 미경험 고령층까지 타겟 확대</a:t>
            </a:r>
            <a:endParaRPr lang="ko-KR" altLang="en-US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961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98FB-EF57-CA59-4ED7-2683CB62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31A4B4F9-BB05-5182-9152-A031DC0BAC58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04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팀의 목표와 자체 평가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84560D0-4542-92C3-8961-FB0CAF7586F3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EB52168-BCED-E57A-3CB7-439F56C71976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편의성 평가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_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누구나 사용하는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키오스크  </a:t>
            </a:r>
            <a:r>
              <a:rPr lang="en-US" altLang="ko-KR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주문 </a:t>
            </a:r>
            <a:r>
              <a:rPr lang="en-US" altLang="ko-KR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TASK </a:t>
            </a:r>
            <a:r>
              <a:rPr lang="ko-KR" altLang="en-US" sz="3000" b="1" dirty="0">
                <a:solidFill>
                  <a:srgbClr val="C00000"/>
                </a:solidFill>
                <a:latin typeface="Pretendard"/>
                <a:ea typeface="Pretendard"/>
                <a:cs typeface="Pretendard"/>
              </a:rPr>
              <a:t>축소</a:t>
            </a:r>
          </a:p>
        </p:txBody>
      </p:sp>
      <p:sp>
        <p:nvSpPr>
          <p:cNvPr id="4" name="Rounded Rectangle 36">
            <a:extLst>
              <a:ext uri="{FF2B5EF4-FFF2-40B4-BE49-F238E27FC236}">
                <a16:creationId xmlns:a16="http://schemas.microsoft.com/office/drawing/2014/main" id="{16A2819D-8EDE-C8D6-D3D6-B5966DEAAC48}"/>
              </a:ext>
            </a:extLst>
          </p:cNvPr>
          <p:cNvSpPr/>
          <p:nvPr/>
        </p:nvSpPr>
        <p:spPr>
          <a:xfrm>
            <a:off x="2957670" y="1955244"/>
            <a:ext cx="6485873" cy="747632"/>
          </a:xfrm>
          <a:prstGeom prst="roundRect">
            <a:avLst>
              <a:gd name="adj" fmla="val 24457"/>
            </a:avLst>
          </a:prstGeom>
          <a:solidFill>
            <a:srgbClr val="14243D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편의성의 재정의</a:t>
            </a: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: ‘</a:t>
            </a:r>
            <a:r>
              <a:rPr lang="ko-KR" altLang="en-US" sz="2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쉽게 배운다’ ✕ → ‘배울 필요가 없다’ ○</a:t>
            </a:r>
          </a:p>
        </p:txBody>
      </p:sp>
      <p:sp>
        <p:nvSpPr>
          <p:cNvPr id="6" name="Shape 51">
            <a:extLst>
              <a:ext uri="{FF2B5EF4-FFF2-40B4-BE49-F238E27FC236}">
                <a16:creationId xmlns:a16="http://schemas.microsoft.com/office/drawing/2014/main" id="{A63B300B-470A-5892-491A-98C7AE85E338}"/>
              </a:ext>
            </a:extLst>
          </p:cNvPr>
          <p:cNvSpPr/>
          <p:nvPr/>
        </p:nvSpPr>
        <p:spPr>
          <a:xfrm flipH="1">
            <a:off x="6195384" y="2668893"/>
            <a:ext cx="0" cy="317377"/>
          </a:xfrm>
          <a:prstGeom prst="line">
            <a:avLst/>
          </a:prstGeom>
          <a:noFill/>
          <a:ln w="2794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5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Rounded Rectangle 36">
            <a:extLst>
              <a:ext uri="{FF2B5EF4-FFF2-40B4-BE49-F238E27FC236}">
                <a16:creationId xmlns:a16="http://schemas.microsoft.com/office/drawing/2014/main" id="{147BFE17-8E35-C945-14AE-BAECF7FFFEA0}"/>
              </a:ext>
            </a:extLst>
          </p:cNvPr>
          <p:cNvSpPr/>
          <p:nvPr/>
        </p:nvSpPr>
        <p:spPr>
          <a:xfrm>
            <a:off x="1115000" y="3256890"/>
            <a:ext cx="10160768" cy="56170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전화번호를 먼저 입력하고 주문하고</a:t>
            </a:r>
            <a:r>
              <a:rPr lang="en-US" altLang="ko-KR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 err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정보동의하면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 가입 완료</a:t>
            </a:r>
          </a:p>
        </p:txBody>
      </p:sp>
      <p:sp>
        <p:nvSpPr>
          <p:cNvPr id="12" name="Rounded Rectangle 36">
            <a:extLst>
              <a:ext uri="{FF2B5EF4-FFF2-40B4-BE49-F238E27FC236}">
                <a16:creationId xmlns:a16="http://schemas.microsoft.com/office/drawing/2014/main" id="{17E434D6-E3F0-9835-B7C3-81F2862BB4FE}"/>
              </a:ext>
            </a:extLst>
          </p:cNvPr>
          <p:cNvSpPr/>
          <p:nvPr/>
        </p:nvSpPr>
        <p:spPr>
          <a:xfrm>
            <a:off x="1115000" y="4088955"/>
            <a:ext cx="10160768" cy="56170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전화 툴을 활용하는 주문 옵션을 추가하여</a:t>
            </a:r>
            <a:r>
              <a:rPr lang="en-US" altLang="ko-KR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모두가</a:t>
            </a:r>
            <a:r>
              <a:rPr lang="en-US" altLang="ko-KR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익숙한 매체로 주문할 수 있음</a:t>
            </a:r>
          </a:p>
        </p:txBody>
      </p:sp>
      <p:sp>
        <p:nvSpPr>
          <p:cNvPr id="14" name="Rounded Rectangle 36">
            <a:extLst>
              <a:ext uri="{FF2B5EF4-FFF2-40B4-BE49-F238E27FC236}">
                <a16:creationId xmlns:a16="http://schemas.microsoft.com/office/drawing/2014/main" id="{4BED42D7-A56D-2BF8-E9ED-0083A9CF6D42}"/>
              </a:ext>
            </a:extLst>
          </p:cNvPr>
          <p:cNvSpPr/>
          <p:nvPr/>
        </p:nvSpPr>
        <p:spPr>
          <a:xfrm>
            <a:off x="1115000" y="4890657"/>
            <a:ext cx="10160768" cy="56170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전화 주문이지만 키오스크를 함께 이용하여</a:t>
            </a:r>
            <a:r>
              <a:rPr lang="en-US" altLang="ko-KR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 err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이용하는것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 자체로 키오스크 활용 방법 </a:t>
            </a:r>
            <a:r>
              <a:rPr lang="ko-KR" altLang="en-US" b="1" dirty="0" err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익숙도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 높임 </a:t>
            </a: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CC4ABC32-415B-9264-371E-412F583DEAB6}"/>
              </a:ext>
            </a:extLst>
          </p:cNvPr>
          <p:cNvSpPr/>
          <p:nvPr/>
        </p:nvSpPr>
        <p:spPr>
          <a:xfrm>
            <a:off x="1166522" y="5692359"/>
            <a:ext cx="10160768" cy="56170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추가 건강정보 입력으로</a:t>
            </a:r>
            <a:r>
              <a:rPr lang="en-US" altLang="ko-KR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주문 메뉴 결정 </a:t>
            </a:r>
            <a:r>
              <a:rPr lang="en-US" altLang="ko-KR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TASK </a:t>
            </a:r>
            <a:r>
              <a:rPr lang="ko-KR" altLang="en-US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축소</a:t>
            </a:r>
          </a:p>
        </p:txBody>
      </p:sp>
    </p:spTree>
    <p:extLst>
      <p:ext uri="{BB962C8B-B14F-4D97-AF65-F5344CB8AC3E}">
        <p14:creationId xmlns:p14="http://schemas.microsoft.com/office/powerpoint/2010/main" val="562455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0" b="1">
                <a:solidFill>
                  <a:srgbClr val="3A5378"/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245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질의응답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대비</a:t>
            </a:r>
            <a:r>
              <a:rPr sz="4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</a:t>
            </a:r>
            <a:endParaRPr sz="40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4957" y="1780124"/>
            <a:ext cx="3702302" cy="21692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49421" y="1780124"/>
            <a:ext cx="3702302" cy="21692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94741" y="1780124"/>
            <a:ext cx="3702302" cy="21692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4957" y="4201160"/>
            <a:ext cx="3702302" cy="21692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9421" y="4201160"/>
            <a:ext cx="3702302" cy="21692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FB0A01-71EA-D84B-9813-60945B2141F0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6BA4F72-C999-E390-4385-4E120BD66C1B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B904A8E-0FA8-34C1-155C-25F3D4E5EB72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Q&amp;A</a:t>
            </a:r>
            <a:endParaRPr lang="ko-KR" altLang="en-US"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CAD9DA91-1BD3-78A7-188A-911BC4EA1249}"/>
              </a:ext>
            </a:extLst>
          </p:cNvPr>
          <p:cNvSpPr/>
          <p:nvPr/>
        </p:nvSpPr>
        <p:spPr>
          <a:xfrm>
            <a:off x="8203885" y="4201160"/>
            <a:ext cx="3702302" cy="216922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22EE0D-DBC5-D5A4-A276-26D2F5F5D1F5}"/>
              </a:ext>
            </a:extLst>
          </p:cNvPr>
          <p:cNvSpPr txBox="1"/>
          <p:nvPr/>
        </p:nvSpPr>
        <p:spPr>
          <a:xfrm>
            <a:off x="396363" y="1975601"/>
            <a:ext cx="3773932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“기존 음성 키오스크와 뭐가 다른가요?”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B0D071-B214-7B48-D65E-37AAFE173596}"/>
              </a:ext>
            </a:extLst>
          </p:cNvPr>
          <p:cNvSpPr txBox="1"/>
          <p:nvPr/>
        </p:nvSpPr>
        <p:spPr>
          <a:xfrm>
            <a:off x="487681" y="2496809"/>
            <a:ext cx="3230879" cy="1053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기존 음성 키오스크는 화면을 읽어주는 쪽에 가깝습니다. 저희는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양방향</a:t>
            </a:r>
            <a:r>
              <a:rPr lang="ko-KR" altLang="en-US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입니다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"달달한 거 뭐 있어요?" 하고 물어보면 답을 해주고, 화면도 같이 바뀝니다. 직원한테 물어보듯 쓰는 게 목표입니다.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1E5560-CE0D-99B4-35AE-91FB83F36355}"/>
              </a:ext>
            </a:extLst>
          </p:cNvPr>
          <p:cNvSpPr txBox="1"/>
          <p:nvPr/>
        </p:nvSpPr>
        <p:spPr>
          <a:xfrm>
            <a:off x="4350828" y="1975601"/>
            <a:ext cx="3773932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“왜 키오스크가 아니라 전화인가요?”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CB4A09-075B-DBFF-6936-6DCF3A365AB8}"/>
              </a:ext>
            </a:extLst>
          </p:cNvPr>
          <p:cNvSpPr txBox="1"/>
          <p:nvPr/>
        </p:nvSpPr>
        <p:spPr>
          <a:xfrm>
            <a:off x="4442146" y="2496809"/>
            <a:ext cx="3230879" cy="1323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새 기계를 만들면 매장마다 기기를 바꿔야 합니다. 저희는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소프트웨어만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얹으면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되니까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지금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있는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어디든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적용할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수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있어요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그리고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저희가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만나려는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분들은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앱보다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전화가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훨씬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익숙한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분들입니다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35EC96-2A5E-5B31-B3F8-4A535834E986}"/>
              </a:ext>
            </a:extLst>
          </p:cNvPr>
          <p:cNvSpPr txBox="1"/>
          <p:nvPr/>
        </p:nvSpPr>
        <p:spPr>
          <a:xfrm>
            <a:off x="8346948" y="1975601"/>
            <a:ext cx="3230879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“개인정보 수집이 가능한가요?”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3EDD9F-0251-298E-2483-2DD32A222BFA}"/>
              </a:ext>
            </a:extLst>
          </p:cNvPr>
          <p:cNvSpPr txBox="1"/>
          <p:nvPr/>
        </p:nvSpPr>
        <p:spPr>
          <a:xfrm>
            <a:off x="8438266" y="2496809"/>
            <a:ext cx="3230879" cy="1053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주문이 끝난 뒤에 동의를 받고, 전화번호와 본인이 직접 알려준 건강 정보만 저장합니다. 번호는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해시로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바꿔서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원본은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남기지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않아요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통화로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"내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지워줘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한마디면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삭제됩니다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722F11-45B1-4F7B-E4BF-D4B45DEBD961}"/>
              </a:ext>
            </a:extLst>
          </p:cNvPr>
          <p:cNvSpPr txBox="1"/>
          <p:nvPr/>
        </p:nvSpPr>
        <p:spPr>
          <a:xfrm>
            <a:off x="396363" y="4477572"/>
            <a:ext cx="3773932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“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통화비용이나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인프라</a:t>
            </a:r>
            <a:r>
              <a:rPr lang="ko-KR" altLang="en-US"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어떻게 하나요?”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C9DEE4-3A71-BEAF-039C-E162AFE33AD0}"/>
              </a:ext>
            </a:extLst>
          </p:cNvPr>
          <p:cNvSpPr txBox="1"/>
          <p:nvPr/>
        </p:nvSpPr>
        <p:spPr>
          <a:xfrm>
            <a:off x="487681" y="4998780"/>
            <a:ext cx="3392236" cy="1323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따로 깔 장비가 없습니다. 인터넷전화로 걸기 때문에 한 통에 100~250원 정도로 보고 있어요. 직원이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5분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응대하는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인건비보다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쌉니다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서버도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지금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쓰는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클라우드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그대로면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됩니다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35000"/>
              </a:lnSpc>
            </a:pPr>
            <a:endParaRPr sz="1300" b="0" dirty="0" err="1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049A90-20EE-421C-7F90-E5FBFD7565EF}"/>
              </a:ext>
            </a:extLst>
          </p:cNvPr>
          <p:cNvSpPr txBox="1"/>
          <p:nvPr/>
        </p:nvSpPr>
        <p:spPr>
          <a:xfrm>
            <a:off x="4350828" y="4477572"/>
            <a:ext cx="3773932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“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기존에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있던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로직은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어떻게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활용되었나요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?”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04434B-1090-F118-21B0-F6D4E155A5E2}"/>
              </a:ext>
            </a:extLst>
          </p:cNvPr>
          <p:cNvSpPr txBox="1"/>
          <p:nvPr/>
        </p:nvSpPr>
        <p:spPr>
          <a:xfrm>
            <a:off x="4442146" y="4998780"/>
            <a:ext cx="3392236" cy="783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버린 게 없습니다. 알레르기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제외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영양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실시간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동기화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시뮬레이터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검증까지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그대로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씁니다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300" b="0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들어가는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입구만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앱에서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전화로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바뀐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거예요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04B60E-6A03-46BF-37F0-115B4DA582C0}"/>
              </a:ext>
            </a:extLst>
          </p:cNvPr>
          <p:cNvSpPr txBox="1"/>
          <p:nvPr/>
        </p:nvSpPr>
        <p:spPr>
          <a:xfrm>
            <a:off x="8296148" y="4477572"/>
            <a:ext cx="3773932" cy="262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“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시끄러운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매장에서도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음성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인식이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되나요</a:t>
            </a:r>
            <a:r>
              <a:rPr sz="16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?”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A151E1-C892-64DE-BA2D-038DC1612644}"/>
              </a:ext>
            </a:extLst>
          </p:cNvPr>
          <p:cNvSpPr txBox="1"/>
          <p:nvPr/>
        </p:nvSpPr>
        <p:spPr>
          <a:xfrm>
            <a:off x="8387466" y="4998780"/>
            <a:ext cx="3392236" cy="1053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키오스크 마이크로는 어렵겠지만</a:t>
            </a:r>
            <a:r>
              <a:rPr lang="en-US" altLang="ko-KR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핸드폰은 음성인식이 시끄러워도 잘되는 편입니다</a:t>
            </a:r>
            <a:r>
              <a:rPr lang="en-US" altLang="ko-KR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하지만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잘 못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알아들으면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lang="en-US"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묻도록했습니다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어떤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경우에도 주문이 끊기지는 </a:t>
            </a:r>
            <a:r>
              <a:rPr sz="1300" b="0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않습니다</a:t>
            </a:r>
            <a:r>
              <a:rPr sz="1300" b="0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65F0-47EF-3A8C-A098-3FF75382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051C80A-DE60-DFEB-BCF4-E796DFF0E208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C7CA370-F803-DF1F-86B8-D76D95CF8CB5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6FC3A4E-641E-266A-B56B-DDA5587620BF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구현 링크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9BB82ECF-283A-906F-1AF6-94915562F5F3}"/>
              </a:ext>
            </a:extLst>
          </p:cNvPr>
          <p:cNvSpPr/>
          <p:nvPr/>
        </p:nvSpPr>
        <p:spPr>
          <a:xfrm>
            <a:off x="6003562" y="2139102"/>
            <a:ext cx="2992526" cy="3521308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12CF37-B08A-918F-50AE-484E57182B86}"/>
              </a:ext>
            </a:extLst>
          </p:cNvPr>
          <p:cNvSpPr txBox="1"/>
          <p:nvPr/>
        </p:nvSpPr>
        <p:spPr>
          <a:xfrm>
            <a:off x="5827801" y="5039389"/>
            <a:ext cx="328086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altLang="ko-KR" sz="900" u="none" strike="noStrike" dirty="0">
                <a:solidFill>
                  <a:srgbClr val="1264A3"/>
                </a:solidFill>
                <a:effectLst/>
                <a:hlinkClick r:id="rId2"/>
              </a:rPr>
              <a:t>https://kiobridge-site.vercel.app</a:t>
            </a:r>
            <a:endParaRPr sz="900" b="0" dirty="0">
              <a:solidFill>
                <a:srgbClr val="646B76"/>
              </a:solidFill>
              <a:latin typeface="맑은 고딕"/>
            </a:endParaRP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9541A0C1-0462-BBEA-88B0-BCE11910E0B7}"/>
              </a:ext>
            </a:extLst>
          </p:cNvPr>
          <p:cNvSpPr/>
          <p:nvPr/>
        </p:nvSpPr>
        <p:spPr>
          <a:xfrm>
            <a:off x="2898457" y="2139102"/>
            <a:ext cx="2992526" cy="3521308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ADF9B6-6DD3-0B5A-0EE9-D6049EF082A3}"/>
              </a:ext>
            </a:extLst>
          </p:cNvPr>
          <p:cNvSpPr txBox="1"/>
          <p:nvPr/>
        </p:nvSpPr>
        <p:spPr>
          <a:xfrm>
            <a:off x="5997991" y="2422032"/>
            <a:ext cx="2982606" cy="729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사용자 추가정보 등록 사이트</a:t>
            </a:r>
            <a:endParaRPr lang="ko-KR" altLang="en-US" sz="1400" b="1" dirty="0">
              <a:solidFill>
                <a:srgbClr val="14243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B0356-CBFA-9452-7595-ED9E5E1498F0}"/>
              </a:ext>
            </a:extLst>
          </p:cNvPr>
          <p:cNvSpPr txBox="1"/>
          <p:nvPr/>
        </p:nvSpPr>
        <p:spPr>
          <a:xfrm>
            <a:off x="2916121" y="2421566"/>
            <a:ext cx="2982606" cy="41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4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키오스크 예시 화면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D06509-E5F7-457C-E171-750B4184DA8F}"/>
              </a:ext>
            </a:extLst>
          </p:cNvPr>
          <p:cNvSpPr txBox="1"/>
          <p:nvPr/>
        </p:nvSpPr>
        <p:spPr>
          <a:xfrm>
            <a:off x="2815135" y="5039389"/>
            <a:ext cx="328086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altLang="ko-KR" sz="900" u="none" strike="noStrike" dirty="0">
                <a:solidFill>
                  <a:srgbClr val="1264A3"/>
                </a:solidFill>
                <a:effectLst/>
                <a:hlinkClick r:id="rId3"/>
              </a:rPr>
              <a:t>https://kiobridge-kiosk.vercel.app/</a:t>
            </a:r>
            <a:endParaRPr sz="900" b="0" dirty="0">
              <a:solidFill>
                <a:srgbClr val="646B76"/>
              </a:solidFill>
              <a:latin typeface="맑은 고딕"/>
            </a:endParaRPr>
          </a:p>
        </p:txBody>
      </p:sp>
      <p:pic>
        <p:nvPicPr>
          <p:cNvPr id="2" name="그림 1" descr="패턴, 사각형, 예술, 대칭이(가) 표시된 사진&#10;&#10;자동 생성된 설명">
            <a:extLst>
              <a:ext uri="{FF2B5EF4-FFF2-40B4-BE49-F238E27FC236}">
                <a16:creationId xmlns:a16="http://schemas.microsoft.com/office/drawing/2014/main" id="{6C05A9BB-1D59-C0F6-DF8F-C564296F5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957" y="2921587"/>
            <a:ext cx="2015999" cy="2015999"/>
          </a:xfrm>
          <a:prstGeom prst="rect">
            <a:avLst/>
          </a:prstGeom>
        </p:spPr>
      </p:pic>
      <p:pic>
        <p:nvPicPr>
          <p:cNvPr id="4" name="그림 3" descr="패턴, 사각형, 예술, 대칭이(가) 표시된 사진&#10;&#10;자동 생성된 설명">
            <a:extLst>
              <a:ext uri="{FF2B5EF4-FFF2-40B4-BE49-F238E27FC236}">
                <a16:creationId xmlns:a16="http://schemas.microsoft.com/office/drawing/2014/main" id="{7084BC5C-82CE-7D09-4EE4-9DB0130F5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623" y="2855795"/>
            <a:ext cx="2015999" cy="20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09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FF79-4E49-D6A0-A184-6C0071AA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6FCB2C59-5069-7C52-4984-A7E94324F15B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5615D0A-23E4-CCE7-4EC4-FE5F0917A816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6342383-6EFF-C580-0C4B-C25DF33E2B7D}"/>
              </a:ext>
            </a:extLst>
          </p:cNvPr>
          <p:cNvSpPr txBox="1"/>
          <p:nvPr/>
        </p:nvSpPr>
        <p:spPr>
          <a:xfrm>
            <a:off x="937064" y="1115568"/>
            <a:ext cx="10152468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음식 </a:t>
            </a:r>
            <a:r>
              <a:rPr lang="ko-KR" altLang="en-US" sz="3000" b="1" dirty="0" err="1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추천로직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 활용 데이터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47F44F-3090-4004-8C76-A37CED15E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874001"/>
            <a:ext cx="10629900" cy="4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79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61858" y="2239565"/>
            <a:ext cx="1783080" cy="4079956"/>
          </a:xfrm>
          <a:prstGeom prst="roundRect">
            <a:avLst>
              <a:gd name="adj" fmla="val 2564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1858" y="2276141"/>
            <a:ext cx="17830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E3B8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관련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3298" y="2532173"/>
            <a:ext cx="1600200" cy="751637"/>
          </a:xfrm>
          <a:prstGeom prst="roundRect">
            <a:avLst>
              <a:gd name="adj" fmla="val 4866"/>
            </a:avLst>
          </a:prstGeom>
          <a:solidFill>
            <a:srgbClr val="F5F0FB"/>
          </a:solidFill>
          <a:ln w="12700">
            <a:solidFill>
              <a:srgbClr val="B79BD9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874" y="2559605"/>
            <a:ext cx="1527048" cy="173736"/>
          </a:xfrm>
          <a:prstGeom prst="rect">
            <a:avLst/>
          </a:prstGeom>
          <a:solidFill>
            <a:srgbClr val="E4D7F2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5594" y="2541317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E3B8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UserProfile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5594" y="2742485"/>
            <a:ext cx="1453896" cy="52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user_id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phone_hash (UK)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consent_yn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created_at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3298" y="3741010"/>
            <a:ext cx="1600200" cy="1336853"/>
          </a:xfrm>
          <a:prstGeom prst="roundRect">
            <a:avLst>
              <a:gd name="adj" fmla="val 2736"/>
            </a:avLst>
          </a:prstGeom>
          <a:solidFill>
            <a:srgbClr val="F5F0FB"/>
          </a:solidFill>
          <a:ln w="12700">
            <a:solidFill>
              <a:srgbClr val="B79BD9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9874" y="3768442"/>
            <a:ext cx="1527048" cy="173736"/>
          </a:xfrm>
          <a:prstGeom prst="rect">
            <a:avLst/>
          </a:prstGeom>
          <a:solidFill>
            <a:srgbClr val="E4D7F2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5594" y="3750154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E3B8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UserCondition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5594" y="3951322"/>
            <a:ext cx="1453896" cy="1108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condition_id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user_id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disease_id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drug_id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allergy_id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body_cond_id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preference_json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budget_max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updated_at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53398" y="3283810"/>
            <a:ext cx="0" cy="457200"/>
          </a:xfrm>
          <a:prstGeom prst="line">
            <a:avLst/>
          </a:prstGeom>
          <a:noFill/>
          <a:ln w="15875">
            <a:solidFill>
              <a:srgbClr val="B79B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08262" y="330209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E3B8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08262" y="357641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E3B8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36378" y="2239565"/>
            <a:ext cx="1783080" cy="4079956"/>
          </a:xfrm>
          <a:prstGeom prst="roundRect">
            <a:avLst>
              <a:gd name="adj" fmla="val 2564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36378" y="2276141"/>
            <a:ext cx="17830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F587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질환/약/알레르기 마스터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327818" y="2532173"/>
            <a:ext cx="1600200" cy="751637"/>
          </a:xfrm>
          <a:prstGeom prst="roundRect">
            <a:avLst>
              <a:gd name="adj" fmla="val 4866"/>
            </a:avLst>
          </a:prstGeom>
          <a:solidFill>
            <a:srgbClr val="F2F5F9"/>
          </a:solidFill>
          <a:ln w="12700">
            <a:solidFill>
              <a:srgbClr val="AEBCCE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364394" y="2559605"/>
            <a:ext cx="1527048" cy="173736"/>
          </a:xfrm>
          <a:prstGeom prst="rect">
            <a:avLst/>
          </a:prstGeom>
          <a:solidFill>
            <a:srgbClr val="DCE3EC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10114" y="2541317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F587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Disease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10114" y="2742485"/>
            <a:ext cx="1453896" cy="52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disease_id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disease_name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category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prevalence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327818" y="3366106"/>
            <a:ext cx="1600200" cy="751637"/>
          </a:xfrm>
          <a:prstGeom prst="roundRect">
            <a:avLst>
              <a:gd name="adj" fmla="val 4866"/>
            </a:avLst>
          </a:prstGeom>
          <a:solidFill>
            <a:srgbClr val="F2F5F9"/>
          </a:solidFill>
          <a:ln w="12700">
            <a:solidFill>
              <a:srgbClr val="AEBCCE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364394" y="3393538"/>
            <a:ext cx="1527048" cy="173736"/>
          </a:xfrm>
          <a:prstGeom prst="rect">
            <a:avLst/>
          </a:prstGeom>
          <a:solidFill>
            <a:srgbClr val="DCE3EC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410114" y="337525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F587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Drug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10114" y="3576418"/>
            <a:ext cx="1453896" cy="52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drug_id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drug_name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drug_group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327818" y="4200039"/>
            <a:ext cx="1600200" cy="634594"/>
          </a:xfrm>
          <a:prstGeom prst="roundRect">
            <a:avLst>
              <a:gd name="adj" fmla="val 5764"/>
            </a:avLst>
          </a:prstGeom>
          <a:solidFill>
            <a:srgbClr val="F2F5F9"/>
          </a:solidFill>
          <a:ln w="12700">
            <a:solidFill>
              <a:srgbClr val="AEBCCE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364394" y="4227471"/>
            <a:ext cx="1527048" cy="173736"/>
          </a:xfrm>
          <a:prstGeom prst="rect">
            <a:avLst/>
          </a:prstGeom>
          <a:solidFill>
            <a:srgbClr val="DCE3EC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10114" y="4209183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F587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Allergy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10114" y="4410351"/>
            <a:ext cx="1453896" cy="40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allergy_id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allergy_name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severity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27818" y="4916928"/>
            <a:ext cx="1600200" cy="634594"/>
          </a:xfrm>
          <a:prstGeom prst="roundRect">
            <a:avLst>
              <a:gd name="adj" fmla="val 5764"/>
            </a:avLst>
          </a:prstGeom>
          <a:solidFill>
            <a:srgbClr val="F2F5F9"/>
          </a:solidFill>
          <a:ln w="12700">
            <a:solidFill>
              <a:srgbClr val="AEBCCE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364394" y="4944360"/>
            <a:ext cx="1527048" cy="173736"/>
          </a:xfrm>
          <a:prstGeom prst="rect">
            <a:avLst/>
          </a:prstGeom>
          <a:solidFill>
            <a:srgbClr val="DCE3EC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410114" y="492607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F587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BodyCondition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10114" y="5127240"/>
            <a:ext cx="1453896" cy="40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body_cond_id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body_cond_name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065178" y="2239565"/>
            <a:ext cx="3246120" cy="4079956"/>
          </a:xfrm>
          <a:prstGeom prst="roundRect">
            <a:avLst>
              <a:gd name="adj" fmla="val 1408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065178" y="2276141"/>
            <a:ext cx="32461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 데이터 (01~13)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174906" y="2532173"/>
            <a:ext cx="1458468" cy="1314908"/>
          </a:xfrm>
          <a:prstGeom prst="roundRect">
            <a:avLst>
              <a:gd name="adj" fmla="val 3317"/>
            </a:avLst>
          </a:prstGeom>
          <a:solidFill>
            <a:srgbClr val="EEF5FC"/>
          </a:solidFill>
          <a:ln w="12700">
            <a:solidFill>
              <a:srgbClr val="8FBBE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211482" y="2559605"/>
            <a:ext cx="1385316" cy="173736"/>
          </a:xfrm>
          <a:prstGeom prst="rect">
            <a:avLst/>
          </a:prstGeom>
          <a:solidFill>
            <a:srgbClr val="CFE2F7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247042" y="2541317"/>
            <a:ext cx="1421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 Disease_Nutrient_Rule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57202" y="2742485"/>
            <a:ext cx="1312164" cy="87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rule_id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disease_id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nutrient_id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(LIMIT/RECOMMEND/CONDITIONAL)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reason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source_id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174906" y="3938520"/>
            <a:ext cx="1458468" cy="1102766"/>
          </a:xfrm>
          <a:prstGeom prst="roundRect">
            <a:avLst>
              <a:gd name="adj" fmla="val 3317"/>
            </a:avLst>
          </a:prstGeom>
          <a:solidFill>
            <a:srgbClr val="EEF5FC"/>
          </a:solidFill>
          <a:ln w="12700">
            <a:solidFill>
              <a:srgbClr val="8FBBE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211482" y="3965952"/>
            <a:ext cx="1385316" cy="173736"/>
          </a:xfrm>
          <a:prstGeom prst="rect">
            <a:avLst/>
          </a:prstGeom>
          <a:solidFill>
            <a:srgbClr val="CFE2F7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257202" y="3947664"/>
            <a:ext cx="133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 Disease_Food_Rule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257202" y="4148832"/>
            <a:ext cx="1312164" cy="87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rule_id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disease_id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food_tag_id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reason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alternative_group_id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source_id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174906" y="5123583"/>
            <a:ext cx="1458468" cy="86868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8FBBE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11482" y="5151015"/>
            <a:ext cx="1385316" cy="173736"/>
          </a:xfrm>
          <a:prstGeom prst="rect">
            <a:avLst/>
          </a:prstGeom>
          <a:solidFill>
            <a:srgbClr val="CFE2F7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257202" y="5132727"/>
            <a:ext cx="133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 Alternative_Map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257202" y="5333895"/>
            <a:ext cx="13121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alt_group_id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target_type (FOOD_TAG)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target_id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alt_rank (1/2/3)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alt_food_tag_id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743102" y="2532173"/>
            <a:ext cx="1458468" cy="1314908"/>
          </a:xfrm>
          <a:prstGeom prst="roundRect">
            <a:avLst>
              <a:gd name="adj" fmla="val 3317"/>
            </a:avLst>
          </a:prstGeom>
          <a:solidFill>
            <a:srgbClr val="EEF5FC"/>
          </a:solidFill>
          <a:ln w="12700">
            <a:solidFill>
              <a:srgbClr val="8FBBE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779678" y="2559605"/>
            <a:ext cx="1385316" cy="173736"/>
          </a:xfrm>
          <a:prstGeom prst="rect">
            <a:avLst/>
          </a:prstGeom>
          <a:solidFill>
            <a:srgbClr val="CFE2F7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825398" y="2541317"/>
            <a:ext cx="133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 Drug_Food_Rule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825398" y="2742485"/>
            <a:ext cx="1312164" cy="87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rule_id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drug_id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food_tag_id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mechanism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alternative_group_id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source_id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743102" y="3938520"/>
            <a:ext cx="1458468" cy="751637"/>
          </a:xfrm>
          <a:prstGeom prst="roundRect">
            <a:avLst>
              <a:gd name="adj" fmla="val 4866"/>
            </a:avLst>
          </a:prstGeom>
          <a:solidFill>
            <a:srgbClr val="EEF5FC"/>
          </a:solidFill>
          <a:ln w="12700">
            <a:solidFill>
              <a:srgbClr val="8FBBE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779678" y="3965952"/>
            <a:ext cx="1385316" cy="173736"/>
          </a:xfrm>
          <a:prstGeom prst="rect">
            <a:avLst/>
          </a:prstGeom>
          <a:solidFill>
            <a:srgbClr val="CFE2F7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825398" y="3947664"/>
            <a:ext cx="133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03·09 FoodTag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25398" y="4148832"/>
            <a:ext cx="1312164" cy="52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food_tag_id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tag_name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parent_tag_id NULL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743102" y="4772453"/>
            <a:ext cx="1458468" cy="86868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2700">
            <a:solidFill>
              <a:srgbClr val="8FBBE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779678" y="4799885"/>
            <a:ext cx="1385316" cy="173736"/>
          </a:xfrm>
          <a:prstGeom prst="rect">
            <a:avLst/>
          </a:prstGeom>
          <a:solidFill>
            <a:srgbClr val="CFE2F7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825398" y="4781597"/>
            <a:ext cx="1330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05·10 Source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825398" y="4982765"/>
            <a:ext cx="13121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source_id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source_name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type (GUIDELINE / PAPER / DB)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357018" y="2239565"/>
            <a:ext cx="2331720" cy="4079956"/>
          </a:xfrm>
          <a:prstGeom prst="roundRect">
            <a:avLst>
              <a:gd name="adj" fmla="val 1961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357018" y="2276141"/>
            <a:ext cx="23317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7681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 정책 (16~20)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466746" y="2532173"/>
            <a:ext cx="2112264" cy="634594"/>
          </a:xfrm>
          <a:prstGeom prst="roundRect">
            <a:avLst>
              <a:gd name="adj" fmla="val 5764"/>
            </a:avLst>
          </a:prstGeom>
          <a:solidFill>
            <a:srgbClr val="FDF8E6"/>
          </a:solidFill>
          <a:ln w="12700">
            <a:solidFill>
              <a:srgbClr val="E3C76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503322" y="2559605"/>
            <a:ext cx="2039112" cy="173736"/>
          </a:xfrm>
          <a:prstGeom prst="rect">
            <a:avLst/>
          </a:prstGeom>
          <a:solidFill>
            <a:srgbClr val="FBEBBF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549042" y="2541317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7681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 Conflict_Policy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549042" y="2742485"/>
            <a:ext cx="1965960" cy="40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policy_id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rule_if · rule_then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priority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466746" y="3230775"/>
            <a:ext cx="2112264" cy="634594"/>
          </a:xfrm>
          <a:prstGeom prst="roundRect">
            <a:avLst>
              <a:gd name="adj" fmla="val 5764"/>
            </a:avLst>
          </a:prstGeom>
          <a:solidFill>
            <a:srgbClr val="FDF8E6"/>
          </a:solidFill>
          <a:ln w="12700">
            <a:solidFill>
              <a:srgbClr val="E3C76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503322" y="3258207"/>
            <a:ext cx="2039112" cy="173736"/>
          </a:xfrm>
          <a:prstGeom prst="rect">
            <a:avLst/>
          </a:prstGeom>
          <a:solidFill>
            <a:srgbClr val="FBEBBF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549042" y="3239919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7681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17 Message_Guide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549042" y="3441087"/>
            <a:ext cx="1965960" cy="40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guide_id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tone_type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good_example · bad_example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466746" y="3929376"/>
            <a:ext cx="2112264" cy="751637"/>
          </a:xfrm>
          <a:prstGeom prst="roundRect">
            <a:avLst>
              <a:gd name="adj" fmla="val 4866"/>
            </a:avLst>
          </a:prstGeom>
          <a:solidFill>
            <a:srgbClr val="FDF8E6"/>
          </a:solidFill>
          <a:ln w="12700">
            <a:solidFill>
              <a:srgbClr val="E3C76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7503322" y="3956808"/>
            <a:ext cx="2039112" cy="173736"/>
          </a:xfrm>
          <a:prstGeom prst="rect">
            <a:avLst/>
          </a:prstGeom>
          <a:solidFill>
            <a:srgbClr val="FBEBBF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549042" y="393852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7681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18 Safe_Menu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549042" y="4139688"/>
            <a:ext cx="1965960" cy="52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safe_menu_id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disease_id NULL · drug_id NULL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(FK) food_tag_id · body_cond_id NULL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reason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466746" y="4745021"/>
            <a:ext cx="2112264" cy="634594"/>
          </a:xfrm>
          <a:prstGeom prst="roundRect">
            <a:avLst>
              <a:gd name="adj" fmla="val 5764"/>
            </a:avLst>
          </a:prstGeom>
          <a:solidFill>
            <a:srgbClr val="FDF8E6"/>
          </a:solidFill>
          <a:ln w="12700">
            <a:solidFill>
              <a:srgbClr val="E3C76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503322" y="4772453"/>
            <a:ext cx="2039112" cy="173736"/>
          </a:xfrm>
          <a:prstGeom prst="rect">
            <a:avLst/>
          </a:prstGeom>
          <a:solidFill>
            <a:srgbClr val="FBEBBF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549042" y="4754165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7681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 Warning_Priority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549042" y="4955333"/>
            <a:ext cx="1965960" cy="40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priority_id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level (HIGH/MEDIUM/LOW)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display_order · display_color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466746" y="5443623"/>
            <a:ext cx="2112264" cy="751637"/>
          </a:xfrm>
          <a:prstGeom prst="roundRect">
            <a:avLst>
              <a:gd name="adj" fmla="val 4866"/>
            </a:avLst>
          </a:prstGeom>
          <a:solidFill>
            <a:srgbClr val="FDF8E6"/>
          </a:solidFill>
          <a:ln w="12700">
            <a:solidFill>
              <a:srgbClr val="E3C766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503322" y="5471055"/>
            <a:ext cx="2039112" cy="173736"/>
          </a:xfrm>
          <a:prstGeom prst="rect">
            <a:avLst/>
          </a:prstGeom>
          <a:solidFill>
            <a:srgbClr val="FBEBBF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549042" y="5452767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7681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 Exception_Rule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549042" y="5653935"/>
            <a:ext cx="1965960" cy="52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exception_id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condition_type · condition_detail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 (BYPASS/HOLD/REDUCE)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9780178" y="2239565"/>
            <a:ext cx="2194560" cy="4079955"/>
          </a:xfrm>
          <a:prstGeom prst="roundRect">
            <a:avLst>
              <a:gd name="adj" fmla="val 2083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9780178" y="2276141"/>
            <a:ext cx="21945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83E5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시뮬·매핑 (21~22)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9889906" y="2532173"/>
            <a:ext cx="1975104" cy="1084478"/>
          </a:xfrm>
          <a:prstGeom prst="roundRect">
            <a:avLst>
              <a:gd name="adj" fmla="val 4211"/>
            </a:avLst>
          </a:prstGeom>
          <a:solidFill>
            <a:srgbClr val="FCEEF1"/>
          </a:solidFill>
          <a:ln w="12700">
            <a:solidFill>
              <a:srgbClr val="E3A2AF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9926482" y="2559605"/>
            <a:ext cx="1901952" cy="173736"/>
          </a:xfrm>
          <a:prstGeom prst="rect">
            <a:avLst/>
          </a:prstGeom>
          <a:solidFill>
            <a:srgbClr val="F6D7DD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9972202" y="2541317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3E5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21 Simulation_Scenario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9972202" y="2793285"/>
            <a:ext cx="1828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scenario_id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title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profile_json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expected_result_json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status (PASS/FAIL) · created_at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9889906" y="3746496"/>
            <a:ext cx="1975104" cy="1380744"/>
          </a:xfrm>
          <a:prstGeom prst="roundRect">
            <a:avLst>
              <a:gd name="adj" fmla="val 3317"/>
            </a:avLst>
          </a:prstGeom>
          <a:solidFill>
            <a:srgbClr val="FCEEF1"/>
          </a:solidFill>
          <a:ln w="12700">
            <a:solidFill>
              <a:srgbClr val="E3A2AF"/>
            </a:solidFill>
            <a:prstDash val="solid"/>
          </a:ln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9926482" y="3773928"/>
            <a:ext cx="1901952" cy="173736"/>
          </a:xfrm>
          <a:prstGeom prst="rect">
            <a:avLst/>
          </a:prstGeom>
          <a:solidFill>
            <a:srgbClr val="F6D7DD"/>
          </a:solidFill>
          <a:ln/>
        </p:spPr>
        <p:txBody>
          <a:bodyPr/>
          <a:lstStyle/>
          <a:p>
            <a:endParaRPr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9972202" y="37556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3E5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22 Env_Mapping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9972202" y="4007608"/>
            <a:ext cx="1828800" cy="87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(PK) mapping_id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signal_code (core 신호)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target_entity (CANDIDATE)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target_path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operator (EQ/IN/GTE/LTE/…)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9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env_type (DAKGANGJUNG/FOODCOURT/…) · active_yn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8964566" y="1200688"/>
            <a:ext cx="2507695" cy="781016"/>
          </a:xfrm>
          <a:prstGeom prst="roundRect">
            <a:avLst>
              <a:gd name="adj" fmla="val 22244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9102679" y="1359913"/>
            <a:ext cx="128016" cy="91440"/>
          </a:xfrm>
          <a:prstGeom prst="rect">
            <a:avLst/>
          </a:prstGeom>
          <a:solidFill>
            <a:srgbClr val="B79BD9"/>
          </a:solidFill>
          <a:ln/>
        </p:spPr>
        <p:txBody>
          <a:bodyPr/>
          <a:lstStyle/>
          <a:p>
            <a:endParaRPr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9298767" y="1314193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사용자/프로필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10181671" y="1359913"/>
            <a:ext cx="128016" cy="91440"/>
          </a:xfrm>
          <a:prstGeom prst="rect">
            <a:avLst/>
          </a:prstGeom>
          <a:solidFill>
            <a:srgbClr val="E3C766"/>
          </a:solidFill>
          <a:ln/>
        </p:spPr>
        <p:txBody>
          <a:bodyPr/>
          <a:lstStyle/>
          <a:p>
            <a:endParaRPr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0377759" y="1314193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판정/운영 데이터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9102679" y="1533649"/>
            <a:ext cx="128016" cy="91440"/>
          </a:xfrm>
          <a:prstGeom prst="rect">
            <a:avLst/>
          </a:prstGeom>
          <a:solidFill>
            <a:srgbClr val="8FBBE6"/>
          </a:solidFill>
          <a:ln/>
        </p:spPr>
        <p:txBody>
          <a:bodyPr/>
          <a:lstStyle/>
          <a:p>
            <a:endParaRPr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9298767" y="148792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규칙 데이터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10181671" y="1533649"/>
            <a:ext cx="128016" cy="91440"/>
          </a:xfrm>
          <a:prstGeom prst="rect">
            <a:avLst/>
          </a:prstGeom>
          <a:solidFill>
            <a:srgbClr val="E3A2AF"/>
          </a:solidFill>
          <a:ln/>
        </p:spPr>
        <p:txBody>
          <a:bodyPr/>
          <a:lstStyle/>
          <a:p>
            <a:endParaRPr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10377759" y="148792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시뮬·매핑 데이터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9102679" y="1707385"/>
            <a:ext cx="128016" cy="91440"/>
          </a:xfrm>
          <a:prstGeom prst="rect">
            <a:avLst/>
          </a:prstGeom>
          <a:solidFill>
            <a:srgbClr val="AEBCCE"/>
          </a:solidFill>
          <a:ln/>
        </p:spPr>
        <p:txBody>
          <a:bodyPr/>
          <a:lstStyle/>
          <a:p>
            <a:endParaRPr sz="2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9298767" y="1661665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마스터 데이터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3E97994-C019-57F0-0C5D-CF9A18E8E54E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4CEFE5BF-6C73-81EC-52D9-474FD053E6E2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10818693-EA6D-EB87-1C5C-141FC29FC17E}"/>
              </a:ext>
            </a:extLst>
          </p:cNvPr>
          <p:cNvSpPr txBox="1"/>
          <p:nvPr/>
        </p:nvSpPr>
        <p:spPr>
          <a:xfrm>
            <a:off x="937064" y="1115568"/>
            <a:ext cx="343173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시스템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DB </a:t>
            </a: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구조 </a:t>
            </a:r>
            <a:r>
              <a:rPr lang="en-US" altLang="ko-KR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(ERD)</a:t>
            </a:r>
            <a:endParaRPr lang="ko-KR" altLang="en-US" sz="3000" b="1" dirty="0">
              <a:solidFill>
                <a:srgbClr val="1B1F26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937064" y="1618129"/>
            <a:ext cx="45720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사용자: "달달한 거 / 순한 거 추천해줘"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A88C82-979D-2CB0-BE11-EC6A29A425B3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/>
                <a:ea typeface="Pretendard"/>
                <a:cs typeface="Pretendard"/>
              </a:rPr>
              <a:t>부록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7C98ED9-2AB3-75A9-AC9C-507FEB3EF2CF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27095B5-EA77-28BC-7F4F-6F41926A748A}"/>
              </a:ext>
            </a:extLst>
          </p:cNvPr>
          <p:cNvSpPr txBox="1"/>
          <p:nvPr/>
        </p:nvSpPr>
        <p:spPr>
          <a:xfrm>
            <a:off x="937064" y="1115568"/>
            <a:ext cx="845077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/>
                <a:ea typeface="Pretendard"/>
                <a:cs typeface="Pretendard"/>
              </a:rPr>
              <a:t>첫 주문 로직 상세 예시</a:t>
            </a:r>
          </a:p>
        </p:txBody>
      </p:sp>
      <p:sp>
        <p:nvSpPr>
          <p:cNvPr id="7" name="Shape 5"/>
          <p:cNvSpPr/>
          <p:nvPr/>
        </p:nvSpPr>
        <p:spPr>
          <a:xfrm>
            <a:off x="717272" y="2289686"/>
            <a:ext cx="11134698" cy="2293199"/>
          </a:xfrm>
          <a:prstGeom prst="roundRect">
            <a:avLst>
              <a:gd name="adj" fmla="val 8680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Shape 6"/>
          <p:cNvSpPr/>
          <p:nvPr/>
        </p:nvSpPr>
        <p:spPr>
          <a:xfrm>
            <a:off x="839727" y="2598531"/>
            <a:ext cx="2519083" cy="1690520"/>
          </a:xfrm>
          <a:prstGeom prst="roundRect">
            <a:avLst>
              <a:gd name="adj" fmla="val 7202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44689" y="2708259"/>
            <a:ext cx="262405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44689" y="2708259"/>
            <a:ext cx="262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77068" y="2708259"/>
            <a:ext cx="2116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말 이해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9677" y="3074019"/>
            <a:ext cx="2379134" cy="1709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음성 → 의도·선호 추출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"달달한" → 맛 선호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"땅콩 알레르기" → 제약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유사어 매칭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"매울" ≈ "매운맛"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sessionContext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86228" y="2598531"/>
            <a:ext cx="2519083" cy="169052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91190" y="2708259"/>
            <a:ext cx="262405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91190" y="2708259"/>
            <a:ext cx="262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569" y="2708259"/>
            <a:ext cx="2116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위험 제외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26177" y="3074019"/>
            <a:ext cx="2379134" cy="1709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절대조건 위반 후보 컷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✕ 알레르기 (땅콩·대두)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✕ 품절·예산초과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✕ 서비스방식 불일치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 깎기 X → 아예 제외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filterCandidates()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2728" y="2598531"/>
            <a:ext cx="2519083" cy="1690520"/>
          </a:xfrm>
          <a:prstGeom prst="roundRect">
            <a:avLst>
              <a:gd name="adj" fmla="val 8793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37690" y="2708259"/>
            <a:ext cx="262405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37690" y="2708259"/>
            <a:ext cx="262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0069" y="2708259"/>
            <a:ext cx="2116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건강 반영·점수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2678" y="3074019"/>
            <a:ext cx="2379134" cy="1709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질환·약 → 주의 신호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위장약 → 매운맛 감점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선호(+) 보다 건강(마이너스) 우선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9A5B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매운 -95 / 순한 +15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1순위 선택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recommend()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856185" y="3485768"/>
            <a:ext cx="158610" cy="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79229" y="2598531"/>
            <a:ext cx="2519083" cy="169052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184191" y="2708259"/>
            <a:ext cx="262405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184191" y="2708259"/>
            <a:ext cx="262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16570" y="2708259"/>
            <a:ext cx="2116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설명·화면표시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19178" y="3074019"/>
            <a:ext cx="2379134" cy="1709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이유를 쉬운 말로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"매운 건 위에 부담, 순한 걸로 골랐어요"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대안 제시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키오스크에 메뉴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하이라이트 표시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8A3E589C-53D4-AE9D-5266-487E0531FFD1}"/>
              </a:ext>
            </a:extLst>
          </p:cNvPr>
          <p:cNvGrpSpPr/>
          <p:nvPr/>
        </p:nvGrpSpPr>
        <p:grpSpPr>
          <a:xfrm>
            <a:off x="717272" y="5049041"/>
            <a:ext cx="11141875" cy="566928"/>
            <a:chOff x="2750703" y="4814316"/>
            <a:chExt cx="6153912" cy="566928"/>
          </a:xfrm>
        </p:grpSpPr>
        <p:sp>
          <p:nvSpPr>
            <p:cNvPr id="31" name="Shape 29"/>
            <p:cNvSpPr/>
            <p:nvPr/>
          </p:nvSpPr>
          <p:spPr>
            <a:xfrm>
              <a:off x="2750703" y="4814316"/>
              <a:ext cx="6153912" cy="566928"/>
            </a:xfrm>
            <a:prstGeom prst="roundRect">
              <a:avLst>
                <a:gd name="adj" fmla="val 9677"/>
              </a:avLst>
            </a:prstGeom>
            <a:solidFill>
              <a:srgbClr val="14243D"/>
            </a:solidFill>
            <a:ln w="15240">
              <a:noFill/>
              <a:prstDash val="solid"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2842143" y="4880356"/>
              <a:ext cx="59710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사용자 최종 </a:t>
              </a:r>
              <a:r>
                <a:rPr lang="en-US" sz="1150" b="1" dirty="0" err="1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확인</a:t>
              </a:r>
              <a:r>
                <a:rPr lang="en-US" sz="115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: "이 메뉴로 할까요?"</a:t>
              </a:r>
              <a:endParaRPr lang="en-US" sz="1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2842143" y="5108956"/>
              <a:ext cx="59710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 → 진행 · 아니오 → 대안 안내 후 다시 확인 (collectUserDecision)</a:t>
              </a:r>
            </a:p>
          </p:txBody>
        </p:sp>
      </p:grpSp>
      <p:sp>
        <p:nvSpPr>
          <p:cNvPr id="34" name="Shape 32"/>
          <p:cNvSpPr/>
          <p:nvPr/>
        </p:nvSpPr>
        <p:spPr>
          <a:xfrm>
            <a:off x="6272063" y="4593234"/>
            <a:ext cx="0" cy="262052"/>
          </a:xfrm>
          <a:prstGeom prst="line">
            <a:avLst/>
          </a:prstGeom>
          <a:noFill/>
          <a:ln w="2032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8A3264CF-A922-67A2-5B56-E0464D286B21}"/>
              </a:ext>
            </a:extLst>
          </p:cNvPr>
          <p:cNvSpPr/>
          <p:nvPr/>
        </p:nvSpPr>
        <p:spPr>
          <a:xfrm>
            <a:off x="6105311" y="3485768"/>
            <a:ext cx="158610" cy="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CA8BBE78-81B4-A214-C72E-1EDE814FAB2D}"/>
              </a:ext>
            </a:extLst>
          </p:cNvPr>
          <p:cNvSpPr/>
          <p:nvPr/>
        </p:nvSpPr>
        <p:spPr>
          <a:xfrm>
            <a:off x="3358811" y="3472611"/>
            <a:ext cx="158610" cy="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5">
            <a:extLst>
              <a:ext uri="{FF2B5EF4-FFF2-40B4-BE49-F238E27FC236}">
                <a16:creationId xmlns:a16="http://schemas.microsoft.com/office/drawing/2014/main" id="{5B6AD640-6AD5-D44A-2640-E8BF2608ADB1}"/>
              </a:ext>
            </a:extLst>
          </p:cNvPr>
          <p:cNvSpPr/>
          <p:nvPr/>
        </p:nvSpPr>
        <p:spPr>
          <a:xfrm>
            <a:off x="717272" y="3158484"/>
            <a:ext cx="11134698" cy="2101856"/>
          </a:xfrm>
          <a:prstGeom prst="roundRect">
            <a:avLst>
              <a:gd name="adj" fmla="val 8680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5998" y="2226056"/>
            <a:ext cx="11141040" cy="512064"/>
          </a:xfrm>
          <a:prstGeom prst="roundRect">
            <a:avLst>
              <a:gd name="adj" fmla="val 10714"/>
            </a:avLst>
          </a:prstGeom>
          <a:solidFill>
            <a:srgbClr val="14243D"/>
          </a:solidFill>
          <a:ln w="13970">
            <a:noFill/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91034" y="2262632"/>
            <a:ext cx="10764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전화번호 입력 → 프로필 자동 불러오기</a:t>
            </a:r>
            <a:endParaRPr lang="en-US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1034" y="2482088"/>
            <a:ext cx="10764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저장된 질환·복용약·알레르기·선호·과거주문을 해시 ID로 조회 (원본 번호 저장 X · 심사=합성 데이터)</a:t>
            </a:r>
          </a:p>
        </p:txBody>
      </p:sp>
      <p:sp>
        <p:nvSpPr>
          <p:cNvPr id="11" name="Shape 9"/>
          <p:cNvSpPr/>
          <p:nvPr/>
        </p:nvSpPr>
        <p:spPr>
          <a:xfrm>
            <a:off x="937135" y="3378200"/>
            <a:ext cx="2433691" cy="1620518"/>
          </a:xfrm>
          <a:prstGeom prst="roundRect">
            <a:avLst>
              <a:gd name="adj" fmla="val 9169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42156" y="3487928"/>
            <a:ext cx="262554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2156" y="3487928"/>
            <a:ext cx="262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4724" y="3487928"/>
            <a:ext cx="211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변경분만 확인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7163" y="3853688"/>
            <a:ext cx="2130729" cy="1344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프로필 이미 있음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통화 없이 바로 추천 가능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바뀐 것만 물어봄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"오늘은 매운 거 먹고 싶어요" 등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기존+이번 sessionContext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85200" y="3378200"/>
            <a:ext cx="2433691" cy="1620518"/>
          </a:xfrm>
          <a:prstGeom prst="roundRect">
            <a:avLst>
              <a:gd name="adj" fmla="val 9169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90221" y="3487928"/>
            <a:ext cx="262554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90221" y="3487928"/>
            <a:ext cx="262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22789" y="3487928"/>
            <a:ext cx="211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위험 제외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25228" y="3853688"/>
            <a:ext cx="2130729" cy="1344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절대조건 위반 후보 컷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✕ 저장된 알레르기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✕ 품절·예산초과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✕ 서비스방식 불일치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점수 깎기 X → 제외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filterCandidates()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33265" y="3378200"/>
            <a:ext cx="2433691" cy="1620518"/>
          </a:xfrm>
          <a:prstGeom prst="roundRect">
            <a:avLst>
              <a:gd name="adj" fmla="val 8542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8285" y="3487928"/>
            <a:ext cx="262554" cy="274320"/>
          </a:xfrm>
          <a:prstGeom prst="roundRect">
            <a:avLst>
              <a:gd name="adj" fmla="val 16667"/>
            </a:avLst>
          </a:prstGeom>
          <a:solidFill>
            <a:srgbClr val="C77E28"/>
          </a:solidFill>
          <a:ln w="12700">
            <a:solidFill>
              <a:srgbClr val="C77E28"/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38285" y="3487928"/>
            <a:ext cx="262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70854" y="3487928"/>
            <a:ext cx="211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77E2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약·질환 반영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73293" y="3853688"/>
            <a:ext cx="2130729" cy="1344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저장된 건강정보로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이번엔 더 정밀 추천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9A5B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위장약 → 순한 걸로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9A5B1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와파린 → 관련 음식 주의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선호(+) 보다 건강 우선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B5FA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1순위 · recommend()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181330" y="3378200"/>
            <a:ext cx="2433691" cy="1620518"/>
          </a:xfrm>
          <a:prstGeom prst="roundRect">
            <a:avLst>
              <a:gd name="adj" fmla="val 9169"/>
            </a:avLst>
          </a:prstGeom>
          <a:solidFill>
            <a:srgbClr val="FFFFFF"/>
          </a:solidFill>
          <a:ln w="1651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286350" y="3487928"/>
            <a:ext cx="262554" cy="274320"/>
          </a:xfrm>
          <a:prstGeom prst="roundRect">
            <a:avLst>
              <a:gd name="adj" fmla="val 16667"/>
            </a:avLst>
          </a:prstGeom>
          <a:solidFill>
            <a:srgbClr val="2E4B7A"/>
          </a:solidFill>
          <a:ln w="12700">
            <a:solidFill>
              <a:srgbClr val="2E4B7A"/>
            </a:solidFill>
            <a:prstDash val="solid"/>
          </a:ln>
        </p:spPr>
        <p:txBody>
          <a:bodyPr/>
          <a:lstStyle/>
          <a:p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86350" y="3487928"/>
            <a:ext cx="262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18919" y="3487928"/>
            <a:ext cx="211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A5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설명·화면표시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321358" y="3853688"/>
            <a:ext cx="2130729" cy="1043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 맥락으로 설명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"단골이시라 </a:t>
            </a:r>
            <a:r>
              <a:rPr lang="en-US" sz="1050" i="1" dirty="0" err="1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자주</a:t>
            </a: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 err="1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드신</a:t>
            </a: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050" i="1" dirty="0" err="1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순한</a:t>
            </a: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050" i="1" dirty="0" err="1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순살</a:t>
            </a:r>
            <a:r>
              <a:rPr lang="ko-KR" alt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</a:t>
            </a:r>
            <a:r>
              <a:rPr lang="ko-KR" altLang="en-US" sz="1050" i="1" dirty="0" err="1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드시겠어요</a:t>
            </a:r>
            <a:r>
              <a:rPr lang="en-US" altLang="ko-KR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r>
              <a:rPr lang="en-US" sz="1050" i="1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＂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대안 제시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키오스크에</a:t>
            </a: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0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메뉴</a:t>
            </a: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</a:t>
            </a:r>
            <a:r>
              <a:rPr lang="en-US" sz="10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하이라이트</a:t>
            </a:r>
            <a:r>
              <a:rPr lang="en-US" sz="10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표시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EC431-4443-4BFD-82EF-DBB5D45B0B1A}"/>
              </a:ext>
            </a:extLst>
          </p:cNvPr>
          <p:cNvSpPr txBox="1"/>
          <p:nvPr/>
        </p:nvSpPr>
        <p:spPr>
          <a:xfrm>
            <a:off x="937064" y="617297"/>
            <a:ext cx="9509760" cy="229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부록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7EC99A9-C78B-1819-FFC9-44834BBEB1EA}"/>
              </a:ext>
            </a:extLst>
          </p:cNvPr>
          <p:cNvCxnSpPr/>
          <p:nvPr/>
        </p:nvCxnSpPr>
        <p:spPr>
          <a:xfrm>
            <a:off x="839788" y="938028"/>
            <a:ext cx="106299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F65B579-EE43-A86D-D236-46C1746063EA}"/>
              </a:ext>
            </a:extLst>
          </p:cNvPr>
          <p:cNvSpPr txBox="1"/>
          <p:nvPr/>
        </p:nvSpPr>
        <p:spPr>
          <a:xfrm>
            <a:off x="937064" y="1115568"/>
            <a:ext cx="8450776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3000" b="1" dirty="0">
                <a:solidFill>
                  <a:srgbClr val="1B1F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재방문 로직 상세 예시</a:t>
            </a: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CAB2A410-0626-BE92-DDB9-C803142CBA84}"/>
              </a:ext>
            </a:extLst>
          </p:cNvPr>
          <p:cNvSpPr/>
          <p:nvPr/>
        </p:nvSpPr>
        <p:spPr>
          <a:xfrm>
            <a:off x="937064" y="1618129"/>
            <a:ext cx="45720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100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</a:t>
            </a:r>
            <a:r>
              <a:rPr lang="ko-KR" altLang="en-US" sz="1100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</a:t>
            </a:r>
            <a:r>
              <a:rPr lang="en-US" altLang="ko-KR" sz="1100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"</a:t>
            </a:r>
            <a:r>
              <a:rPr lang="ko-KR" altLang="en-US" sz="1100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지난번처럼 순한 순살 드릴까요</a:t>
            </a:r>
            <a:r>
              <a:rPr lang="en-US" altLang="ko-KR" sz="1100" dirty="0">
                <a:solidFill>
                  <a:srgbClr val="2E4B7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?"</a:t>
            </a:r>
          </a:p>
        </p:txBody>
      </p:sp>
      <p:sp>
        <p:nvSpPr>
          <p:cNvPr id="122" name="Shape 23">
            <a:extLst>
              <a:ext uri="{FF2B5EF4-FFF2-40B4-BE49-F238E27FC236}">
                <a16:creationId xmlns:a16="http://schemas.microsoft.com/office/drawing/2014/main" id="{7E2C4B5B-AD6E-AC4D-2D92-C80A9D89F9D3}"/>
              </a:ext>
            </a:extLst>
          </p:cNvPr>
          <p:cNvSpPr/>
          <p:nvPr/>
        </p:nvSpPr>
        <p:spPr>
          <a:xfrm>
            <a:off x="8868200" y="4247768"/>
            <a:ext cx="158610" cy="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4" name="Shape 23">
            <a:extLst>
              <a:ext uri="{FF2B5EF4-FFF2-40B4-BE49-F238E27FC236}">
                <a16:creationId xmlns:a16="http://schemas.microsoft.com/office/drawing/2014/main" id="{95395B11-9EB1-EAA6-2B12-CB57717EBC73}"/>
              </a:ext>
            </a:extLst>
          </p:cNvPr>
          <p:cNvSpPr/>
          <p:nvPr/>
        </p:nvSpPr>
        <p:spPr>
          <a:xfrm>
            <a:off x="6117326" y="4247768"/>
            <a:ext cx="158610" cy="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Shape 23">
            <a:extLst>
              <a:ext uri="{FF2B5EF4-FFF2-40B4-BE49-F238E27FC236}">
                <a16:creationId xmlns:a16="http://schemas.microsoft.com/office/drawing/2014/main" id="{973F47C1-8431-42B9-366C-2FA97121131B}"/>
              </a:ext>
            </a:extLst>
          </p:cNvPr>
          <p:cNvSpPr/>
          <p:nvPr/>
        </p:nvSpPr>
        <p:spPr>
          <a:xfrm>
            <a:off x="3370826" y="4234611"/>
            <a:ext cx="158610" cy="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28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8" name="Shape 32">
            <a:extLst>
              <a:ext uri="{FF2B5EF4-FFF2-40B4-BE49-F238E27FC236}">
                <a16:creationId xmlns:a16="http://schemas.microsoft.com/office/drawing/2014/main" id="{4DFC1B17-E0D2-A327-6DE1-38FD0F3288BB}"/>
              </a:ext>
            </a:extLst>
          </p:cNvPr>
          <p:cNvSpPr/>
          <p:nvPr/>
        </p:nvSpPr>
        <p:spPr>
          <a:xfrm>
            <a:off x="6272063" y="2738120"/>
            <a:ext cx="0" cy="262052"/>
          </a:xfrm>
          <a:prstGeom prst="line">
            <a:avLst/>
          </a:prstGeom>
          <a:noFill/>
          <a:ln w="2032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0" name="Shape 32">
            <a:extLst>
              <a:ext uri="{FF2B5EF4-FFF2-40B4-BE49-F238E27FC236}">
                <a16:creationId xmlns:a16="http://schemas.microsoft.com/office/drawing/2014/main" id="{CF098A66-4762-1B1E-62D8-3871D104DEB9}"/>
              </a:ext>
            </a:extLst>
          </p:cNvPr>
          <p:cNvSpPr/>
          <p:nvPr/>
        </p:nvSpPr>
        <p:spPr>
          <a:xfrm>
            <a:off x="6272063" y="5260340"/>
            <a:ext cx="0" cy="262052"/>
          </a:xfrm>
          <a:prstGeom prst="line">
            <a:avLst/>
          </a:prstGeom>
          <a:noFill/>
          <a:ln w="20320">
            <a:solidFill>
              <a:srgbClr val="1424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4115D056-4192-BD0A-E518-9B59A0A91383}"/>
              </a:ext>
            </a:extLst>
          </p:cNvPr>
          <p:cNvGrpSpPr/>
          <p:nvPr/>
        </p:nvGrpSpPr>
        <p:grpSpPr>
          <a:xfrm>
            <a:off x="717272" y="5782696"/>
            <a:ext cx="11141875" cy="566928"/>
            <a:chOff x="2750703" y="4814316"/>
            <a:chExt cx="6153912" cy="566928"/>
          </a:xfrm>
        </p:grpSpPr>
        <p:sp>
          <p:nvSpPr>
            <p:cNvPr id="132" name="Shape 29">
              <a:extLst>
                <a:ext uri="{FF2B5EF4-FFF2-40B4-BE49-F238E27FC236}">
                  <a16:creationId xmlns:a16="http://schemas.microsoft.com/office/drawing/2014/main" id="{A486C771-ADC2-B62D-12CE-522762A69E97}"/>
                </a:ext>
              </a:extLst>
            </p:cNvPr>
            <p:cNvSpPr/>
            <p:nvPr/>
          </p:nvSpPr>
          <p:spPr>
            <a:xfrm>
              <a:off x="2750703" y="4814316"/>
              <a:ext cx="6153912" cy="566928"/>
            </a:xfrm>
            <a:prstGeom prst="roundRect">
              <a:avLst>
                <a:gd name="adj" fmla="val 9677"/>
              </a:avLst>
            </a:prstGeom>
            <a:solidFill>
              <a:srgbClr val="14243D"/>
            </a:solidFill>
            <a:ln w="15240">
              <a:noFill/>
              <a:prstDash val="solid"/>
            </a:ln>
          </p:spPr>
          <p:txBody>
            <a:bodyPr/>
            <a:lstStyle/>
            <a:p>
              <a:endParaRPr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3" name="Text 30">
              <a:extLst>
                <a:ext uri="{FF2B5EF4-FFF2-40B4-BE49-F238E27FC236}">
                  <a16:creationId xmlns:a16="http://schemas.microsoft.com/office/drawing/2014/main" id="{AB8BA4F5-2DC9-D042-329C-052B0EBBE859}"/>
                </a:ext>
              </a:extLst>
            </p:cNvPr>
            <p:cNvSpPr/>
            <p:nvPr/>
          </p:nvSpPr>
          <p:spPr>
            <a:xfrm>
              <a:off x="2842143" y="4880356"/>
              <a:ext cx="59710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5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사용자 최종 </a:t>
              </a:r>
              <a:r>
                <a:rPr lang="en-US" sz="1150" b="1" dirty="0" err="1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확인</a:t>
              </a:r>
              <a:r>
                <a:rPr lang="en-US" sz="115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: "이 메뉴로 할까요?"</a:t>
              </a:r>
              <a:endParaRPr lang="en-US" sz="1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4" name="Text 31">
              <a:extLst>
                <a:ext uri="{FF2B5EF4-FFF2-40B4-BE49-F238E27FC236}">
                  <a16:creationId xmlns:a16="http://schemas.microsoft.com/office/drawing/2014/main" id="{5D729C39-A2B5-5CEC-B24A-64A8AFE120B6}"/>
                </a:ext>
              </a:extLst>
            </p:cNvPr>
            <p:cNvSpPr/>
            <p:nvPr/>
          </p:nvSpPr>
          <p:spPr>
            <a:xfrm>
              <a:off x="2842143" y="5108956"/>
              <a:ext cx="59710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 → 진행 · 아니오 → 대안 안내 후 다시 확인 (collectUserDecision)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10D09-4E4C-491A-C4DC-9A06DE4A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89D36-1BB0-7CA0-4E5D-179AE72D8BF5}"/>
              </a:ext>
            </a:extLst>
          </p:cNvPr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2026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스타트업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영그라운드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MVP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개발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해커톤</a:t>
            </a:r>
            <a:r>
              <a:rPr sz="1500" b="1" dirty="0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  ·  팀 </a:t>
            </a:r>
            <a:r>
              <a:rPr sz="1500" b="1" dirty="0" err="1">
                <a:solidFill>
                  <a:srgbClr val="9FB0C8"/>
                </a:solidFill>
                <a:latin typeface="Pretendard"/>
                <a:ea typeface="Pretendard"/>
                <a:cs typeface="Pretendard"/>
              </a:rPr>
              <a:t>그랜토리</a:t>
            </a:r>
            <a:endParaRPr sz="1500" b="1" dirty="0">
              <a:solidFill>
                <a:srgbClr val="9FB0C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A5E201-202E-C464-73AE-F19510786DE8}"/>
              </a:ext>
            </a:extLst>
          </p:cNvPr>
          <p:cNvSpPr/>
          <p:nvPr/>
        </p:nvSpPr>
        <p:spPr>
          <a:xfrm>
            <a:off x="839788" y="1138428"/>
            <a:ext cx="822960" cy="6400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EED77-06C5-B0BC-9892-E5055F3341A6}"/>
              </a:ext>
            </a:extLst>
          </p:cNvPr>
          <p:cNvSpPr txBox="1"/>
          <p:nvPr/>
        </p:nvSpPr>
        <p:spPr>
          <a:xfrm>
            <a:off x="822960" y="2716154"/>
            <a:ext cx="10607040" cy="1279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디지털 소외 없는</a:t>
            </a:r>
            <a:r>
              <a:rPr lang="en-US" altLang="ko-KR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보이는 </a:t>
            </a:r>
            <a:r>
              <a:rPr lang="en-US" altLang="ko-KR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키오스크</a:t>
            </a:r>
          </a:p>
          <a:p>
            <a:pPr algn="l">
              <a:lnSpc>
                <a:spcPct val="112000"/>
              </a:lnSpc>
            </a:pPr>
            <a:r>
              <a:rPr lang="ko-KR" altLang="en-US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감사합니다</a:t>
            </a:r>
            <a:r>
              <a:rPr lang="en-US" altLang="ko-KR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54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1D9FF-FF97-FD49-B070-04391553AAAF}"/>
              </a:ext>
            </a:extLst>
          </p:cNvPr>
          <p:cNvSpPr txBox="1"/>
          <p:nvPr/>
        </p:nvSpPr>
        <p:spPr>
          <a:xfrm>
            <a:off x="822960" y="4804775"/>
            <a:ext cx="10058400" cy="344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lang="ko-KR" alt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에이전트와 통화해서 키오스크를 이용하고</a:t>
            </a:r>
            <a:r>
              <a:rPr lang="en-US" altLang="ko-KR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 두번째 이용부터는 더욱 </a:t>
            </a:r>
            <a:r>
              <a:rPr lang="ko-KR" altLang="en-US" sz="2100" dirty="0" err="1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맞춤화된</a:t>
            </a:r>
            <a:r>
              <a:rPr lang="ko-KR" altLang="en-US" sz="2100" dirty="0">
                <a:solidFill>
                  <a:srgbClr val="D9E1EC"/>
                </a:solidFill>
                <a:latin typeface="Pretendard"/>
                <a:ea typeface="Pretendard"/>
                <a:cs typeface="Pretendard"/>
              </a:rPr>
              <a:t> 메뉴추천까지</a:t>
            </a:r>
            <a:endParaRPr sz="2100" dirty="0">
              <a:solidFill>
                <a:srgbClr val="D9E1E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B6860-0F75-8173-2A6B-909315C3BEDC}"/>
              </a:ext>
            </a:extLst>
          </p:cNvPr>
          <p:cNvSpPr txBox="1"/>
          <p:nvPr/>
        </p:nvSpPr>
        <p:spPr>
          <a:xfrm>
            <a:off x="822960" y="6172200"/>
            <a:ext cx="10515600" cy="213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 err="1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KioBridge</a:t>
            </a:r>
            <a:r>
              <a:rPr sz="1300" b="0" dirty="0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  ·</a:t>
            </a:r>
            <a:r>
              <a:rPr lang="en-US" sz="1300" b="0" dirty="0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0" dirty="0" err="1">
                <a:solidFill>
                  <a:srgbClr val="7A8BA6"/>
                </a:solidFill>
                <a:latin typeface="Pretendard"/>
                <a:ea typeface="Pretendard"/>
                <a:cs typeface="Pretendard"/>
              </a:rPr>
              <a:t>그랜토리</a:t>
            </a:r>
            <a:endParaRPr sz="1300" b="0" dirty="0">
              <a:solidFill>
                <a:srgbClr val="7A8BA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44675FE-B40A-97DB-662A-76A541D80297}"/>
              </a:ext>
            </a:extLst>
          </p:cNvPr>
          <p:cNvSpPr/>
          <p:nvPr/>
        </p:nvSpPr>
        <p:spPr>
          <a:xfrm>
            <a:off x="845820" y="5477642"/>
            <a:ext cx="1409700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2G </a:t>
            </a:r>
            <a:r>
              <a:rPr lang="ko-KR" altLang="en-US" sz="16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폰 대응</a:t>
            </a:r>
            <a:endParaRPr lang="ko-KR" altLang="en-US" sz="16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C527DD3-46A2-6726-77FB-50552B788F8F}"/>
              </a:ext>
            </a:extLst>
          </p:cNvPr>
          <p:cNvSpPr/>
          <p:nvPr/>
        </p:nvSpPr>
        <p:spPr>
          <a:xfrm>
            <a:off x="2419351" y="5477642"/>
            <a:ext cx="1409700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앱설치</a:t>
            </a:r>
            <a:r>
              <a:rPr lang="ko-KR" altLang="en-US" sz="1600" b="1" dirty="0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 없는</a:t>
            </a:r>
            <a:endParaRPr lang="ko-KR" altLang="en-US" sz="16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1EB3073-D565-68C4-2989-0FB7CCC17FEB}"/>
              </a:ext>
            </a:extLst>
          </p:cNvPr>
          <p:cNvSpPr/>
          <p:nvPr/>
        </p:nvSpPr>
        <p:spPr>
          <a:xfrm>
            <a:off x="3992881" y="5477642"/>
            <a:ext cx="1579243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실물카드 결제</a:t>
            </a:r>
            <a:endParaRPr lang="ko-KR" altLang="en-US" sz="16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1DBBD3D-493C-494F-9DBC-FC7EB4E2A723}"/>
              </a:ext>
            </a:extLst>
          </p:cNvPr>
          <p:cNvSpPr/>
          <p:nvPr/>
        </p:nvSpPr>
        <p:spPr>
          <a:xfrm>
            <a:off x="5735954" y="5479044"/>
            <a:ext cx="1977072" cy="36576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rgbClr val="14243D"/>
                </a:solidFill>
                <a:latin typeface="Pretendard"/>
                <a:ea typeface="Pretendard"/>
                <a:cs typeface="Pretendard"/>
              </a:rPr>
              <a:t>건강기반 추천 엔진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7841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3912</Words>
  <Application>Microsoft Office PowerPoint</Application>
  <PresentationFormat>와이드스크린</PresentationFormat>
  <Paragraphs>804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-apple-system</vt:lpstr>
      <vt:lpstr>Pretendard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Team Grantory</dc:creator>
  <cp:keywords/>
  <dc:description>generated using python-pptx</dc:description>
  <cp:lastModifiedBy>qkrvlfg123</cp:lastModifiedBy>
  <cp:revision>260</cp:revision>
  <dcterms:created xsi:type="dcterms:W3CDTF">2013-01-27T09:14:16Z</dcterms:created>
  <dcterms:modified xsi:type="dcterms:W3CDTF">2026-08-16T07:09:45Z</dcterms:modified>
  <cp:category/>
</cp:coreProperties>
</file>